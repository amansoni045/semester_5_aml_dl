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Calibri"/>
              </a:defRPr>
            </a:pPr>
            <a:r>
              <a:rPr sz="1400" b="0" i="0" u="none" strike="noStrike">
                <a:solidFill>
                  <a:srgbClr val="0B1F33"/>
                </a:solidFill>
                <a:latin typeface="Calibri"/>
              </a:rPr>
              <a:t>Share of clean observations (%)</a:t>
            </a:r>
          </a:p>
        </c:rich>
      </c:tx>
      <c:layout/>
      <c:overlay val="0"/>
    </c:title>
    <c:autoTitleDeleted val="0"/>
    <c:plotArea>
      <c:layout/>
      <c:barChart>
        <c:barDir val="bar"/>
        <c:grouping val="clustered"/>
        <c:varyColors val="0"/>
        <c:ser>
          <c:idx val="0"/>
          <c:order val="0"/>
          <c:tx>
            <c:strRef>
              <c:f>Sheet1!$B$1</c:f>
              <c:strCache>
                <c:ptCount val="1"/>
                <c:pt idx="0">
                  <c:v>Share of clean rows (%)</c:v>
                </c:pt>
              </c:strCache>
            </c:strRef>
          </c:tx>
          <c:spPr>
            <a:solidFill>
              <a:srgbClr val="0E7C86"/>
            </a:solidFill>
            <a:effectLst/>
          </c:spPr>
          <c:invertIfNegative val="0"/>
          <c:dLbls>
            <c:numFmt formatCode="0.00" sourceLinked="0"/>
            <c:txPr>
              <a:bodyPr/>
              <a:lstStyle/>
              <a:p>
                <a:pPr>
                  <a:defRPr b="0" i="0" strike="noStrike" sz="1200" u="none">
                    <a:solidFill>
                      <a:srgbClr val="12202E"/>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England 2.13 M</c:v>
                  </c:pt>
                  <c:pt idx="1">
                    <c:v>USA 407 k</c:v>
                  </c:pt>
                  <c:pt idx="2">
                    <c:v>Ireland 234 k</c:v>
                  </c:pt>
                  <c:pt idx="3">
                    <c:v>China 46 k</c:v>
                  </c:pt>
                  <c:pt idx="4">
                    <c:v>Canada 3.9 k</c:v>
                  </c:pt>
                </c:lvl>
              </c:multiLvlStrCache>
            </c:multiLvlStrRef>
          </c:cat>
          <c:val>
            <c:numRef>
              <c:f>Sheet1!$B$2:$B$6</c:f>
              <c:numCache>
                <c:formatCode>General</c:formatCode>
                <c:ptCount val="5"/>
                <c:pt idx="0">
                  <c:v>75.48</c:v>
                </c:pt>
                <c:pt idx="1">
                  <c:v>14.44</c:v>
                </c:pt>
                <c:pt idx="2">
                  <c:v>8.31</c:v>
                </c:pt>
                <c:pt idx="3">
                  <c:v>1.63</c:v>
                </c:pt>
                <c:pt idx="4">
                  <c:v>0.14</c:v>
                </c:pt>
              </c:numCache>
            </c:numRef>
          </c:val>
        </c:ser>
        <c:dLbls>
          <c:numFmt formatCode="0.00" sourceLinked="0"/>
          <c:txPr>
            <a:bodyPr/>
            <a:lstStyle/>
            <a:p>
              <a:pPr>
                <a:defRPr b="0" i="0" strike="noStrike" sz="1200" u="none">
                  <a:solidFill>
                    <a:srgbClr val="12202E"/>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2202E"/>
                </a:solidFill>
                <a:latin typeface="Calibri"/>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DDE6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Calibri"/>
              </a:defRPr>
            </a:pPr>
            <a:r>
              <a:rPr sz="1400" b="0" i="0" u="none" strike="noStrike">
                <a:solidFill>
                  <a:srgbClr val="0B1F33"/>
                </a:solidFill>
                <a:latin typeface="Calibri"/>
              </a:rPr>
              <a:t>Pearson r with WQI, raw vs log(1+x)</a:t>
            </a:r>
          </a:p>
        </c:rich>
      </c:tx>
      <c:layout/>
      <c:overlay val="0"/>
    </c:title>
    <c:autoTitleDeleted val="0"/>
    <c:plotArea>
      <c:layout/>
      <c:barChart>
        <c:barDir val="col"/>
        <c:grouping val="clustered"/>
        <c:varyColors val="0"/>
        <c:ser>
          <c:idx val="0"/>
          <c:order val="0"/>
          <c:tx>
            <c:strRef>
              <c:f>Sheet1!$B$1</c:f>
              <c:strCache>
                <c:ptCount val="1"/>
                <c:pt idx="0">
                  <c:v>Raw</c:v>
                </c:pt>
              </c:strCache>
            </c:strRef>
          </c:tx>
          <c:spPr>
            <a:solidFill>
              <a:srgbClr val="9DB4C0"/>
            </a:solidFill>
            <a:effectLst/>
          </c:spPr>
          <c:invertIfNegative val="0"/>
          <c:dLbls>
            <c:numFmt formatCode="0.00" sourceLinked="0"/>
            <c:txPr>
              <a:bodyPr/>
              <a:lstStyle/>
              <a:p>
                <a:pPr>
                  <a:defRPr b="0" i="0" strike="noStrike" sz="1200" u="none">
                    <a:solidFill>
                      <a:srgbClr val="12202E"/>
                    </a:solidFill>
                    <a:latin typeface="Calibri"/>
                  </a:defRPr>
                </a:pPr>
              </a:p>
            </c:txPr>
            <c:showLegendKey val="0"/>
            <c:showVal val="1"/>
            <c:showCatName val="0"/>
            <c:showSerName val="0"/>
            <c:showPercent val="0"/>
            <c:showBubbleSize val="0"/>
            <c:showLeaderLines val="0"/>
          </c:dLbls>
          <c:cat>
            <c:multiLvlStrRef>
              <c:f>Sheet1!$A$2:$A$4</c:f>
              <c:multiLvlStrCache>
                <c:ptCount val="3"/>
                <c:lvl>
                  <c:pt idx="0">
                    <c:v>Orthophosphate</c:v>
                  </c:pt>
                  <c:pt idx="1">
                    <c:v>Ammonia</c:v>
                  </c:pt>
                  <c:pt idx="2">
                    <c:v>BOD</c:v>
                  </c:pt>
                </c:lvl>
              </c:multiLvlStrCache>
            </c:multiLvlStrRef>
          </c:cat>
          <c:val>
            <c:numRef>
              <c:f>Sheet1!$B$2:$B$4</c:f>
              <c:numCache>
                <c:formatCode>General</c:formatCode>
                <c:ptCount val="3"/>
                <c:pt idx="0">
                  <c:v>-0.66</c:v>
                </c:pt>
                <c:pt idx="1">
                  <c:v>-0.392</c:v>
                </c:pt>
                <c:pt idx="2">
                  <c:v>-0.321</c:v>
                </c:pt>
              </c:numCache>
            </c:numRef>
          </c:val>
        </c:ser>
        <c:ser>
          <c:idx val="1"/>
          <c:order val="1"/>
          <c:tx>
            <c:strRef>
              <c:f>Sheet1!$C$1</c:f>
              <c:strCache>
                <c:ptCount val="1"/>
                <c:pt idx="0">
                  <c:v>log(1+x)</c:v>
                </c:pt>
              </c:strCache>
            </c:strRef>
          </c:tx>
          <c:spPr>
            <a:solidFill>
              <a:srgbClr val="0E7C86"/>
            </a:solidFill>
            <a:effectLst/>
          </c:spPr>
          <c:invertIfNegative val="0"/>
          <c:dLbls>
            <c:numFmt formatCode="0.00" sourceLinked="0"/>
            <c:txPr>
              <a:bodyPr/>
              <a:lstStyle/>
              <a:p>
                <a:pPr>
                  <a:defRPr b="0" i="0" strike="noStrike" sz="1200" u="none">
                    <a:solidFill>
                      <a:srgbClr val="12202E"/>
                    </a:solidFill>
                    <a:latin typeface="Calibri"/>
                  </a:defRPr>
                </a:pPr>
              </a:p>
            </c:txPr>
            <c:showLegendKey val="0"/>
            <c:showVal val="1"/>
            <c:showCatName val="0"/>
            <c:showSerName val="0"/>
            <c:showPercent val="0"/>
            <c:showBubbleSize val="0"/>
            <c:showLeaderLines val="0"/>
          </c:dLbls>
          <c:cat>
            <c:multiLvlStrRef>
              <c:f>Sheet1!$A$2:$A$4</c:f>
              <c:multiLvlStrCache>
                <c:ptCount val="3"/>
                <c:lvl>
                  <c:pt idx="0">
                    <c:v>Orthophosphate</c:v>
                  </c:pt>
                  <c:pt idx="1">
                    <c:v>Ammonia</c:v>
                  </c:pt>
                  <c:pt idx="2">
                    <c:v>BOD</c:v>
                  </c:pt>
                </c:lvl>
              </c:multiLvlStrCache>
            </c:multiLvlStrRef>
          </c:cat>
          <c:val>
            <c:numRef>
              <c:f>Sheet1!$C$2:$C$4</c:f>
              <c:numCache>
                <c:formatCode>General</c:formatCode>
                <c:ptCount val="3"/>
                <c:pt idx="0">
                  <c:v>-0.853</c:v>
                </c:pt>
                <c:pt idx="1">
                  <c:v>-0.659</c:v>
                </c:pt>
                <c:pt idx="2">
                  <c:v>-0.578</c:v>
                </c:pt>
              </c:numCache>
            </c:numRef>
          </c:val>
        </c:ser>
        <c:dLbls>
          <c:numFmt formatCode="0.00" sourceLinked="0"/>
          <c:txPr>
            <a:bodyPr/>
            <a:lstStyle/>
            <a:p>
              <a:pPr>
                <a:defRPr b="0" i="0" strike="noStrike" sz="1200" u="none">
                  <a:solidFill>
                    <a:srgbClr val="12202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2202E"/>
                </a:solidFill>
                <a:latin typeface="Calibri"/>
              </a:defRPr>
            </a:pPr>
            <a:endParaRPr lang="en-US"/>
          </a:p>
        </c:txPr>
        <c:crossAx val="2094734552"/>
        <c:crosses val="autoZero"/>
        <c:auto val="1"/>
        <c:lblAlgn val="ctr"/>
        <c:noMultiLvlLbl val="1"/>
      </c:catAx>
      <c:valAx>
        <c:axId val="2094734552"/>
        <c:scaling>
          <c:orientation val="minMax"/>
          <c:max val="0"/>
          <c:min val="-1"/>
        </c:scaling>
        <c:delete val="0"/>
        <c:axPos val="l"/>
        <c:majorGridlines>
          <c:spPr>
            <a:ln w="6350" cap="flat">
              <a:solidFill>
                <a:srgbClr val="DD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Calibri"/>
              </a:defRPr>
            </a:pPr>
            <a:r>
              <a:rPr sz="1400" b="0" i="0" u="none" strike="noStrike">
                <a:solidFill>
                  <a:srgbClr val="0B1F33"/>
                </a:solidFill>
                <a:latin typeface="Calibri"/>
              </a:rPr>
              <a:t>Validation MAE (index points; baseline = 14.13)</a:t>
            </a:r>
          </a:p>
        </c:rich>
      </c:tx>
      <c:layout/>
      <c:overlay val="0"/>
    </c:title>
    <c:autoTitleDeleted val="0"/>
    <c:plotArea>
      <c:layout/>
      <c:barChart>
        <c:barDir val="col"/>
        <c:grouping val="clustered"/>
        <c:varyColors val="0"/>
        <c:ser>
          <c:idx val="0"/>
          <c:order val="0"/>
          <c:tx>
            <c:strRef>
              <c:f>Sheet1!$B$1</c:f>
              <c:strCache>
                <c:ptCount val="1"/>
                <c:pt idx="0">
                  <c:v>Validation MAE (index points)</c:v>
                </c:pt>
              </c:strCache>
            </c:strRef>
          </c:tx>
          <c:spPr>
            <a:solidFill>
              <a:srgbClr val="0E7C86"/>
            </a:solidFill>
            <a:effectLst/>
          </c:spPr>
          <c:invertIfNegative val="0"/>
          <c:dLbls>
            <c:numFmt formatCode="0.000" sourceLinked="0"/>
            <c:txPr>
              <a:bodyPr/>
              <a:lstStyle/>
              <a:p>
                <a:pPr>
                  <a:defRPr b="0" i="0" strike="noStrike" sz="1200" u="none">
                    <a:solidFill>
                      <a:srgbClr val="12202E"/>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Random Forest</c:v>
                  </c:pt>
                  <c:pt idx="1">
                    <c:v>XGBoost (comparison)</c:v>
                  </c:pt>
                  <c:pt idx="2">
                    <c:v>XGBoost (saved)</c:v>
                  </c:pt>
                </c:lvl>
              </c:multiLvlStrCache>
            </c:multiLvlStrRef>
          </c:cat>
          <c:val>
            <c:numRef>
              <c:f>Sheet1!$B$2:$B$4</c:f>
              <c:numCache>
                <c:formatCode>General</c:formatCode>
                <c:ptCount val="3"/>
                <c:pt idx="0">
                  <c:v>0.052</c:v>
                </c:pt>
                <c:pt idx="1">
                  <c:v>0.137</c:v>
                </c:pt>
                <c:pt idx="2">
                  <c:v>0.161</c:v>
                </c:pt>
              </c:numCache>
            </c:numRef>
          </c:val>
        </c:ser>
        <c:dLbls>
          <c:numFmt formatCode="0.000" sourceLinked="0"/>
          <c:txPr>
            <a:bodyPr/>
            <a:lstStyle/>
            <a:p>
              <a:pPr>
                <a:defRPr b="0" i="0" strike="noStrike" sz="1200" u="none">
                  <a:solidFill>
                    <a:srgbClr val="12202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2202E"/>
                </a:solidFill>
                <a:latin typeface="Calibri"/>
              </a:defRPr>
            </a:pPr>
            <a:endParaRPr lang="en-US"/>
          </a:p>
        </c:txPr>
        <c:crossAx val="2094734552"/>
        <c:crosses val="autoZero"/>
        <c:auto val="1"/>
        <c:lblAlgn val="ctr"/>
        <c:noMultiLvlLbl val="1"/>
      </c:catAx>
      <c:valAx>
        <c:axId val="2094734552"/>
        <c:scaling>
          <c:orientation val="minMax"/>
          <c:max val="0.2"/>
        </c:scaling>
        <c:delete val="0"/>
        <c:axPos val="l"/>
        <c:majorGridlines>
          <c:spPr>
            <a:ln w="6350" cap="flat">
              <a:solidFill>
                <a:srgbClr val="DD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Calibri"/>
              </a:defRPr>
            </a:pPr>
            <a:r>
              <a:rPr sz="1400" b="0" i="0" u="none" strike="noStrike">
                <a:solidFill>
                  <a:srgbClr val="0B1F33"/>
                </a:solidFill>
                <a:latin typeface="Calibri"/>
              </a:rPr>
              <a:t>Built-in importance from the saved models (% of total)</a:t>
            </a:r>
          </a:p>
        </c:rich>
      </c:tx>
      <c:layout/>
      <c:overlay val="0"/>
    </c:title>
    <c:autoTitleDeleted val="0"/>
    <c:plotArea>
      <c:layout/>
      <c:barChart>
        <c:barDir val="bar"/>
        <c:grouping val="clustered"/>
        <c:varyColors val="0"/>
        <c:ser>
          <c:idx val="0"/>
          <c:order val="0"/>
          <c:tx>
            <c:strRef>
              <c:f>Sheet1!$B$1</c:f>
              <c:strCache>
                <c:ptCount val="1"/>
                <c:pt idx="0">
                  <c:v>Random Forest (impurity)</c:v>
                </c:pt>
              </c:strCache>
            </c:strRef>
          </c:tx>
          <c:spPr>
            <a:solidFill>
              <a:srgbClr val="0E7C86"/>
            </a:solidFill>
            <a:effectLst/>
          </c:spPr>
          <c:invertIfNegative val="0"/>
          <c:dLbls>
            <c:numFmt formatCode="0.0" sourceLinked="0"/>
            <c:txPr>
              <a:bodyPr/>
              <a:lstStyle/>
              <a:p>
                <a:pPr>
                  <a:defRPr b="0" i="0" strike="noStrike" sz="1200" u="none">
                    <a:solidFill>
                      <a:srgbClr val="12202E"/>
                    </a:solidFill>
                    <a:latin typeface="Calibri"/>
                  </a:defRPr>
                </a:pPr>
              </a:p>
            </c:txPr>
            <c:showLegendKey val="0"/>
            <c:showVal val="1"/>
            <c:showCatName val="0"/>
            <c:showSerName val="0"/>
            <c:showPercent val="0"/>
            <c:showBubbleSize val="0"/>
            <c:showLeaderLines val="0"/>
          </c:dLbls>
          <c:cat>
            <c:multiLvlStrRef>
              <c:f>Sheet1!$A$2:$A$8</c:f>
              <c:multiLvlStrCache>
                <c:ptCount val="7"/>
                <c:lvl>
                  <c:pt idx="0">
                    <c:v>log1p_orthophosphate</c:v>
                  </c:pt>
                  <c:pt idx="1">
                    <c:v>orthophosphate</c:v>
                  </c:pt>
                  <c:pt idx="2">
                    <c:v>ammonia</c:v>
                  </c:pt>
                  <c:pt idx="3">
                    <c:v>log1p_ammonia</c:v>
                  </c:pt>
                  <c:pt idx="4">
                    <c:v>log1p_bod</c:v>
                  </c:pt>
                  <c:pt idx="5">
                    <c:v>exceedance_counter</c:v>
                  </c:pt>
                  <c:pt idx="6">
                    <c:v>hist_ortho_lag1</c:v>
                  </c:pt>
                </c:lvl>
              </c:multiLvlStrCache>
            </c:multiLvlStrRef>
          </c:cat>
          <c:val>
            <c:numRef>
              <c:f>Sheet1!$B$2:$B$8</c:f>
              <c:numCache>
                <c:formatCode>General</c:formatCode>
                <c:ptCount val="7"/>
                <c:pt idx="0">
                  <c:v>48.28</c:v>
                </c:pt>
                <c:pt idx="1">
                  <c:v>40.2</c:v>
                </c:pt>
                <c:pt idx="2">
                  <c:v>5.05</c:v>
                </c:pt>
                <c:pt idx="3">
                  <c:v>4.38</c:v>
                </c:pt>
                <c:pt idx="4">
                  <c:v>0.76</c:v>
                </c:pt>
                <c:pt idx="5">
                  <c:v>0</c:v>
                </c:pt>
                <c:pt idx="6">
                  <c:v>0</c:v>
                </c:pt>
              </c:numCache>
            </c:numRef>
          </c:val>
        </c:ser>
        <c:ser>
          <c:idx val="1"/>
          <c:order val="1"/>
          <c:tx>
            <c:strRef>
              <c:f>Sheet1!$C$1</c:f>
              <c:strCache>
                <c:ptCount val="1"/>
                <c:pt idx="0">
                  <c:v>XGBoost (gain share)</c:v>
                </c:pt>
              </c:strCache>
            </c:strRef>
          </c:tx>
          <c:spPr>
            <a:solidFill>
              <a:srgbClr val="2EC4B6"/>
            </a:solidFill>
            <a:effectLst/>
          </c:spPr>
          <c:invertIfNegative val="0"/>
          <c:dLbls>
            <c:numFmt formatCode="0.0" sourceLinked="0"/>
            <c:txPr>
              <a:bodyPr/>
              <a:lstStyle/>
              <a:p>
                <a:pPr>
                  <a:defRPr b="0" i="0" strike="noStrike" sz="1200" u="none">
                    <a:solidFill>
                      <a:srgbClr val="12202E"/>
                    </a:solidFill>
                    <a:latin typeface="Calibri"/>
                  </a:defRPr>
                </a:pPr>
              </a:p>
            </c:txPr>
            <c:showLegendKey val="0"/>
            <c:showVal val="1"/>
            <c:showCatName val="0"/>
            <c:showSerName val="0"/>
            <c:showPercent val="0"/>
            <c:showBubbleSize val="0"/>
            <c:showLeaderLines val="0"/>
          </c:dLbls>
          <c:cat>
            <c:multiLvlStrRef>
              <c:f>Sheet1!$A$2:$A$8</c:f>
              <c:multiLvlStrCache>
                <c:ptCount val="7"/>
                <c:lvl>
                  <c:pt idx="0">
                    <c:v>log1p_orthophosphate</c:v>
                  </c:pt>
                  <c:pt idx="1">
                    <c:v>orthophosphate</c:v>
                  </c:pt>
                  <c:pt idx="2">
                    <c:v>ammonia</c:v>
                  </c:pt>
                  <c:pt idx="3">
                    <c:v>log1p_ammonia</c:v>
                  </c:pt>
                  <c:pt idx="4">
                    <c:v>log1p_bod</c:v>
                  </c:pt>
                  <c:pt idx="5">
                    <c:v>exceedance_counter</c:v>
                  </c:pt>
                  <c:pt idx="6">
                    <c:v>hist_ortho_lag1</c:v>
                  </c:pt>
                </c:lvl>
              </c:multiLvlStrCache>
            </c:multiLvlStrRef>
          </c:cat>
          <c:val>
            <c:numRef>
              <c:f>Sheet1!$C$2:$C$8</c:f>
              <c:numCache>
                <c:formatCode>General</c:formatCode>
                <c:ptCount val="7"/>
                <c:pt idx="0">
                  <c:v>12.35</c:v>
                </c:pt>
                <c:pt idx="1">
                  <c:v>64.01</c:v>
                </c:pt>
                <c:pt idx="2">
                  <c:v>6.86</c:v>
                </c:pt>
                <c:pt idx="3">
                  <c:v>7.78</c:v>
                </c:pt>
                <c:pt idx="4">
                  <c:v>1.26</c:v>
                </c:pt>
                <c:pt idx="5">
                  <c:v>1.9</c:v>
                </c:pt>
                <c:pt idx="6">
                  <c:v>1.53</c:v>
                </c:pt>
              </c:numCache>
            </c:numRef>
          </c:val>
        </c:ser>
        <c:dLbls>
          <c:numFmt formatCode="0.0" sourceLinked="0"/>
          <c:txPr>
            <a:bodyPr/>
            <a:lstStyle/>
            <a:p>
              <a:pPr>
                <a:defRPr b="0" i="0" strike="noStrike" sz="1200" u="none">
                  <a:solidFill>
                    <a:srgbClr val="12202E"/>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2202E"/>
                </a:solidFill>
                <a:latin typeface="Calibri"/>
              </a:defRPr>
            </a:pPr>
            <a:endParaRPr lang="en-US"/>
          </a:p>
        </c:txPr>
        <c:crossAx val="2094734552"/>
        <c:crosses val="autoZero"/>
        <c:auto val="1"/>
        <c:lblAlgn val="ctr"/>
        <c:noMultiLvlLbl val="1"/>
      </c:catAx>
      <c:valAx>
        <c:axId val="2094734552"/>
        <c:scaling>
          <c:orientation val="minMax"/>
          <c:max val="80"/>
        </c:scaling>
        <c:delete val="0"/>
        <c:axPos val="b"/>
        <c:majorGridlines>
          <c:spPr>
            <a:ln w="6350" cap="flat">
              <a:solidFill>
                <a:srgbClr val="DDE6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estimating CCME WQI from eight measured parameters plus engineered features. Say up front that the deck includes an audit of the very high scores; that is deliberate.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BOD5 needs a five-day incubation (120 h). The model is a surrogate mapping already-measured parameters to an index. Do not claim real-time deployment or lab replacement: nothing like that was built or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F1 scope, F2 frequency, F3 amplitude. Tier thresholds are the standard CCME bands. Tier shares come from the repo's graph 11. The dataset's index values are supplied with the data and are a function of the same eight parameters used as inputs; this matters on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KPIs are the audited figures from the executed EDA notebook. Stress the imbalance: Canada contributes under 4,000 rows, and almost all records are from after about 2000 (graph 03). Mention that the older report Table I (England 83.7%) was wrong; the notebook counts sum exactly to 2,819,617.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Executed notebook output: raw 2,827,977 rows x 14 columns, 0 nulls; 8,360 unique impossible rows (union). Per-parameter counts overlap. Completeness caveat: several raw columns cluster at single values (BOD median 2.70, Q3 2.83; nitrate median 4.50, Q3 4.94), and graph 17 in the repo, from an earlier data version, shows 26-34% missing in chemical columns. We cannot tell from the repo whether the 0-null file reflects genuine measurements or upstream filling. Say this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repo graph 07, dissolved oxygen against temperature with the Benson-Krause saturation envelope. Right: Pearson correlation with the WQI before and after log(1+x), from the executed preprocessing notebook (orthophosphate -0.6603 to -0.8531; ammonia -0.3922 to -0.6594; BOD -0.3212 to -0.5775; N:P log 0.5169). Nuance, verified in the same notebook table: orthophosphate Spearman is -0.9172 both raw and log, because rank correlation ignores monotone transforms; trees are invariant to them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check: 8+7+7+6+1+2+7 = 38 (from preprocessing_metadata.json). exceedance_counter is computed in the preprocessing notebook from six input columns with its own thresholds (pH outside 6.5-8.5, DO &lt; 6.5, ammonia &gt; 0.5, BOD &gt; 4, nitrate &gt; 10, orthophosphate &gt; 0.1). It is not a target column and uses only inputs available at prediction time, so it is not target leakage by data flow, but it is redundant with the raw inputs. Lags: previous record within the same Area (sorted by date); the first record of each Area is filled with the global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taken from the preprocessing notebook: load EDA-cleaned data, engineer 38 features (including per-Area lags over the whole dataset), assert targets are not in the feature list, then a stratified random split by WQI tier (seed 42). A StandardScaler is fitted on train, but scaled partitions are not saved or used in Phase 1; trees use raw units. XGBoost early stopping watches the validation set. Tests: 12 test functions (features 4, leakage 2, metrics 3, models 3). We could not execute them here (xgboost missing offline), so pass status is as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are from the executed training notebook and confirmed on the saved artifacts (the RF joblib has 30 trees, depth 14, min leaf 5, all 38 features per split; the XGBoost JSON has 150 trees). These replace the older report text (100 trees depth 20; 300 rounds). XGBoost early stopping used the validation set, so its validation score is slightly optimistic. Deep learning is planned for Phase 2: no neural-network code exists in this repo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 numbers are identical in model_comparison.csv and training_history.csv (MAE 0.0521, RMSE 0.2081, R2 0.99986; train MAE 0.047, so a small train-val gap). XGBoost has two versions in the repo: model_comparison.csv (from tree_val_predictions.parquet) gives MAE 0.1375, RMSE 0.3740, R2 0.99955, which is what the written report used; the training notebook and the saved model's recorded best_score give MAE 0.1611, RMSE 0.4372, R2 0.99939. The saved predictions file therefore does not match the saved model; re-run notebooks 03 and 04 to settle this. Conclusions are unchanged. Latency numbers are omitted: no timing code or hardware is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after reading the code. (1) The target is supplied with the data and is computed from the same eight parameters; the repo's own evaluation notebook concludes the scores measure reconstruction of the index from same-time measurements. (2) exceedance_counter: we previously treated it as a leakage risk. The code shows it uses six input columns and its own thresholds, not the target or F1-F3 (F1-F3 are not columns in the dataset). It is a legitimate, if redundant, feature. An ablation without it has not been run. (3) The split is random, station lags are built on the full data, XGBoost early-stops on validation, and the test set is unscored. Nothing here shows leakage in a pipeline sense; it shows the evaluation cannot support forecasting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values: built-in impurity importance read from the saved joblib. XGBoost values: average-gain share computed from the saved xgboost_model.json trees. Orthophosphate plus its log variant: 88.5% (RF) and 76.4% (XGBoost). hist_ortho_lag1 is about 0 in RF and 1.5% (rank 6) in XGBoost, so the older claim that it ranks second is wrong. country_code is about 0 in both. The SHAP beeswarm (repo graph 16) was computed on 250 validation rows; mean |SHAP| for orthophosphate is about 8.3 index points. A plausible, unverified reason for orthophosphate's weight: the guideline sits close to its median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status. Deep learning: the repo has no neural-network code, notebook or results. Older markdown reports quote an MLP table, but it cannot be reproduced from this repo, so it is excluded. The completeness caveat comes from clustered raw values and repo graph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strongest verified result, then the main caveat. Names and roles are from the team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PROJECT 18 · SEMESTER 5 APPLIED ML &amp; DEEP LEARNING</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9FB6C6"/>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9FB6C6"/>
                </a:solidFill>
                <a:latin typeface="Calibri" pitchFamily="34" charset="0"/>
                <a:ea typeface="Calibri" pitchFamily="34" charset="-122"/>
                <a:cs typeface="Calibri" pitchFamily="34" charset="-120"/>
              </a:rPr>
              <a:t>1</a:t>
            </a:r>
            <a:endParaRPr lang="en-US" sz="1000" dirty="0"/>
          </a:p>
        </p:txBody>
      </p:sp>
      <p:sp>
        <p:nvSpPr>
          <p:cNvPr id="6" name="Text 4"/>
          <p:cNvSpPr txBox="1"/>
          <p:nvPr/>
        </p:nvSpPr>
        <p:spPr>
          <a:xfrm>
            <a:off x="548640" y="1371600"/>
            <a:ext cx="7315200" cy="173736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Surface Water Quality</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Prediction</a:t>
            </a:r>
            <a:endParaRPr lang="en-US" sz="4800" dirty="0"/>
          </a:p>
        </p:txBody>
      </p:sp>
      <p:sp>
        <p:nvSpPr>
          <p:cNvPr id="7" name="Text 5"/>
          <p:cNvSpPr txBox="1"/>
          <p:nvPr/>
        </p:nvSpPr>
        <p:spPr>
          <a:xfrm>
            <a:off x="548640" y="3337560"/>
            <a:ext cx="6766560" cy="1188720"/>
          </a:xfrm>
          <a:prstGeom prst="rect">
            <a:avLst/>
          </a:prstGeom>
          <a:noFill/>
          <a:ln/>
        </p:spPr>
        <p:txBody>
          <a:bodyPr wrap="square" lIns="0" tIns="0" rIns="0" bIns="0" rtlCol="0" anchor="t"/>
          <a:lstStyle/>
          <a:p>
            <a:pPr indent="0" marL="0">
              <a:buNone/>
            </a:pPr>
            <a:r>
              <a:rPr lang="en-US" sz="1800" dirty="0">
                <a:solidFill>
                  <a:srgbClr val="BFD6E2"/>
                </a:solidFill>
                <a:latin typeface="Calibri" pitchFamily="34" charset="0"/>
                <a:ea typeface="Calibri" pitchFamily="34" charset="-122"/>
                <a:cs typeface="Calibri" pitchFamily="34" charset="-120"/>
              </a:rPr>
              <a:t>Estimating the CCME Water Quality Index with gradient-tree ensembles and aquatic-chemistry features — plus an honest audit of what the scores mean</a:t>
            </a:r>
            <a:endParaRPr lang="en-US" sz="1800" dirty="0"/>
          </a:p>
        </p:txBody>
      </p:sp>
      <p:sp>
        <p:nvSpPr>
          <p:cNvPr id="8" name="Text 6"/>
          <p:cNvSpPr txBox="1"/>
          <p:nvPr/>
        </p:nvSpPr>
        <p:spPr>
          <a:xfrm>
            <a:off x="548640" y="4892040"/>
            <a:ext cx="7315200"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Mayank Sharma · Aman Soni · Aaryan Gera</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Chaitanya Kumar · Ankit Kumar Pandey · Pranav Sehgal</a:t>
            </a:r>
            <a:endParaRPr lang="en-US" sz="1500" dirty="0"/>
          </a:p>
        </p:txBody>
      </p:sp>
      <p:sp>
        <p:nvSpPr>
          <p:cNvPr id="9" name="Text 7"/>
          <p:cNvSpPr txBox="1"/>
          <p:nvPr/>
        </p:nvSpPr>
        <p:spPr>
          <a:xfrm>
            <a:off x="548640" y="5623560"/>
            <a:ext cx="7315200" cy="457200"/>
          </a:xfrm>
          <a:prstGeom prst="rect">
            <a:avLst/>
          </a:prstGeom>
          <a:noFill/>
          <a:ln/>
        </p:spPr>
        <p:txBody>
          <a:bodyPr wrap="square" lIns="0" tIns="0" rIns="0" bIns="0" rtlCol="0" anchor="t"/>
          <a:lstStyle/>
          <a:p>
            <a:pPr indent="0" marL="0">
              <a:buNone/>
            </a:pPr>
            <a:r>
              <a:rPr lang="en-US" sz="1300" dirty="0">
                <a:solidFill>
                  <a:srgbClr val="9FB6C6"/>
                </a:solidFill>
                <a:latin typeface="Calibri" pitchFamily="34" charset="0"/>
                <a:ea typeface="Calibri" pitchFamily="34" charset="-122"/>
                <a:cs typeface="Calibri" pitchFamily="34" charset="-120"/>
              </a:rPr>
              <a:t>Department of Computer Science &amp; Artificial Intelligence · School of Engineering and Technology</a:t>
            </a:r>
            <a:endParaRPr lang="en-US" sz="1300" dirty="0"/>
          </a:p>
        </p:txBody>
      </p:sp>
      <p:sp>
        <p:nvSpPr>
          <p:cNvPr id="10" name="Shape 8"/>
          <p:cNvSpPr/>
          <p:nvPr/>
        </p:nvSpPr>
        <p:spPr>
          <a:xfrm>
            <a:off x="8229600" y="1280160"/>
            <a:ext cx="3291840" cy="3291840"/>
          </a:xfrm>
          <a:prstGeom prst="ellipse">
            <a:avLst/>
          </a:prstGeom>
          <a:solidFill>
            <a:srgbClr val="12405A"/>
          </a:solidFill>
          <a:ln w="12700">
            <a:solidFill>
              <a:srgbClr val="12405A"/>
            </a:solidFill>
            <a:prstDash val="solid"/>
          </a:ln>
        </p:spPr>
      </p:sp>
      <p:sp>
        <p:nvSpPr>
          <p:cNvPr id="11" name="Shape 9"/>
          <p:cNvSpPr/>
          <p:nvPr/>
        </p:nvSpPr>
        <p:spPr>
          <a:xfrm>
            <a:off x="8686800" y="1737360"/>
            <a:ext cx="2377440" cy="2377440"/>
          </a:xfrm>
          <a:prstGeom prst="ellipse">
            <a:avLst/>
          </a:prstGeom>
          <a:solidFill>
            <a:srgbClr val="15607A"/>
          </a:solidFill>
          <a:ln w="12700">
            <a:solidFill>
              <a:srgbClr val="15607A"/>
            </a:solidFill>
            <a:prstDash val="solid"/>
          </a:ln>
        </p:spPr>
      </p:sp>
      <p:sp>
        <p:nvSpPr>
          <p:cNvPr id="12" name="Shape 10"/>
          <p:cNvSpPr/>
          <p:nvPr/>
        </p:nvSpPr>
        <p:spPr>
          <a:xfrm>
            <a:off x="9144000" y="2194560"/>
            <a:ext cx="1463040" cy="1463040"/>
          </a:xfrm>
          <a:prstGeom prst="ellipse">
            <a:avLst/>
          </a:prstGeom>
          <a:solidFill>
            <a:srgbClr val="0E7C86"/>
          </a:solidFill>
          <a:ln w="12700">
            <a:solidFill>
              <a:srgbClr val="0E7C86"/>
            </a:solidFill>
            <a:prstDash val="solid"/>
          </a:ln>
        </p:spPr>
      </p:sp>
      <p:sp>
        <p:nvSpPr>
          <p:cNvPr id="13" name="Shape 11"/>
          <p:cNvSpPr/>
          <p:nvPr/>
        </p:nvSpPr>
        <p:spPr>
          <a:xfrm>
            <a:off x="9601200" y="2651760"/>
            <a:ext cx="548640" cy="548640"/>
          </a:xfrm>
          <a:prstGeom prst="ellipse">
            <a:avLst/>
          </a:prstGeom>
          <a:solidFill>
            <a:srgbClr val="2EC4B6"/>
          </a:solidFill>
          <a:ln w="12700">
            <a:solidFill>
              <a:srgbClr val="2EC4B6"/>
            </a:solidFill>
            <a:prstDash val="solid"/>
          </a:ln>
        </p:spPr>
      </p:sp>
      <p:sp>
        <p:nvSpPr>
          <p:cNvPr id="14" name="Text 12"/>
          <p:cNvSpPr txBox="1"/>
          <p:nvPr/>
        </p:nvSpPr>
        <p:spPr>
          <a:xfrm>
            <a:off x="7863840" y="5120640"/>
            <a:ext cx="3840480" cy="274320"/>
          </a:xfrm>
          <a:prstGeom prst="rect">
            <a:avLst/>
          </a:prstGeom>
          <a:noFill/>
          <a:ln/>
        </p:spPr>
        <p:txBody>
          <a:bodyPr wrap="square" lIns="0" tIns="0" rIns="0" bIns="0" rtlCol="0" anchor="t"/>
          <a:lstStyle/>
          <a:p>
            <a:pPr algn="r" indent="0" marL="0">
              <a:buNone/>
            </a:pPr>
            <a:r>
              <a:rPr lang="en-US" sz="1300" dirty="0">
                <a:solidFill>
                  <a:srgbClr val="2EC4B6"/>
                </a:solidFill>
                <a:latin typeface="Calibri" pitchFamily="34" charset="0"/>
                <a:ea typeface="Calibri" pitchFamily="34" charset="-122"/>
                <a:cs typeface="Calibri" pitchFamily="34" charset="-120"/>
              </a:rPr>
              <a:t>2.82 M observations · 5 countries · 1940–2023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0E7C86"/>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0B1F33"/>
                </a:solidFill>
                <a:latin typeface="Cambria" pitchFamily="34" charset="0"/>
                <a:ea typeface="Cambria" pitchFamily="34" charset="-122"/>
                <a:cs typeface="Cambria" pitchFamily="34" charset="-120"/>
              </a:rPr>
              <a:t>Lab assays are slow and sparse; an index estimator could triage faster</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783080"/>
            <a:ext cx="3383280" cy="1554480"/>
          </a:xfrm>
          <a:prstGeom prst="rect">
            <a:avLst/>
          </a:prstGeom>
          <a:solidFill>
            <a:srgbClr val="EAF4F6"/>
          </a:solidFill>
          <a:ln w="12700">
            <a:solidFill>
              <a:srgbClr val="EAF4F6"/>
            </a:solidFill>
            <a:prstDash val="solid"/>
          </a:ln>
        </p:spPr>
      </p:sp>
      <p:sp>
        <p:nvSpPr>
          <p:cNvPr id="8" name="Text 5"/>
          <p:cNvSpPr txBox="1"/>
          <p:nvPr/>
        </p:nvSpPr>
        <p:spPr>
          <a:xfrm>
            <a:off x="777240" y="1965960"/>
            <a:ext cx="2926080" cy="365760"/>
          </a:xfrm>
          <a:prstGeom prst="rect">
            <a:avLst/>
          </a:prstGeom>
          <a:noFill/>
          <a:ln/>
        </p:spPr>
        <p:txBody>
          <a:bodyPr wrap="square" lIns="0" tIns="0" rIns="0" bIns="0" rtlCol="0" anchor="t"/>
          <a:lstStyle/>
          <a:p>
            <a:pPr indent="0" marL="0">
              <a:buNone/>
            </a:pPr>
            <a:r>
              <a:rPr lang="en-US" sz="2000" b="1" dirty="0">
                <a:solidFill>
                  <a:srgbClr val="0E7C86"/>
                </a:solidFill>
                <a:latin typeface="Cambria" pitchFamily="34" charset="0"/>
                <a:ea typeface="Cambria" pitchFamily="34" charset="-122"/>
                <a:cs typeface="Cambria" pitchFamily="34" charset="-120"/>
              </a:rPr>
              <a:t>Grab sample</a:t>
            </a:r>
            <a:endParaRPr lang="en-US" sz="2000" dirty="0"/>
          </a:p>
        </p:txBody>
      </p:sp>
      <p:sp>
        <p:nvSpPr>
          <p:cNvPr id="9" name="Text 6"/>
          <p:cNvSpPr txBox="1"/>
          <p:nvPr/>
        </p:nvSpPr>
        <p:spPr>
          <a:xfrm>
            <a:off x="777240" y="2468880"/>
            <a:ext cx="2926080" cy="731520"/>
          </a:xfrm>
          <a:prstGeom prst="rect">
            <a:avLst/>
          </a:prstGeom>
          <a:noFill/>
          <a:ln/>
        </p:spPr>
        <p:txBody>
          <a:bodyPr wrap="square" lIns="0" tIns="0" rIns="0" bIns="0" rtlCol="0" anchor="t"/>
          <a:lstStyle/>
          <a:p>
            <a:pPr indent="0" marL="0">
              <a:buNone/>
            </a:pPr>
            <a:r>
              <a:rPr lang="en-US" sz="1500" dirty="0">
                <a:solidFill>
                  <a:srgbClr val="12202E"/>
                </a:solidFill>
                <a:latin typeface="Calibri" pitchFamily="34" charset="0"/>
                <a:ea typeface="Calibri" pitchFamily="34" charset="-122"/>
                <a:cs typeface="Calibri" pitchFamily="34" charset="-120"/>
              </a:rPr>
              <a:t>Field visit, discrete in space and time</a:t>
            </a:r>
            <a:endParaRPr lang="en-US" sz="1500" dirty="0"/>
          </a:p>
        </p:txBody>
      </p:sp>
      <p:sp>
        <p:nvSpPr>
          <p:cNvPr id="10" name="Text 7"/>
          <p:cNvSpPr txBox="1"/>
          <p:nvPr/>
        </p:nvSpPr>
        <p:spPr>
          <a:xfrm>
            <a:off x="3931920" y="2240280"/>
            <a:ext cx="365760" cy="457200"/>
          </a:xfrm>
          <a:prstGeom prst="rect">
            <a:avLst/>
          </a:prstGeom>
          <a:noFill/>
          <a:ln/>
        </p:spPr>
        <p:txBody>
          <a:bodyPr wrap="square" lIns="0" tIns="0" rIns="0" bIns="0" rtlCol="0" anchor="t"/>
          <a:lstStyle/>
          <a:p>
            <a:pPr algn="ctr" indent="0" marL="0">
              <a:buNone/>
            </a:pPr>
            <a:r>
              <a:rPr lang="en-US" sz="2800" dirty="0">
                <a:solidFill>
                  <a:srgbClr val="5B6B7A"/>
                </a:solidFill>
                <a:latin typeface="Calibri" pitchFamily="34" charset="0"/>
                <a:ea typeface="Calibri" pitchFamily="34" charset="-122"/>
                <a:cs typeface="Calibri" pitchFamily="34" charset="-120"/>
              </a:rPr>
              <a:t>→</a:t>
            </a:r>
            <a:endParaRPr lang="en-US" sz="2800" dirty="0"/>
          </a:p>
        </p:txBody>
      </p:sp>
      <p:sp>
        <p:nvSpPr>
          <p:cNvPr id="11" name="Shape 8"/>
          <p:cNvSpPr/>
          <p:nvPr/>
        </p:nvSpPr>
        <p:spPr>
          <a:xfrm>
            <a:off x="4297680" y="1783080"/>
            <a:ext cx="3383280" cy="1554480"/>
          </a:xfrm>
          <a:prstGeom prst="rect">
            <a:avLst/>
          </a:prstGeom>
          <a:solidFill>
            <a:srgbClr val="EAF4F6"/>
          </a:solidFill>
          <a:ln w="12700">
            <a:solidFill>
              <a:srgbClr val="EAF4F6"/>
            </a:solidFill>
            <a:prstDash val="solid"/>
          </a:ln>
        </p:spPr>
      </p:sp>
      <p:sp>
        <p:nvSpPr>
          <p:cNvPr id="12" name="Text 9"/>
          <p:cNvSpPr txBox="1"/>
          <p:nvPr/>
        </p:nvSpPr>
        <p:spPr>
          <a:xfrm>
            <a:off x="4526280" y="1965960"/>
            <a:ext cx="2926080" cy="365760"/>
          </a:xfrm>
          <a:prstGeom prst="rect">
            <a:avLst/>
          </a:prstGeom>
          <a:noFill/>
          <a:ln/>
        </p:spPr>
        <p:txBody>
          <a:bodyPr wrap="square" lIns="0" tIns="0" rIns="0" bIns="0" rtlCol="0" anchor="t"/>
          <a:lstStyle/>
          <a:p>
            <a:pPr indent="0" marL="0">
              <a:buNone/>
            </a:pPr>
            <a:r>
              <a:rPr lang="en-US" sz="2000" b="1" dirty="0">
                <a:solidFill>
                  <a:srgbClr val="0E7C86"/>
                </a:solidFill>
                <a:latin typeface="Cambria" pitchFamily="34" charset="0"/>
                <a:ea typeface="Cambria" pitchFamily="34" charset="-122"/>
                <a:cs typeface="Cambria" pitchFamily="34" charset="-120"/>
              </a:rPr>
              <a:t>Lab assay</a:t>
            </a:r>
            <a:endParaRPr lang="en-US" sz="2000" dirty="0"/>
          </a:p>
        </p:txBody>
      </p:sp>
      <p:sp>
        <p:nvSpPr>
          <p:cNvPr id="13" name="Text 10"/>
          <p:cNvSpPr txBox="1"/>
          <p:nvPr/>
        </p:nvSpPr>
        <p:spPr>
          <a:xfrm>
            <a:off x="4526280" y="2468880"/>
            <a:ext cx="2926080" cy="731520"/>
          </a:xfrm>
          <a:prstGeom prst="rect">
            <a:avLst/>
          </a:prstGeom>
          <a:noFill/>
          <a:ln/>
        </p:spPr>
        <p:txBody>
          <a:bodyPr wrap="square" lIns="0" tIns="0" rIns="0" bIns="0" rtlCol="0" anchor="t"/>
          <a:lstStyle/>
          <a:p>
            <a:pPr indent="0" marL="0">
              <a:buNone/>
            </a:pPr>
            <a:r>
              <a:rPr lang="en-US" sz="1500" dirty="0">
                <a:solidFill>
                  <a:srgbClr val="12202E"/>
                </a:solidFill>
                <a:latin typeface="Calibri" pitchFamily="34" charset="0"/>
                <a:ea typeface="Calibri" pitchFamily="34" charset="-122"/>
                <a:cs typeface="Calibri" pitchFamily="34" charset="-120"/>
              </a:rPr>
              <a:t>BOD5 needs 5 days (120 h) incubation</a:t>
            </a:r>
            <a:endParaRPr lang="en-US" sz="1500" dirty="0"/>
          </a:p>
        </p:txBody>
      </p:sp>
      <p:sp>
        <p:nvSpPr>
          <p:cNvPr id="14" name="Text 11"/>
          <p:cNvSpPr txBox="1"/>
          <p:nvPr/>
        </p:nvSpPr>
        <p:spPr>
          <a:xfrm>
            <a:off x="7680960" y="2240280"/>
            <a:ext cx="365760" cy="457200"/>
          </a:xfrm>
          <a:prstGeom prst="rect">
            <a:avLst/>
          </a:prstGeom>
          <a:noFill/>
          <a:ln/>
        </p:spPr>
        <p:txBody>
          <a:bodyPr wrap="square" lIns="0" tIns="0" rIns="0" bIns="0" rtlCol="0" anchor="t"/>
          <a:lstStyle/>
          <a:p>
            <a:pPr algn="ctr" indent="0" marL="0">
              <a:buNone/>
            </a:pPr>
            <a:r>
              <a:rPr lang="en-US" sz="2800" dirty="0">
                <a:solidFill>
                  <a:srgbClr val="5B6B7A"/>
                </a:solidFill>
                <a:latin typeface="Calibri" pitchFamily="34" charset="0"/>
                <a:ea typeface="Calibri" pitchFamily="34" charset="-122"/>
                <a:cs typeface="Calibri" pitchFamily="34" charset="-120"/>
              </a:rPr>
              <a:t>→</a:t>
            </a:r>
            <a:endParaRPr lang="en-US" sz="2800" dirty="0"/>
          </a:p>
        </p:txBody>
      </p:sp>
      <p:sp>
        <p:nvSpPr>
          <p:cNvPr id="15" name="Shape 12"/>
          <p:cNvSpPr/>
          <p:nvPr/>
        </p:nvSpPr>
        <p:spPr>
          <a:xfrm>
            <a:off x="8046720" y="1783080"/>
            <a:ext cx="3383280" cy="1554480"/>
          </a:xfrm>
          <a:prstGeom prst="rect">
            <a:avLst/>
          </a:prstGeom>
          <a:solidFill>
            <a:srgbClr val="EAF4F6"/>
          </a:solidFill>
          <a:ln w="12700">
            <a:solidFill>
              <a:srgbClr val="EAF4F6"/>
            </a:solidFill>
            <a:prstDash val="solid"/>
          </a:ln>
        </p:spPr>
      </p:sp>
      <p:sp>
        <p:nvSpPr>
          <p:cNvPr id="16" name="Text 13"/>
          <p:cNvSpPr txBox="1"/>
          <p:nvPr/>
        </p:nvSpPr>
        <p:spPr>
          <a:xfrm>
            <a:off x="8275320" y="1965960"/>
            <a:ext cx="2926080" cy="365760"/>
          </a:xfrm>
          <a:prstGeom prst="rect">
            <a:avLst/>
          </a:prstGeom>
          <a:noFill/>
          <a:ln/>
        </p:spPr>
        <p:txBody>
          <a:bodyPr wrap="square" lIns="0" tIns="0" rIns="0" bIns="0" rtlCol="0" anchor="t"/>
          <a:lstStyle/>
          <a:p>
            <a:pPr indent="0" marL="0">
              <a:buNone/>
            </a:pPr>
            <a:r>
              <a:rPr lang="en-US" sz="2000" b="1" dirty="0">
                <a:solidFill>
                  <a:srgbClr val="0E7C86"/>
                </a:solidFill>
                <a:latin typeface="Cambria" pitchFamily="34" charset="0"/>
                <a:ea typeface="Cambria" pitchFamily="34" charset="-122"/>
                <a:cs typeface="Cambria" pitchFamily="34" charset="-120"/>
              </a:rPr>
              <a:t>Index</a:t>
            </a:r>
            <a:endParaRPr lang="en-US" sz="2000" dirty="0"/>
          </a:p>
        </p:txBody>
      </p:sp>
      <p:sp>
        <p:nvSpPr>
          <p:cNvPr id="17" name="Text 14"/>
          <p:cNvSpPr txBox="1"/>
          <p:nvPr/>
        </p:nvSpPr>
        <p:spPr>
          <a:xfrm>
            <a:off x="8275320" y="2468880"/>
            <a:ext cx="2926080" cy="731520"/>
          </a:xfrm>
          <a:prstGeom prst="rect">
            <a:avLst/>
          </a:prstGeom>
          <a:noFill/>
          <a:ln/>
        </p:spPr>
        <p:txBody>
          <a:bodyPr wrap="square" lIns="0" tIns="0" rIns="0" bIns="0" rtlCol="0" anchor="t"/>
          <a:lstStyle/>
          <a:p>
            <a:pPr indent="0" marL="0">
              <a:buNone/>
            </a:pPr>
            <a:r>
              <a:rPr lang="en-US" sz="1500" dirty="0">
                <a:solidFill>
                  <a:srgbClr val="12202E"/>
                </a:solidFill>
                <a:latin typeface="Calibri" pitchFamily="34" charset="0"/>
                <a:ea typeface="Calibri" pitchFamily="34" charset="-122"/>
                <a:cs typeface="Calibri" pitchFamily="34" charset="-120"/>
              </a:rPr>
              <a:t>Composite score computed after results arrive</a:t>
            </a:r>
            <a:endParaRPr lang="en-US" sz="1500" dirty="0"/>
          </a:p>
        </p:txBody>
      </p:sp>
      <p:sp>
        <p:nvSpPr>
          <p:cNvPr id="18" name="Text 15"/>
          <p:cNvSpPr txBox="1"/>
          <p:nvPr/>
        </p:nvSpPr>
        <p:spPr>
          <a:xfrm>
            <a:off x="548640" y="3749040"/>
            <a:ext cx="5486400" cy="365760"/>
          </a:xfrm>
          <a:prstGeom prst="rect">
            <a:avLst/>
          </a:prstGeom>
          <a:noFill/>
          <a:ln/>
        </p:spPr>
        <p:txBody>
          <a:bodyPr wrap="square" lIns="0" tIns="0" rIns="0" bIns="0" rtlCol="0" anchor="t"/>
          <a:lstStyle/>
          <a:p>
            <a:pPr indent="0" marL="0">
              <a:buNone/>
            </a:pPr>
            <a:r>
              <a:rPr lang="en-US" sz="2000" b="1" dirty="0">
                <a:solidFill>
                  <a:srgbClr val="0B1F33"/>
                </a:solidFill>
                <a:latin typeface="Cambria" pitchFamily="34" charset="0"/>
                <a:ea typeface="Cambria" pitchFamily="34" charset="-122"/>
                <a:cs typeface="Cambria" pitchFamily="34" charset="-120"/>
              </a:rPr>
              <a:t>Project objective</a:t>
            </a:r>
            <a:endParaRPr lang="en-US" sz="2000" dirty="0"/>
          </a:p>
        </p:txBody>
      </p:sp>
      <p:sp>
        <p:nvSpPr>
          <p:cNvPr id="19" name="Text 16"/>
          <p:cNvSpPr txBox="1"/>
          <p:nvPr/>
        </p:nvSpPr>
        <p:spPr>
          <a:xfrm>
            <a:off x="548640" y="4160520"/>
            <a:ext cx="5303520" cy="1188720"/>
          </a:xfrm>
          <a:prstGeom prst="rect">
            <a:avLst/>
          </a:prstGeom>
          <a:noFill/>
          <a:ln/>
        </p:spPr>
        <p:txBody>
          <a:bodyPr wrap="square" lIns="0" tIns="0" rIns="0" bIns="0" rtlCol="0" anchor="t"/>
          <a:lstStyle/>
          <a:p>
            <a:pPr indent="0" marL="0">
              <a:buNone/>
            </a:pPr>
            <a:r>
              <a:rPr lang="en-US" sz="1500" dirty="0">
                <a:solidFill>
                  <a:srgbClr val="12202E"/>
                </a:solidFill>
                <a:latin typeface="Calibri" pitchFamily="34" charset="0"/>
                <a:ea typeface="Calibri" pitchFamily="34" charset="-122"/>
                <a:cs typeface="Calibri" pitchFamily="34" charset="-120"/>
              </a:rPr>
              <a:t>Learn a fast surrogate: eight measured parameters (pH, temperature, DO, BOD, ammonia, orthophosphate, nitrogen, nitrate) plus engineered features → CCME WQI score.</a:t>
            </a:r>
            <a:endParaRPr lang="en-US" sz="1500" dirty="0"/>
          </a:p>
        </p:txBody>
      </p:sp>
      <p:sp>
        <p:nvSpPr>
          <p:cNvPr id="20" name="Text 17"/>
          <p:cNvSpPr txBox="1"/>
          <p:nvPr/>
        </p:nvSpPr>
        <p:spPr>
          <a:xfrm>
            <a:off x="6400800" y="3749040"/>
            <a:ext cx="5212080" cy="365760"/>
          </a:xfrm>
          <a:prstGeom prst="rect">
            <a:avLst/>
          </a:prstGeom>
          <a:noFill/>
          <a:ln/>
        </p:spPr>
        <p:txBody>
          <a:bodyPr wrap="square" lIns="0" tIns="0" rIns="0" bIns="0" rtlCol="0" anchor="t"/>
          <a:lstStyle/>
          <a:p>
            <a:pPr indent="0" marL="0">
              <a:buNone/>
            </a:pPr>
            <a:r>
              <a:rPr lang="en-US" sz="2000" b="1" dirty="0">
                <a:solidFill>
                  <a:srgbClr val="0B1F33"/>
                </a:solidFill>
                <a:latin typeface="Cambria" pitchFamily="34" charset="0"/>
                <a:ea typeface="Cambria" pitchFamily="34" charset="-122"/>
                <a:cs typeface="Cambria" pitchFamily="34" charset="-120"/>
              </a:rPr>
              <a:t>Scope of claims</a:t>
            </a:r>
            <a:endParaRPr lang="en-US" sz="2000" dirty="0"/>
          </a:p>
        </p:txBody>
      </p:sp>
      <p:sp>
        <p:nvSpPr>
          <p:cNvPr id="21" name="Text 18"/>
          <p:cNvSpPr txBox="1"/>
          <p:nvPr/>
        </p:nvSpPr>
        <p:spPr>
          <a:xfrm>
            <a:off x="6400800" y="4160520"/>
            <a:ext cx="521208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2202E"/>
                </a:solidFill>
                <a:latin typeface="Calibri" pitchFamily="34" charset="0"/>
                <a:ea typeface="Calibri" pitchFamily="34" charset="-122"/>
                <a:cs typeface="Calibri" pitchFamily="34" charset="-120"/>
              </a:rPr>
              <a:t>Demonstrated: offline regression on a historical dataset (Random Forest, XGBoost)</a:t>
            </a:r>
            <a:endParaRPr lang="en-US" sz="1500" dirty="0"/>
          </a:p>
          <a:p>
            <a:pPr marL="342900" indent="-342900">
              <a:spcAft>
                <a:spcPts val="600"/>
              </a:spcAft>
              <a:buSzPct val="100000"/>
              <a:buChar char="•"/>
            </a:pPr>
            <a:r>
              <a:rPr lang="en-US" sz="1500" dirty="0">
                <a:solidFill>
                  <a:srgbClr val="12202E"/>
                </a:solidFill>
                <a:latin typeface="Calibri" pitchFamily="34" charset="0"/>
                <a:ea typeface="Calibri" pitchFamily="34" charset="-122"/>
                <a:cs typeface="Calibri" pitchFamily="34" charset="-120"/>
              </a:rPr>
              <a:t>Not demonstrated: real-time sensing, field deployment, replacing laboratory testing, or any neural network (planned Phase 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0E7C86"/>
                </a:solidFill>
                <a:latin typeface="Calibri" pitchFamily="34" charset="0"/>
                <a:ea typeface="Calibri" pitchFamily="34" charset="-122"/>
                <a:cs typeface="Calibri" pitchFamily="34" charset="-120"/>
              </a:rPr>
              <a:t>OBJECTIVE AND TARGET</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0B1F33"/>
                </a:solidFill>
                <a:latin typeface="Cambria" pitchFamily="34" charset="0"/>
                <a:ea typeface="Cambria" pitchFamily="34" charset="-122"/>
                <a:cs typeface="Cambria" pitchFamily="34" charset="-120"/>
              </a:rPr>
              <a:t>The target is the CCME Water Quality Index: 100 minus a distance from ideal</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737360"/>
            <a:ext cx="11091672" cy="868680"/>
          </a:xfrm>
          <a:prstGeom prst="rect">
            <a:avLst/>
          </a:prstGeom>
          <a:solidFill>
            <a:srgbClr val="EAF4F6"/>
          </a:solidFill>
          <a:ln w="12700">
            <a:solidFill>
              <a:srgbClr val="EAF4F6"/>
            </a:solidFill>
            <a:prstDash val="solid"/>
          </a:ln>
        </p:spPr>
      </p:sp>
      <p:sp>
        <p:nvSpPr>
          <p:cNvPr id="8" name="Text 5"/>
          <p:cNvSpPr txBox="1"/>
          <p:nvPr/>
        </p:nvSpPr>
        <p:spPr>
          <a:xfrm>
            <a:off x="822960" y="1737360"/>
            <a:ext cx="10515600" cy="86868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CCME WQI = 100 − √(F₁² + F₂² + F₃²) / 1.732</a:t>
            </a:r>
            <a:endParaRPr lang="en-US" sz="2800" dirty="0"/>
          </a:p>
        </p:txBody>
      </p:sp>
      <p:sp>
        <p:nvSpPr>
          <p:cNvPr id="9" name="Shape 6"/>
          <p:cNvSpPr/>
          <p:nvPr/>
        </p:nvSpPr>
        <p:spPr>
          <a:xfrm>
            <a:off x="548640" y="2834640"/>
            <a:ext cx="3611880" cy="1143000"/>
          </a:xfrm>
          <a:prstGeom prst="rect">
            <a:avLst/>
          </a:prstGeom>
          <a:solidFill>
            <a:srgbClr val="F4F8FA"/>
          </a:solidFill>
          <a:ln w="12700">
            <a:solidFill>
              <a:srgbClr val="F4F8FA"/>
            </a:solidFill>
            <a:prstDash val="solid"/>
          </a:ln>
        </p:spPr>
      </p:sp>
      <p:sp>
        <p:nvSpPr>
          <p:cNvPr id="10" name="Text 7"/>
          <p:cNvSpPr txBox="1"/>
          <p:nvPr/>
        </p:nvSpPr>
        <p:spPr>
          <a:xfrm>
            <a:off x="731520" y="2944368"/>
            <a:ext cx="3291840" cy="365760"/>
          </a:xfrm>
          <a:prstGeom prst="rect">
            <a:avLst/>
          </a:prstGeom>
          <a:noFill/>
          <a:ln/>
        </p:spPr>
        <p:txBody>
          <a:bodyPr wrap="square" lIns="0" tIns="0" rIns="0" bIns="0" rtlCol="0" anchor="t"/>
          <a:lstStyle/>
          <a:p>
            <a:pPr indent="0" marL="0">
              <a:buNone/>
            </a:pPr>
            <a:r>
              <a:rPr lang="en-US" sz="1800" b="1" dirty="0">
                <a:solidFill>
                  <a:srgbClr val="0E7C86"/>
                </a:solidFill>
                <a:latin typeface="Cambria" pitchFamily="34" charset="0"/>
                <a:ea typeface="Cambria" pitchFamily="34" charset="-122"/>
                <a:cs typeface="Cambria" pitchFamily="34" charset="-120"/>
              </a:rPr>
              <a:t>F₁ Scope</a:t>
            </a:r>
            <a:endParaRPr lang="en-US" sz="1800" dirty="0"/>
          </a:p>
        </p:txBody>
      </p:sp>
      <p:sp>
        <p:nvSpPr>
          <p:cNvPr id="11" name="Text 8"/>
          <p:cNvSpPr txBox="1"/>
          <p:nvPr/>
        </p:nvSpPr>
        <p:spPr>
          <a:xfrm>
            <a:off x="731520" y="3364992"/>
            <a:ext cx="3291840" cy="548640"/>
          </a:xfrm>
          <a:prstGeom prst="rect">
            <a:avLst/>
          </a:prstGeom>
          <a:noFill/>
          <a:ln/>
        </p:spPr>
        <p:txBody>
          <a:bodyPr wrap="square" lIns="0" tIns="0" rIns="0" bIns="0" rtlCol="0" anchor="t"/>
          <a:lstStyle/>
          <a:p>
            <a:pPr indent="0" marL="0">
              <a:buNone/>
            </a:pPr>
            <a:r>
              <a:rPr lang="en-US" sz="1400" dirty="0">
                <a:solidFill>
                  <a:srgbClr val="12202E"/>
                </a:solidFill>
                <a:latin typeface="Calibri" pitchFamily="34" charset="0"/>
                <a:ea typeface="Calibri" pitchFamily="34" charset="-122"/>
                <a:cs typeface="Calibri" pitchFamily="34" charset="-120"/>
              </a:rPr>
              <a:t>% of variables that fail their guideline</a:t>
            </a:r>
            <a:endParaRPr lang="en-US" sz="1400" dirty="0"/>
          </a:p>
        </p:txBody>
      </p:sp>
      <p:sp>
        <p:nvSpPr>
          <p:cNvPr id="12" name="Shape 9"/>
          <p:cNvSpPr/>
          <p:nvPr/>
        </p:nvSpPr>
        <p:spPr>
          <a:xfrm>
            <a:off x="4297680" y="2834640"/>
            <a:ext cx="3611880" cy="1143000"/>
          </a:xfrm>
          <a:prstGeom prst="rect">
            <a:avLst/>
          </a:prstGeom>
          <a:solidFill>
            <a:srgbClr val="F4F8FA"/>
          </a:solidFill>
          <a:ln w="12700">
            <a:solidFill>
              <a:srgbClr val="F4F8FA"/>
            </a:solidFill>
            <a:prstDash val="solid"/>
          </a:ln>
        </p:spPr>
      </p:sp>
      <p:sp>
        <p:nvSpPr>
          <p:cNvPr id="13" name="Text 10"/>
          <p:cNvSpPr txBox="1"/>
          <p:nvPr/>
        </p:nvSpPr>
        <p:spPr>
          <a:xfrm>
            <a:off x="4480560" y="2944368"/>
            <a:ext cx="3291840" cy="365760"/>
          </a:xfrm>
          <a:prstGeom prst="rect">
            <a:avLst/>
          </a:prstGeom>
          <a:noFill/>
          <a:ln/>
        </p:spPr>
        <p:txBody>
          <a:bodyPr wrap="square" lIns="0" tIns="0" rIns="0" bIns="0" rtlCol="0" anchor="t"/>
          <a:lstStyle/>
          <a:p>
            <a:pPr indent="0" marL="0">
              <a:buNone/>
            </a:pPr>
            <a:r>
              <a:rPr lang="en-US" sz="1800" b="1" dirty="0">
                <a:solidFill>
                  <a:srgbClr val="0E7C86"/>
                </a:solidFill>
                <a:latin typeface="Cambria" pitchFamily="34" charset="0"/>
                <a:ea typeface="Cambria" pitchFamily="34" charset="-122"/>
                <a:cs typeface="Cambria" pitchFamily="34" charset="-120"/>
              </a:rPr>
              <a:t>F₂ Frequency</a:t>
            </a:r>
            <a:endParaRPr lang="en-US" sz="1800" dirty="0"/>
          </a:p>
        </p:txBody>
      </p:sp>
      <p:sp>
        <p:nvSpPr>
          <p:cNvPr id="14" name="Text 11"/>
          <p:cNvSpPr txBox="1"/>
          <p:nvPr/>
        </p:nvSpPr>
        <p:spPr>
          <a:xfrm>
            <a:off x="4480560" y="3364992"/>
            <a:ext cx="3291840" cy="548640"/>
          </a:xfrm>
          <a:prstGeom prst="rect">
            <a:avLst/>
          </a:prstGeom>
          <a:noFill/>
          <a:ln/>
        </p:spPr>
        <p:txBody>
          <a:bodyPr wrap="square" lIns="0" tIns="0" rIns="0" bIns="0" rtlCol="0" anchor="t"/>
          <a:lstStyle/>
          <a:p>
            <a:pPr indent="0" marL="0">
              <a:buNone/>
            </a:pPr>
            <a:r>
              <a:rPr lang="en-US" sz="1400" dirty="0">
                <a:solidFill>
                  <a:srgbClr val="12202E"/>
                </a:solidFill>
                <a:latin typeface="Calibri" pitchFamily="34" charset="0"/>
                <a:ea typeface="Calibri" pitchFamily="34" charset="-122"/>
                <a:cs typeface="Calibri" pitchFamily="34" charset="-120"/>
              </a:rPr>
              <a:t>% of individual tests that fail</a:t>
            </a:r>
            <a:endParaRPr lang="en-US" sz="1400" dirty="0"/>
          </a:p>
        </p:txBody>
      </p:sp>
      <p:sp>
        <p:nvSpPr>
          <p:cNvPr id="15" name="Shape 12"/>
          <p:cNvSpPr/>
          <p:nvPr/>
        </p:nvSpPr>
        <p:spPr>
          <a:xfrm>
            <a:off x="8046720" y="2834640"/>
            <a:ext cx="3611880" cy="1143000"/>
          </a:xfrm>
          <a:prstGeom prst="rect">
            <a:avLst/>
          </a:prstGeom>
          <a:solidFill>
            <a:srgbClr val="F4F8FA"/>
          </a:solidFill>
          <a:ln w="12700">
            <a:solidFill>
              <a:srgbClr val="F4F8FA"/>
            </a:solidFill>
            <a:prstDash val="solid"/>
          </a:ln>
        </p:spPr>
      </p:sp>
      <p:sp>
        <p:nvSpPr>
          <p:cNvPr id="16" name="Text 13"/>
          <p:cNvSpPr txBox="1"/>
          <p:nvPr/>
        </p:nvSpPr>
        <p:spPr>
          <a:xfrm>
            <a:off x="8229600" y="2944368"/>
            <a:ext cx="3291840" cy="365760"/>
          </a:xfrm>
          <a:prstGeom prst="rect">
            <a:avLst/>
          </a:prstGeom>
          <a:noFill/>
          <a:ln/>
        </p:spPr>
        <p:txBody>
          <a:bodyPr wrap="square" lIns="0" tIns="0" rIns="0" bIns="0" rtlCol="0" anchor="t"/>
          <a:lstStyle/>
          <a:p>
            <a:pPr indent="0" marL="0">
              <a:buNone/>
            </a:pPr>
            <a:r>
              <a:rPr lang="en-US" sz="1800" b="1" dirty="0">
                <a:solidFill>
                  <a:srgbClr val="0E7C86"/>
                </a:solidFill>
                <a:latin typeface="Cambria" pitchFamily="34" charset="0"/>
                <a:ea typeface="Cambria" pitchFamily="34" charset="-122"/>
                <a:cs typeface="Cambria" pitchFamily="34" charset="-120"/>
              </a:rPr>
              <a:t>F₃ Amplitude</a:t>
            </a:r>
            <a:endParaRPr lang="en-US" sz="1800" dirty="0"/>
          </a:p>
        </p:txBody>
      </p:sp>
      <p:sp>
        <p:nvSpPr>
          <p:cNvPr id="17" name="Text 14"/>
          <p:cNvSpPr txBox="1"/>
          <p:nvPr/>
        </p:nvSpPr>
        <p:spPr>
          <a:xfrm>
            <a:off x="8229600" y="3364992"/>
            <a:ext cx="3291840" cy="548640"/>
          </a:xfrm>
          <a:prstGeom prst="rect">
            <a:avLst/>
          </a:prstGeom>
          <a:noFill/>
          <a:ln/>
        </p:spPr>
        <p:txBody>
          <a:bodyPr wrap="square" lIns="0" tIns="0" rIns="0" bIns="0" rtlCol="0" anchor="t"/>
          <a:lstStyle/>
          <a:p>
            <a:pPr indent="0" marL="0">
              <a:buNone/>
            </a:pPr>
            <a:r>
              <a:rPr lang="en-US" sz="1400" dirty="0">
                <a:solidFill>
                  <a:srgbClr val="12202E"/>
                </a:solidFill>
                <a:latin typeface="Calibri" pitchFamily="34" charset="0"/>
                <a:ea typeface="Calibri" pitchFamily="34" charset="-122"/>
                <a:cs typeface="Calibri" pitchFamily="34" charset="-120"/>
              </a:rPr>
              <a:t>Size of excursions: nse / (0.01·nse + 0.01)</a:t>
            </a:r>
            <a:endParaRPr lang="en-US" sz="1400" dirty="0"/>
          </a:p>
        </p:txBody>
      </p:sp>
      <p:sp>
        <p:nvSpPr>
          <p:cNvPr id="18" name="Text 15"/>
          <p:cNvSpPr txBox="1"/>
          <p:nvPr/>
        </p:nvSpPr>
        <p:spPr>
          <a:xfrm>
            <a:off x="548640" y="4206240"/>
            <a:ext cx="7315200" cy="320040"/>
          </a:xfrm>
          <a:prstGeom prst="rect">
            <a:avLst/>
          </a:prstGeom>
          <a:noFill/>
          <a:ln/>
        </p:spPr>
        <p:txBody>
          <a:bodyPr wrap="square" lIns="0" tIns="0" rIns="0" bIns="0" rtlCol="0" anchor="t"/>
          <a:lstStyle/>
          <a:p>
            <a:pPr indent="0" marL="0">
              <a:buNone/>
            </a:pPr>
            <a:r>
              <a:rPr lang="en-US" sz="1600" b="1" dirty="0">
                <a:solidFill>
                  <a:srgbClr val="0B1F33"/>
                </a:solidFill>
                <a:latin typeface="Cambria" pitchFamily="34" charset="0"/>
                <a:ea typeface="Cambria" pitchFamily="34" charset="-122"/>
                <a:cs typeface="Cambria" pitchFamily="34" charset="-120"/>
              </a:rPr>
              <a:t>Five quality tiers (share of dataset rows)</a:t>
            </a:r>
            <a:endParaRPr lang="en-US" sz="1600" dirty="0"/>
          </a:p>
        </p:txBody>
      </p:sp>
      <p:sp>
        <p:nvSpPr>
          <p:cNvPr id="19" name="Shape 16"/>
          <p:cNvSpPr/>
          <p:nvPr/>
        </p:nvSpPr>
        <p:spPr>
          <a:xfrm>
            <a:off x="548640" y="4572000"/>
            <a:ext cx="1463040" cy="685800"/>
          </a:xfrm>
          <a:prstGeom prst="rect">
            <a:avLst/>
          </a:prstGeom>
          <a:solidFill>
            <a:srgbClr val="B5483A"/>
          </a:solidFill>
          <a:ln w="19050">
            <a:solidFill>
              <a:srgbClr val="FFFFFF"/>
            </a:solidFill>
            <a:prstDash val="solid"/>
          </a:ln>
        </p:spPr>
      </p:sp>
      <p:sp>
        <p:nvSpPr>
          <p:cNvPr id="20" name="Text 17"/>
          <p:cNvSpPr txBox="1"/>
          <p:nvPr/>
        </p:nvSpPr>
        <p:spPr>
          <a:xfrm>
            <a:off x="548640" y="4572000"/>
            <a:ext cx="14630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Poor 0–44</a:t>
            </a:r>
            <a:endParaRPr lang="en-US" sz="1200" dirty="0"/>
          </a:p>
        </p:txBody>
      </p:sp>
      <p:sp>
        <p:nvSpPr>
          <p:cNvPr id="21" name="Text 18"/>
          <p:cNvSpPr txBox="1"/>
          <p:nvPr/>
        </p:nvSpPr>
        <p:spPr>
          <a:xfrm>
            <a:off x="548640" y="4919472"/>
            <a:ext cx="1463040" cy="3200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4.5%</a:t>
            </a:r>
            <a:endParaRPr lang="en-US" sz="1200" dirty="0"/>
          </a:p>
        </p:txBody>
      </p:sp>
      <p:sp>
        <p:nvSpPr>
          <p:cNvPr id="22" name="Shape 19"/>
          <p:cNvSpPr/>
          <p:nvPr/>
        </p:nvSpPr>
        <p:spPr>
          <a:xfrm>
            <a:off x="2011680" y="4572000"/>
            <a:ext cx="2194560" cy="685800"/>
          </a:xfrm>
          <a:prstGeom prst="rect">
            <a:avLst/>
          </a:prstGeom>
          <a:solidFill>
            <a:srgbClr val="D98A1F"/>
          </a:solidFill>
          <a:ln w="19050">
            <a:solidFill>
              <a:srgbClr val="FFFFFF"/>
            </a:solidFill>
            <a:prstDash val="solid"/>
          </a:ln>
        </p:spPr>
      </p:sp>
      <p:sp>
        <p:nvSpPr>
          <p:cNvPr id="23" name="Text 20"/>
          <p:cNvSpPr txBox="1"/>
          <p:nvPr/>
        </p:nvSpPr>
        <p:spPr>
          <a:xfrm>
            <a:off x="2011680" y="4572000"/>
            <a:ext cx="21945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Marginal 45–64</a:t>
            </a:r>
            <a:endParaRPr lang="en-US" sz="1200" dirty="0"/>
          </a:p>
        </p:txBody>
      </p:sp>
      <p:sp>
        <p:nvSpPr>
          <p:cNvPr id="24" name="Text 21"/>
          <p:cNvSpPr txBox="1"/>
          <p:nvPr/>
        </p:nvSpPr>
        <p:spPr>
          <a:xfrm>
            <a:off x="2011680" y="4919472"/>
            <a:ext cx="2194560" cy="3200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11.6%</a:t>
            </a:r>
            <a:endParaRPr lang="en-US" sz="1200" dirty="0"/>
          </a:p>
        </p:txBody>
      </p:sp>
      <p:sp>
        <p:nvSpPr>
          <p:cNvPr id="25" name="Shape 22"/>
          <p:cNvSpPr/>
          <p:nvPr/>
        </p:nvSpPr>
        <p:spPr>
          <a:xfrm>
            <a:off x="4206240" y="4572000"/>
            <a:ext cx="2194560" cy="685800"/>
          </a:xfrm>
          <a:prstGeom prst="rect">
            <a:avLst/>
          </a:prstGeom>
          <a:solidFill>
            <a:srgbClr val="E6C34A"/>
          </a:solidFill>
          <a:ln w="19050">
            <a:solidFill>
              <a:srgbClr val="FFFFFF"/>
            </a:solidFill>
            <a:prstDash val="solid"/>
          </a:ln>
        </p:spPr>
      </p:sp>
      <p:sp>
        <p:nvSpPr>
          <p:cNvPr id="26" name="Text 23"/>
          <p:cNvSpPr txBox="1"/>
          <p:nvPr/>
        </p:nvSpPr>
        <p:spPr>
          <a:xfrm>
            <a:off x="4206240" y="4572000"/>
            <a:ext cx="2194560" cy="384048"/>
          </a:xfrm>
          <a:prstGeom prst="rect">
            <a:avLst/>
          </a:prstGeom>
          <a:noFill/>
          <a:ln/>
        </p:spPr>
        <p:txBody>
          <a:bodyPr wrap="square" lIns="0" tIns="0" rIns="0" bIns="0" rtlCol="0" anchor="ctr"/>
          <a:lstStyle/>
          <a:p>
            <a:pPr algn="ctr" indent="0" marL="0">
              <a:buNone/>
            </a:pPr>
            <a:r>
              <a:rPr lang="en-US" sz="1200" b="1" dirty="0">
                <a:solidFill>
                  <a:srgbClr val="12202E"/>
                </a:solidFill>
                <a:latin typeface="Calibri" pitchFamily="34" charset="0"/>
                <a:ea typeface="Calibri" pitchFamily="34" charset="-122"/>
                <a:cs typeface="Calibri" pitchFamily="34" charset="-120"/>
              </a:rPr>
              <a:t>Fair 65–79</a:t>
            </a:r>
            <a:endParaRPr lang="en-US" sz="1200" dirty="0"/>
          </a:p>
        </p:txBody>
      </p:sp>
      <p:sp>
        <p:nvSpPr>
          <p:cNvPr id="27" name="Text 24"/>
          <p:cNvSpPr txBox="1"/>
          <p:nvPr/>
        </p:nvSpPr>
        <p:spPr>
          <a:xfrm>
            <a:off x="4206240" y="4919472"/>
            <a:ext cx="2194560" cy="320040"/>
          </a:xfrm>
          <a:prstGeom prst="rect">
            <a:avLst/>
          </a:prstGeom>
          <a:noFill/>
          <a:ln/>
        </p:spPr>
        <p:txBody>
          <a:bodyPr wrap="square" lIns="0" tIns="0" rIns="0" bIns="0" rtlCol="0" anchor="ctr"/>
          <a:lstStyle/>
          <a:p>
            <a:pPr algn="ctr" indent="0" marL="0">
              <a:buNone/>
            </a:pPr>
            <a:r>
              <a:rPr lang="en-US" sz="1200" dirty="0">
                <a:solidFill>
                  <a:srgbClr val="12202E"/>
                </a:solidFill>
                <a:latin typeface="Calibri" pitchFamily="34" charset="0"/>
                <a:ea typeface="Calibri" pitchFamily="34" charset="-122"/>
                <a:cs typeface="Calibri" pitchFamily="34" charset="-120"/>
              </a:rPr>
              <a:t>11.2%</a:t>
            </a:r>
            <a:endParaRPr lang="en-US" sz="1200" dirty="0"/>
          </a:p>
        </p:txBody>
      </p:sp>
      <p:sp>
        <p:nvSpPr>
          <p:cNvPr id="28" name="Shape 25"/>
          <p:cNvSpPr/>
          <p:nvPr/>
        </p:nvSpPr>
        <p:spPr>
          <a:xfrm>
            <a:off x="6400800" y="4572000"/>
            <a:ext cx="2651760" cy="685800"/>
          </a:xfrm>
          <a:prstGeom prst="rect">
            <a:avLst/>
          </a:prstGeom>
          <a:solidFill>
            <a:srgbClr val="2EC4B6"/>
          </a:solidFill>
          <a:ln w="19050">
            <a:solidFill>
              <a:srgbClr val="FFFFFF"/>
            </a:solidFill>
            <a:prstDash val="solid"/>
          </a:ln>
        </p:spPr>
      </p:sp>
      <p:sp>
        <p:nvSpPr>
          <p:cNvPr id="29" name="Text 26"/>
          <p:cNvSpPr txBox="1"/>
          <p:nvPr/>
        </p:nvSpPr>
        <p:spPr>
          <a:xfrm>
            <a:off x="6400800" y="4572000"/>
            <a:ext cx="26517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Good 80–94</a:t>
            </a:r>
            <a:endParaRPr lang="en-US" sz="1200" dirty="0"/>
          </a:p>
        </p:txBody>
      </p:sp>
      <p:sp>
        <p:nvSpPr>
          <p:cNvPr id="30" name="Text 27"/>
          <p:cNvSpPr txBox="1"/>
          <p:nvPr/>
        </p:nvSpPr>
        <p:spPr>
          <a:xfrm>
            <a:off x="6400800" y="4919472"/>
            <a:ext cx="2651760" cy="3200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36.6%</a:t>
            </a:r>
            <a:endParaRPr lang="en-US" sz="1200" dirty="0"/>
          </a:p>
        </p:txBody>
      </p:sp>
      <p:sp>
        <p:nvSpPr>
          <p:cNvPr id="31" name="Shape 28"/>
          <p:cNvSpPr/>
          <p:nvPr/>
        </p:nvSpPr>
        <p:spPr>
          <a:xfrm>
            <a:off x="9052560" y="4572000"/>
            <a:ext cx="2587752" cy="685800"/>
          </a:xfrm>
          <a:prstGeom prst="rect">
            <a:avLst/>
          </a:prstGeom>
          <a:solidFill>
            <a:srgbClr val="0E7C86"/>
          </a:solidFill>
          <a:ln w="19050">
            <a:solidFill>
              <a:srgbClr val="FFFFFF"/>
            </a:solidFill>
            <a:prstDash val="solid"/>
          </a:ln>
        </p:spPr>
      </p:sp>
      <p:sp>
        <p:nvSpPr>
          <p:cNvPr id="32" name="Text 29"/>
          <p:cNvSpPr txBox="1"/>
          <p:nvPr/>
        </p:nvSpPr>
        <p:spPr>
          <a:xfrm>
            <a:off x="9052560" y="4572000"/>
            <a:ext cx="258775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Excellent 95–100</a:t>
            </a:r>
            <a:endParaRPr lang="en-US" sz="1200" dirty="0"/>
          </a:p>
        </p:txBody>
      </p:sp>
      <p:sp>
        <p:nvSpPr>
          <p:cNvPr id="33" name="Text 30"/>
          <p:cNvSpPr txBox="1"/>
          <p:nvPr/>
        </p:nvSpPr>
        <p:spPr>
          <a:xfrm>
            <a:off x="9052560" y="4919472"/>
            <a:ext cx="2587752" cy="3200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36.1%</a:t>
            </a:r>
            <a:endParaRPr lang="en-US" sz="1200" dirty="0"/>
          </a:p>
        </p:txBody>
      </p:sp>
      <p:sp>
        <p:nvSpPr>
          <p:cNvPr id="34" name="Text 31"/>
          <p:cNvSpPr txBox="1"/>
          <p:nvPr/>
        </p:nvSpPr>
        <p:spPr>
          <a:xfrm>
            <a:off x="548640" y="5486400"/>
            <a:ext cx="1106424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Index in the data: mean ≈ 85, median 90.6, bounded 0–100, strongly left-skewed. Shares from repo graph 11 (EDA).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0E7C86"/>
                </a:solidFill>
                <a:latin typeface="Calibri" pitchFamily="34" charset="0"/>
                <a:ea typeface="Calibri" pitchFamily="34" charset="-122"/>
                <a:cs typeface="Calibri" pitchFamily="34" charset="-120"/>
              </a:rPr>
              <a:t>DATASET SCALE AND COMPOSITION</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0B1F33"/>
                </a:solidFill>
                <a:latin typeface="Cambria" pitchFamily="34" charset="0"/>
                <a:ea typeface="Cambria" pitchFamily="34" charset="-122"/>
                <a:cs typeface="Cambria" pitchFamily="34" charset="-120"/>
              </a:rPr>
              <a:t>2.82 million observations, but 75% of them come from England</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4</a:t>
            </a:r>
            <a:endParaRPr lang="en-US" sz="1000" dirty="0"/>
          </a:p>
        </p:txBody>
      </p:sp>
      <p:sp>
        <p:nvSpPr>
          <p:cNvPr id="7" name="Text 4"/>
          <p:cNvSpPr txBox="1"/>
          <p:nvPr/>
        </p:nvSpPr>
        <p:spPr>
          <a:xfrm>
            <a:off x="548640" y="1691640"/>
            <a:ext cx="2103120" cy="640080"/>
          </a:xfrm>
          <a:prstGeom prst="rect">
            <a:avLst/>
          </a:prstGeom>
          <a:noFill/>
          <a:ln/>
        </p:spPr>
        <p:txBody>
          <a:bodyPr wrap="square" lIns="0" tIns="0" rIns="0" bIns="0" rtlCol="0" anchor="t"/>
          <a:lstStyle/>
          <a:p>
            <a:pPr indent="0" marL="0">
              <a:buNone/>
            </a:pPr>
            <a:r>
              <a:rPr lang="en-US" sz="2800" b="1" dirty="0">
                <a:solidFill>
                  <a:srgbClr val="0B1F33"/>
                </a:solidFill>
                <a:latin typeface="Cambria" pitchFamily="34" charset="0"/>
                <a:ea typeface="Cambria" pitchFamily="34" charset="-122"/>
                <a:cs typeface="Cambria" pitchFamily="34" charset="-120"/>
              </a:rPr>
              <a:t>2,827,977</a:t>
            </a:r>
            <a:endParaRPr lang="en-US" sz="2800" dirty="0"/>
          </a:p>
        </p:txBody>
      </p:sp>
      <p:sp>
        <p:nvSpPr>
          <p:cNvPr id="8" name="Text 5"/>
          <p:cNvSpPr txBox="1"/>
          <p:nvPr/>
        </p:nvSpPr>
        <p:spPr>
          <a:xfrm>
            <a:off x="548640" y="2350008"/>
            <a:ext cx="2103120" cy="45720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raw records</a:t>
            </a:r>
            <a:endParaRPr lang="en-US" sz="1200" dirty="0"/>
          </a:p>
        </p:txBody>
      </p:sp>
      <p:sp>
        <p:nvSpPr>
          <p:cNvPr id="9" name="Text 6"/>
          <p:cNvSpPr txBox="1"/>
          <p:nvPr/>
        </p:nvSpPr>
        <p:spPr>
          <a:xfrm>
            <a:off x="2788920" y="1691640"/>
            <a:ext cx="2103120" cy="640080"/>
          </a:xfrm>
          <a:prstGeom prst="rect">
            <a:avLst/>
          </a:prstGeom>
          <a:noFill/>
          <a:ln/>
        </p:spPr>
        <p:txBody>
          <a:bodyPr wrap="square" lIns="0" tIns="0" rIns="0" bIns="0" rtlCol="0" anchor="t"/>
          <a:lstStyle/>
          <a:p>
            <a:pPr indent="0" marL="0">
              <a:buNone/>
            </a:pPr>
            <a:r>
              <a:rPr lang="en-US" sz="2800" b="1" dirty="0">
                <a:solidFill>
                  <a:srgbClr val="0E7C86"/>
                </a:solidFill>
                <a:latin typeface="Cambria" pitchFamily="34" charset="0"/>
                <a:ea typeface="Cambria" pitchFamily="34" charset="-122"/>
                <a:cs typeface="Cambria" pitchFamily="34" charset="-120"/>
              </a:rPr>
              <a:t>2,819,617</a:t>
            </a:r>
            <a:endParaRPr lang="en-US" sz="2800" dirty="0"/>
          </a:p>
        </p:txBody>
      </p:sp>
      <p:sp>
        <p:nvSpPr>
          <p:cNvPr id="10" name="Text 7"/>
          <p:cNvSpPr txBox="1"/>
          <p:nvPr/>
        </p:nvSpPr>
        <p:spPr>
          <a:xfrm>
            <a:off x="2788920" y="2350008"/>
            <a:ext cx="2103120" cy="45720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clean records</a:t>
            </a:r>
            <a:endParaRPr lang="en-US" sz="1200" dirty="0"/>
          </a:p>
        </p:txBody>
      </p:sp>
      <p:sp>
        <p:nvSpPr>
          <p:cNvPr id="11" name="Text 8"/>
          <p:cNvSpPr txBox="1"/>
          <p:nvPr/>
        </p:nvSpPr>
        <p:spPr>
          <a:xfrm>
            <a:off x="5029200" y="1691640"/>
            <a:ext cx="2103120" cy="640080"/>
          </a:xfrm>
          <a:prstGeom prst="rect">
            <a:avLst/>
          </a:prstGeom>
          <a:noFill/>
          <a:ln/>
        </p:spPr>
        <p:txBody>
          <a:bodyPr wrap="square" lIns="0" tIns="0" rIns="0" bIns="0" rtlCol="0" anchor="t"/>
          <a:lstStyle/>
          <a:p>
            <a:pPr indent="0" marL="0">
              <a:buNone/>
            </a:pPr>
            <a:r>
              <a:rPr lang="en-US" sz="2800" b="1" dirty="0">
                <a:solidFill>
                  <a:srgbClr val="0B1F33"/>
                </a:solidFill>
                <a:latin typeface="Cambria" pitchFamily="34" charset="0"/>
                <a:ea typeface="Cambria" pitchFamily="34" charset="-122"/>
                <a:cs typeface="Cambria" pitchFamily="34" charset="-120"/>
              </a:rPr>
              <a:t>5</a:t>
            </a:r>
            <a:endParaRPr lang="en-US" sz="2800" dirty="0"/>
          </a:p>
        </p:txBody>
      </p:sp>
      <p:sp>
        <p:nvSpPr>
          <p:cNvPr id="12" name="Text 9"/>
          <p:cNvSpPr txBox="1"/>
          <p:nvPr/>
        </p:nvSpPr>
        <p:spPr>
          <a:xfrm>
            <a:off x="5029200" y="2350008"/>
            <a:ext cx="2103120" cy="45720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countries</a:t>
            </a:r>
            <a:endParaRPr lang="en-US" sz="1200" dirty="0"/>
          </a:p>
        </p:txBody>
      </p:sp>
      <p:sp>
        <p:nvSpPr>
          <p:cNvPr id="13" name="Text 10"/>
          <p:cNvSpPr txBox="1"/>
          <p:nvPr/>
        </p:nvSpPr>
        <p:spPr>
          <a:xfrm>
            <a:off x="7269480" y="1691640"/>
            <a:ext cx="2103120" cy="640080"/>
          </a:xfrm>
          <a:prstGeom prst="rect">
            <a:avLst/>
          </a:prstGeom>
          <a:noFill/>
          <a:ln/>
        </p:spPr>
        <p:txBody>
          <a:bodyPr wrap="square" lIns="0" tIns="0" rIns="0" bIns="0" rtlCol="0" anchor="t"/>
          <a:lstStyle/>
          <a:p>
            <a:pPr indent="0" marL="0">
              <a:buNone/>
            </a:pPr>
            <a:r>
              <a:rPr lang="en-US" sz="2800" b="1" dirty="0">
                <a:solidFill>
                  <a:srgbClr val="0B1F33"/>
                </a:solidFill>
                <a:latin typeface="Cambria" pitchFamily="34" charset="0"/>
                <a:ea typeface="Cambria" pitchFamily="34" charset="-122"/>
                <a:cs typeface="Cambria" pitchFamily="34" charset="-120"/>
              </a:rPr>
              <a:t>1940–2023</a:t>
            </a:r>
            <a:endParaRPr lang="en-US" sz="2800" dirty="0"/>
          </a:p>
        </p:txBody>
      </p:sp>
      <p:sp>
        <p:nvSpPr>
          <p:cNvPr id="14" name="Text 11"/>
          <p:cNvSpPr txBox="1"/>
          <p:nvPr/>
        </p:nvSpPr>
        <p:spPr>
          <a:xfrm>
            <a:off x="7269480" y="2350008"/>
            <a:ext cx="2103120" cy="45720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83 years</a:t>
            </a:r>
            <a:endParaRPr lang="en-US" sz="1200" dirty="0"/>
          </a:p>
        </p:txBody>
      </p:sp>
      <p:sp>
        <p:nvSpPr>
          <p:cNvPr id="15" name="Text 12"/>
          <p:cNvSpPr txBox="1"/>
          <p:nvPr/>
        </p:nvSpPr>
        <p:spPr>
          <a:xfrm>
            <a:off x="9509760" y="1691640"/>
            <a:ext cx="2103120" cy="640080"/>
          </a:xfrm>
          <a:prstGeom prst="rect">
            <a:avLst/>
          </a:prstGeom>
          <a:noFill/>
          <a:ln/>
        </p:spPr>
        <p:txBody>
          <a:bodyPr wrap="square" lIns="0" tIns="0" rIns="0" bIns="0" rtlCol="0" anchor="t"/>
          <a:lstStyle/>
          <a:p>
            <a:pPr indent="0" marL="0">
              <a:buNone/>
            </a:pPr>
            <a:r>
              <a:rPr lang="en-US" sz="2800" b="1" dirty="0">
                <a:solidFill>
                  <a:srgbClr val="0B1F33"/>
                </a:solidFill>
                <a:latin typeface="Cambria" pitchFamily="34" charset="0"/>
                <a:ea typeface="Cambria" pitchFamily="34" charset="-122"/>
                <a:cs typeface="Cambria" pitchFamily="34" charset="-120"/>
              </a:rPr>
              <a:t>38</a:t>
            </a:r>
            <a:endParaRPr lang="en-US" sz="2800" dirty="0"/>
          </a:p>
        </p:txBody>
      </p:sp>
      <p:sp>
        <p:nvSpPr>
          <p:cNvPr id="16" name="Text 13"/>
          <p:cNvSpPr txBox="1"/>
          <p:nvPr/>
        </p:nvSpPr>
        <p:spPr>
          <a:xfrm>
            <a:off x="9509760" y="2350008"/>
            <a:ext cx="2103120" cy="45720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model input features</a:t>
            </a:r>
            <a:endParaRPr lang="en-US" sz="1200" dirty="0"/>
          </a:p>
        </p:txBody>
      </p:sp>
      <p:graphicFrame>
        <p:nvGraphicFramePr>
          <p:cNvPr id="17" name="Chart 0" descr=""/>
          <p:cNvGraphicFramePr/>
          <p:nvPr/>
        </p:nvGraphicFramePr>
        <p:xfrm>
          <a:off x="548640" y="2926080"/>
          <a:ext cx="5394960" cy="3291840"/>
        </p:xfrm>
        <a:graphic xmlns:a="http://schemas.openxmlformats.org/drawingml/2006/main">
          <a:graphicData uri="http://schemas.openxmlformats.org/drawingml/2006/chart">
            <c:chart xmlns:c="http://schemas.openxmlformats.org/drawingml/2006/chart" r:id="rId1"/>
          </a:graphicData>
        </a:graphic>
      </p:graphicFrame>
      <p:pic>
        <p:nvPicPr>
          <p:cNvPr id="18" name="Image 0" descr="/home/claude/w/img2/03_EDA_temporal_coverage_1940_2023.png">    </p:cNvPr>
          <p:cNvPicPr>
            <a:picLocks noChangeAspect="1"/>
          </p:cNvPicPr>
          <p:nvPr/>
        </p:nvPicPr>
        <p:blipFill>
          <a:blip r:embed="rId2"/>
          <a:stretch>
            <a:fillRect/>
          </a:stretch>
        </p:blipFill>
        <p:spPr>
          <a:xfrm>
            <a:off x="6263640" y="2834640"/>
            <a:ext cx="5394960" cy="3447288"/>
          </a:xfrm>
          <a:prstGeom prst="rect">
            <a:avLst/>
          </a:prstGeom>
        </p:spPr>
      </p:pic>
      <p:sp>
        <p:nvSpPr>
          <p:cNvPr id="19" name="Text 14"/>
          <p:cNvSpPr txBox="1"/>
          <p:nvPr/>
        </p:nvSpPr>
        <p:spPr>
          <a:xfrm>
            <a:off x="6263640" y="6291072"/>
            <a:ext cx="5394960" cy="182880"/>
          </a:xfrm>
          <a:prstGeom prst="rect">
            <a:avLst/>
          </a:prstGeom>
          <a:noFill/>
          <a:ln/>
        </p:spPr>
        <p:txBody>
          <a:bodyPr wrap="square" lIns="0" tIns="0" rIns="0" bIns="0" rtlCol="0" anchor="t"/>
          <a:lstStyle/>
          <a:p>
            <a:pPr indent="0" marL="0">
              <a:buNone/>
            </a:pPr>
            <a:r>
              <a:rPr lang="en-US" sz="1000" dirty="0">
                <a:solidFill>
                  <a:srgbClr val="5B6B7A"/>
                </a:solidFill>
                <a:latin typeface="Calibri" pitchFamily="34" charset="0"/>
                <a:ea typeface="Calibri" pitchFamily="34" charset="-122"/>
                <a:cs typeface="Calibri" pitchFamily="34" charset="-120"/>
              </a:rPr>
              <a:t>Records per year (repo graph 03): coverage is sparse before ≈2000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0E7C86"/>
                </a:solidFill>
                <a:latin typeface="Calibri" pitchFamily="34" charset="0"/>
                <a:ea typeface="Calibri" pitchFamily="34" charset="-122"/>
                <a:cs typeface="Calibri" pitchFamily="34" charset="-120"/>
              </a:rPr>
              <a:t>DATA AUDIT AND PHYSICAL-BOUND SCREENING</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0B1F33"/>
                </a:solidFill>
                <a:latin typeface="Cambria" pitchFamily="34" charset="0"/>
                <a:ea typeface="Cambria" pitchFamily="34" charset="-122"/>
                <a:cs typeface="Cambria" pitchFamily="34" charset="-120"/>
              </a:rPr>
              <a:t>8,360 impossible readings removed; zero nulls in the file, but one completeness question</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783080"/>
            <a:ext cx="4206240" cy="566928"/>
          </a:xfrm>
          <a:prstGeom prst="rect">
            <a:avLst/>
          </a:prstGeom>
          <a:solidFill>
            <a:srgbClr val="0B1F33"/>
          </a:solidFill>
          <a:ln w="12700">
            <a:solidFill>
              <a:srgbClr val="0B1F33"/>
            </a:solidFill>
            <a:prstDash val="solid"/>
          </a:ln>
        </p:spPr>
      </p:sp>
      <p:sp>
        <p:nvSpPr>
          <p:cNvPr id="8" name="Text 5"/>
          <p:cNvSpPr txBox="1"/>
          <p:nvPr/>
        </p:nvSpPr>
        <p:spPr>
          <a:xfrm>
            <a:off x="548640" y="2368296"/>
            <a:ext cx="4572000" cy="256032"/>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Raw records</a:t>
            </a:r>
            <a:endParaRPr lang="en-US" sz="1200" dirty="0"/>
          </a:p>
        </p:txBody>
      </p:sp>
      <p:sp>
        <p:nvSpPr>
          <p:cNvPr id="9" name="Text 6"/>
          <p:cNvSpPr txBox="1"/>
          <p:nvPr/>
        </p:nvSpPr>
        <p:spPr>
          <a:xfrm>
            <a:off x="4937760" y="1783080"/>
            <a:ext cx="2377440" cy="566928"/>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2,827,977</a:t>
            </a:r>
            <a:endParaRPr lang="en-US" sz="1600" dirty="0"/>
          </a:p>
        </p:txBody>
      </p:sp>
      <p:sp>
        <p:nvSpPr>
          <p:cNvPr id="10" name="Shape 7"/>
          <p:cNvSpPr/>
          <p:nvPr/>
        </p:nvSpPr>
        <p:spPr>
          <a:xfrm>
            <a:off x="548640" y="2651760"/>
            <a:ext cx="274320" cy="566928"/>
          </a:xfrm>
          <a:prstGeom prst="rect">
            <a:avLst/>
          </a:prstGeom>
          <a:solidFill>
            <a:srgbClr val="B5483A"/>
          </a:solidFill>
          <a:ln w="12700">
            <a:solidFill>
              <a:srgbClr val="B5483A"/>
            </a:solidFill>
            <a:prstDash val="solid"/>
          </a:ln>
        </p:spPr>
      </p:sp>
      <p:sp>
        <p:nvSpPr>
          <p:cNvPr id="11" name="Text 8"/>
          <p:cNvSpPr txBox="1"/>
          <p:nvPr/>
        </p:nvSpPr>
        <p:spPr>
          <a:xfrm>
            <a:off x="548640" y="3236976"/>
            <a:ext cx="4572000" cy="256032"/>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Removed by physical bounds</a:t>
            </a:r>
            <a:endParaRPr lang="en-US" sz="1200" dirty="0"/>
          </a:p>
        </p:txBody>
      </p:sp>
      <p:sp>
        <p:nvSpPr>
          <p:cNvPr id="12" name="Text 9"/>
          <p:cNvSpPr txBox="1"/>
          <p:nvPr/>
        </p:nvSpPr>
        <p:spPr>
          <a:xfrm>
            <a:off x="1005840" y="2651760"/>
            <a:ext cx="2377440" cy="566928"/>
          </a:xfrm>
          <a:prstGeom prst="rect">
            <a:avLst/>
          </a:prstGeom>
          <a:noFill/>
          <a:ln/>
        </p:spPr>
        <p:txBody>
          <a:bodyPr wrap="square" lIns="0" tIns="0" rIns="0" bIns="0" rtlCol="0" anchor="ctr"/>
          <a:lstStyle/>
          <a:p>
            <a:pPr indent="0" marL="0">
              <a:buNone/>
            </a:pPr>
            <a:r>
              <a:rPr lang="en-US" sz="1600" b="1" dirty="0">
                <a:solidFill>
                  <a:srgbClr val="B5483A"/>
                </a:solidFill>
                <a:latin typeface="Calibri" pitchFamily="34" charset="0"/>
                <a:ea typeface="Calibri" pitchFamily="34" charset="-122"/>
                <a:cs typeface="Calibri" pitchFamily="34" charset="-120"/>
              </a:rPr>
              <a:t>−8,360 (0.296%)</a:t>
            </a:r>
            <a:endParaRPr lang="en-US" sz="1600" dirty="0"/>
          </a:p>
        </p:txBody>
      </p:sp>
      <p:sp>
        <p:nvSpPr>
          <p:cNvPr id="13" name="Shape 10"/>
          <p:cNvSpPr/>
          <p:nvPr/>
        </p:nvSpPr>
        <p:spPr>
          <a:xfrm>
            <a:off x="548640" y="3520440"/>
            <a:ext cx="4160520" cy="566928"/>
          </a:xfrm>
          <a:prstGeom prst="rect">
            <a:avLst/>
          </a:prstGeom>
          <a:solidFill>
            <a:srgbClr val="0E7C86"/>
          </a:solidFill>
          <a:ln w="12700">
            <a:solidFill>
              <a:srgbClr val="0E7C86"/>
            </a:solidFill>
            <a:prstDash val="solid"/>
          </a:ln>
        </p:spPr>
      </p:sp>
      <p:sp>
        <p:nvSpPr>
          <p:cNvPr id="14" name="Text 11"/>
          <p:cNvSpPr txBox="1"/>
          <p:nvPr/>
        </p:nvSpPr>
        <p:spPr>
          <a:xfrm>
            <a:off x="548640" y="4105656"/>
            <a:ext cx="4572000" cy="256032"/>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Clean records</a:t>
            </a:r>
            <a:endParaRPr lang="en-US" sz="1200" dirty="0"/>
          </a:p>
        </p:txBody>
      </p:sp>
      <p:sp>
        <p:nvSpPr>
          <p:cNvPr id="15" name="Text 12"/>
          <p:cNvSpPr txBox="1"/>
          <p:nvPr/>
        </p:nvSpPr>
        <p:spPr>
          <a:xfrm>
            <a:off x="4892040" y="3520440"/>
            <a:ext cx="2377440" cy="566928"/>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2,819,617 (99.704%)</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589520" y="1783080"/>
          <a:ext cx="4050792" cy="914400"/>
        </p:xfrm>
        <a:graphic>
          <a:graphicData uri="http://schemas.openxmlformats.org/drawingml/2006/table">
            <a:tbl>
              <a:tblPr/>
              <a:tblGrid>
                <a:gridCol w="1828800"/>
                <a:gridCol w="1170432"/>
                <a:gridCol w="10515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Valid range</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Violations</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0B1F33"/>
                    </a:solidFill>
                  </a:tcPr>
                </a:tc>
              </a:tr>
              <a:tr h="384048">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pH</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3.0 – 12.0</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1,581</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Temperature (°C)</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4F8FA"/>
                    </a:solidFill>
                  </a:tcPr>
                </a:tc>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0 – 45</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4F8FA"/>
                    </a:solidFill>
                  </a:tcPr>
                </a:tc>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6,850</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4F8FA"/>
                    </a:solidFill>
                  </a:tcPr>
                </a:tc>
              </a:tr>
              <a:tr h="384048">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Dissolved O₂ (mg/L)</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0 – 25</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Ammonia / BOD (mg/L)</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4F8FA"/>
                    </a:solidFill>
                  </a:tcPr>
                </a:tc>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 0</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4F8FA"/>
                    </a:solidFill>
                  </a:tcPr>
                </a:tc>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2 / 2</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4F8FA"/>
                    </a:solidFill>
                  </a:tcPr>
                </a:tc>
              </a:tr>
              <a:tr h="384048">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Orthophosphate (mg/L)</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 0</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Nitrogen / nitrate</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4F8FA"/>
                    </a:solidFill>
                  </a:tcPr>
                </a:tc>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 0</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4F8FA"/>
                    </a:solidFill>
                  </a:tcPr>
                </a:tc>
                <a:tc>
                  <a:txBody>
                    <a:bodyPr/>
                    <a:lstStyle/>
                    <a:p>
                      <a:pPr indent="0" marL="0">
                        <a:buNone/>
                      </a:pPr>
                      <a:r>
                        <a:rPr lang="en-US" sz="1300" dirty="0">
                          <a:solidFill>
                            <a:srgbClr val="12202E"/>
                          </a:solidFill>
                          <a:latin typeface="Calibri" pitchFamily="34" charset="0"/>
                          <a:ea typeface="Calibri" pitchFamily="34" charset="-122"/>
                          <a:cs typeface="Calibri" pitchFamily="34" charset="-120"/>
                        </a:rPr>
                        <a:t>0 / 0</a:t>
                      </a:r>
                      <a:endParaRPr lang="en-US" sz="13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4F8FA"/>
                    </a:solidFill>
                  </a:tcPr>
                </a:tc>
              </a:tr>
            </a:tbl>
          </a:graphicData>
        </a:graphic>
      </p:graphicFrame>
      <p:sp>
        <p:nvSpPr>
          <p:cNvPr id="17" name="Text 13"/>
          <p:cNvSpPr txBox="1"/>
          <p:nvPr/>
        </p:nvSpPr>
        <p:spPr>
          <a:xfrm>
            <a:off x="7589520" y="4572000"/>
            <a:ext cx="4050792" cy="5486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Counts overlap; 8,360 is the unique union of violating rows (executed EDA notebook).</a:t>
            </a:r>
            <a:endParaRPr lang="en-US" sz="1200" dirty="0"/>
          </a:p>
        </p:txBody>
      </p:sp>
      <p:sp>
        <p:nvSpPr>
          <p:cNvPr id="18" name="Shape 14"/>
          <p:cNvSpPr/>
          <p:nvPr/>
        </p:nvSpPr>
        <p:spPr>
          <a:xfrm>
            <a:off x="548640" y="4434840"/>
            <a:ext cx="6675120" cy="822960"/>
          </a:xfrm>
          <a:prstGeom prst="rect">
            <a:avLst/>
          </a:prstGeom>
          <a:solidFill>
            <a:srgbClr val="EAF4F6"/>
          </a:solidFill>
          <a:ln w="12700">
            <a:solidFill>
              <a:srgbClr val="EAF4F6"/>
            </a:solidFill>
            <a:prstDash val="solid"/>
          </a:ln>
        </p:spPr>
      </p:sp>
      <p:sp>
        <p:nvSpPr>
          <p:cNvPr id="19" name="Text 15"/>
          <p:cNvSpPr txBox="1"/>
          <p:nvPr/>
        </p:nvSpPr>
        <p:spPr>
          <a:xfrm>
            <a:off x="777240" y="4480560"/>
            <a:ext cx="6263640" cy="73152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Missing vs implausible. </a:t>
            </a:r>
            <a:pPr indent="0" marL="0">
              <a:buNone/>
            </a:pPr>
            <a:r>
              <a:rPr lang="en-US" sz="1300" dirty="0">
                <a:solidFill>
                  <a:srgbClr val="12202E"/>
                </a:solidFill>
                <a:latin typeface="Calibri" pitchFamily="34" charset="0"/>
                <a:ea typeface="Calibri" pitchFamily="34" charset="-122"/>
                <a:cs typeface="Calibri" pitchFamily="34" charset="-120"/>
              </a:rPr>
              <a:t>No imputation was applied in our pipeline; screening removes sensor artefacts (negative or out-of-range values), not gaps.</a:t>
            </a:r>
            <a:endParaRPr lang="en-US" sz="1300" dirty="0"/>
          </a:p>
        </p:txBody>
      </p:sp>
      <p:sp>
        <p:nvSpPr>
          <p:cNvPr id="20" name="Shape 16"/>
          <p:cNvSpPr/>
          <p:nvPr/>
        </p:nvSpPr>
        <p:spPr>
          <a:xfrm>
            <a:off x="548640" y="5440680"/>
            <a:ext cx="11091672" cy="777240"/>
          </a:xfrm>
          <a:prstGeom prst="rect">
            <a:avLst/>
          </a:prstGeom>
          <a:solidFill>
            <a:srgbClr val="FFF3DC"/>
          </a:solidFill>
          <a:ln w="12700">
            <a:solidFill>
              <a:srgbClr val="FFF3DC"/>
            </a:solidFill>
            <a:prstDash val="solid"/>
          </a:ln>
        </p:spPr>
      </p:sp>
      <p:sp>
        <p:nvSpPr>
          <p:cNvPr id="21" name="Text 17"/>
          <p:cNvSpPr txBox="1"/>
          <p:nvPr/>
        </p:nvSpPr>
        <p:spPr>
          <a:xfrm>
            <a:off x="777240" y="5440680"/>
            <a:ext cx="10698480" cy="777240"/>
          </a:xfrm>
          <a:prstGeom prst="rect">
            <a:avLst/>
          </a:prstGeom>
          <a:noFill/>
          <a:ln/>
        </p:spPr>
        <p:txBody>
          <a:bodyPr wrap="square" lIns="0" tIns="0" rIns="0" bIns="0" rtlCol="0" anchor="ctr"/>
          <a:lstStyle/>
          <a:p>
            <a:pPr indent="0" marL="0">
              <a:buNone/>
            </a:pPr>
            <a:r>
              <a:rPr lang="en-US" sz="1300" b="1" dirty="0">
                <a:solidFill>
                  <a:srgbClr val="D98A1F"/>
                </a:solidFill>
                <a:latin typeface="Calibri" pitchFamily="34" charset="0"/>
                <a:ea typeface="Calibri" pitchFamily="34" charset="-122"/>
                <a:cs typeface="Calibri" pitchFamily="34" charset="-120"/>
              </a:rPr>
              <a:t>Qualification  </a:t>
            </a:r>
            <a:pPr indent="0" marL="0">
              <a:buNone/>
            </a:pPr>
            <a:r>
              <a:rPr lang="en-US" sz="1300" dirty="0">
                <a:solidFill>
                  <a:srgbClr val="12202E"/>
                </a:solidFill>
                <a:latin typeface="Calibri" pitchFamily="34" charset="0"/>
                <a:ea typeface="Calibri" pitchFamily="34" charset="-122"/>
                <a:cs typeface="Calibri" pitchFamily="34" charset="-120"/>
              </a:rPr>
              <a:t>“0 nulls” describes the delivered file. Values cluster (BOD median 2.70, Q3 2.83) and repo graph 17 (earlier version) showed 26–34% missing, so upstream filling is possible and unverified.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0E7C86"/>
                </a:solidFill>
                <a:latin typeface="Calibri" pitchFamily="34" charset="0"/>
                <a:ea typeface="Calibri" pitchFamily="34" charset="-122"/>
                <a:cs typeface="Calibri" pitchFamily="34" charset="-120"/>
              </a:rPr>
              <a:t>EXPLORATORY FINDINGS</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0B1F33"/>
                </a:solidFill>
                <a:latin typeface="Cambria" pitchFamily="34" charset="0"/>
                <a:ea typeface="Cambria" pitchFamily="34" charset="-122"/>
                <a:cs typeface="Cambria" pitchFamily="34" charset="-120"/>
              </a:rPr>
              <a:t>Oxygen follows temperature; nutrients are heavily skewed, and log(1+x) straightens them</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6</a:t>
            </a:r>
            <a:endParaRPr lang="en-US" sz="1000" dirty="0"/>
          </a:p>
        </p:txBody>
      </p:sp>
      <p:pic>
        <p:nvPicPr>
          <p:cNvPr id="7" name="Image 0" descr="/home/claude/w/img2/07_EDA_do_temperature_saturation.png">    </p:cNvPr>
          <p:cNvPicPr>
            <a:picLocks noChangeAspect="1"/>
          </p:cNvPicPr>
          <p:nvPr/>
        </p:nvPicPr>
        <p:blipFill>
          <a:blip r:embed="rId1"/>
          <a:stretch>
            <a:fillRect/>
          </a:stretch>
        </p:blipFill>
        <p:spPr>
          <a:xfrm>
            <a:off x="548640" y="1737360"/>
            <a:ext cx="5394960" cy="3364992"/>
          </a:xfrm>
          <a:prstGeom prst="rect">
            <a:avLst/>
          </a:prstGeom>
        </p:spPr>
      </p:pic>
      <p:sp>
        <p:nvSpPr>
          <p:cNvPr id="8" name="Text 4"/>
          <p:cNvSpPr txBox="1"/>
          <p:nvPr/>
        </p:nvSpPr>
        <p:spPr>
          <a:xfrm>
            <a:off x="548640" y="5166360"/>
            <a:ext cx="5394960" cy="45720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DO vs temperature (80k sample) with Benson–Krause saturation curves. Source: repository graphs/ folder (graph 07).</a:t>
            </a:r>
            <a:endParaRPr lang="en-US" sz="1200" dirty="0"/>
          </a:p>
        </p:txBody>
      </p:sp>
      <p:graphicFrame>
        <p:nvGraphicFramePr>
          <p:cNvPr id="9" name="Chart 0" descr=""/>
          <p:cNvGraphicFramePr/>
          <p:nvPr/>
        </p:nvGraphicFramePr>
        <p:xfrm>
          <a:off x="6217920" y="1691640"/>
          <a:ext cx="5422392" cy="3429000"/>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548640" y="5669280"/>
            <a:ext cx="11091672" cy="594360"/>
          </a:xfrm>
          <a:prstGeom prst="rect">
            <a:avLst/>
          </a:prstGeom>
          <a:solidFill>
            <a:srgbClr val="FFF3DC"/>
          </a:solidFill>
          <a:ln w="12700">
            <a:solidFill>
              <a:srgbClr val="FFF3DC"/>
            </a:solidFill>
            <a:prstDash val="solid"/>
          </a:ln>
        </p:spPr>
      </p:sp>
      <p:sp>
        <p:nvSpPr>
          <p:cNvPr id="11" name="Text 6"/>
          <p:cNvSpPr txBox="1"/>
          <p:nvPr/>
        </p:nvSpPr>
        <p:spPr>
          <a:xfrm>
            <a:off x="777240" y="5669280"/>
            <a:ext cx="10698480" cy="594360"/>
          </a:xfrm>
          <a:prstGeom prst="rect">
            <a:avLst/>
          </a:prstGeom>
          <a:noFill/>
          <a:ln/>
        </p:spPr>
        <p:txBody>
          <a:bodyPr wrap="square" lIns="0" tIns="0" rIns="0" bIns="0" rtlCol="0" anchor="ctr"/>
          <a:lstStyle/>
          <a:p>
            <a:pPr indent="0" marL="0">
              <a:buNone/>
            </a:pPr>
            <a:r>
              <a:rPr lang="en-US" sz="1300" b="1" dirty="0">
                <a:solidFill>
                  <a:srgbClr val="D98A1F"/>
                </a:solidFill>
                <a:latin typeface="Calibri" pitchFamily="34" charset="0"/>
                <a:ea typeface="Calibri" pitchFamily="34" charset="-122"/>
                <a:cs typeface="Calibri" pitchFamily="34" charset="-120"/>
              </a:rPr>
              <a:t>Qualification  </a:t>
            </a:r>
            <a:pPr indent="0" marL="0">
              <a:buNone/>
            </a:pPr>
            <a:r>
              <a:rPr lang="en-US" sz="1300" dirty="0">
                <a:solidFill>
                  <a:srgbClr val="12202E"/>
                </a:solidFill>
                <a:latin typeface="Calibri" pitchFamily="34" charset="0"/>
                <a:ea typeface="Calibri" pitchFamily="34" charset="-122"/>
                <a:cs typeface="Calibri" pitchFamily="34" charset="-120"/>
              </a:rPr>
              <a:t>A better Pearson r is not better prediction. Orthophosphate’s Spearman ρ is −0.917 both raw and log(1+x): monotone transforms leave rank correlation, and tree splits, unchanged.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0E7C86"/>
                </a:solidFill>
                <a:latin typeface="Calibri" pitchFamily="34" charset="0"/>
                <a:ea typeface="Calibri" pitchFamily="34" charset="-122"/>
                <a:cs typeface="Calibri" pitchFamily="34" charset="-120"/>
              </a:rPr>
              <a:t>DOMAIN-INFORMED FEATURE ENGINEERING</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0B1F33"/>
                </a:solidFill>
                <a:latin typeface="Cambria" pitchFamily="34" charset="0"/>
                <a:ea typeface="Cambria" pitchFamily="34" charset="-122"/>
                <a:cs typeface="Cambria" pitchFamily="34" charset="-120"/>
              </a:rPr>
              <a:t>Eight measurements become 38 features, grouped by the chemistry they encode</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783080"/>
            <a:ext cx="2651760" cy="1920240"/>
          </a:xfrm>
          <a:prstGeom prst="rect">
            <a:avLst/>
          </a:prstGeom>
          <a:solidFill>
            <a:srgbClr val="F4F8FA"/>
          </a:solidFill>
          <a:ln w="12700">
            <a:solidFill>
              <a:srgbClr val="F4F8FA"/>
            </a:solidFill>
            <a:prstDash val="solid"/>
          </a:ln>
        </p:spPr>
      </p:sp>
      <p:sp>
        <p:nvSpPr>
          <p:cNvPr id="8" name="Text 5"/>
          <p:cNvSpPr txBox="1"/>
          <p:nvPr/>
        </p:nvSpPr>
        <p:spPr>
          <a:xfrm>
            <a:off x="731520" y="1892808"/>
            <a:ext cx="914400" cy="548640"/>
          </a:xfrm>
          <a:prstGeom prst="rect">
            <a:avLst/>
          </a:prstGeom>
          <a:noFill/>
          <a:ln/>
        </p:spPr>
        <p:txBody>
          <a:bodyPr wrap="square" lIns="0" tIns="0" rIns="0" bIns="0" rtlCol="0" anchor="t"/>
          <a:lstStyle/>
          <a:p>
            <a:pPr indent="0" marL="0">
              <a:buNone/>
            </a:pPr>
            <a:r>
              <a:rPr lang="en-US" sz="3200" b="1" dirty="0">
                <a:solidFill>
                  <a:srgbClr val="0E7C86"/>
                </a:solidFill>
                <a:latin typeface="Cambria" pitchFamily="34" charset="0"/>
                <a:ea typeface="Cambria" pitchFamily="34" charset="-122"/>
                <a:cs typeface="Cambria" pitchFamily="34" charset="-120"/>
              </a:rPr>
              <a:t>8</a:t>
            </a:r>
            <a:endParaRPr lang="en-US" sz="3200" dirty="0"/>
          </a:p>
        </p:txBody>
      </p:sp>
      <p:sp>
        <p:nvSpPr>
          <p:cNvPr id="9" name="Text 6"/>
          <p:cNvSpPr txBox="1"/>
          <p:nvPr/>
        </p:nvSpPr>
        <p:spPr>
          <a:xfrm>
            <a:off x="731520" y="2468880"/>
            <a:ext cx="233172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Base sensors</a:t>
            </a:r>
            <a:endParaRPr lang="en-US" sz="1500" dirty="0"/>
          </a:p>
        </p:txBody>
      </p:sp>
      <p:sp>
        <p:nvSpPr>
          <p:cNvPr id="10" name="Text 7"/>
          <p:cNvSpPr txBox="1"/>
          <p:nvPr/>
        </p:nvSpPr>
        <p:spPr>
          <a:xfrm>
            <a:off x="731520" y="2788920"/>
            <a:ext cx="2331720" cy="868680"/>
          </a:xfrm>
          <a:prstGeom prst="rect">
            <a:avLst/>
          </a:prstGeom>
          <a:noFill/>
          <a:ln/>
        </p:spPr>
        <p:txBody>
          <a:bodyPr wrap="square" lIns="0" tIns="0" rIns="0" bIns="0" rtlCol="0" anchor="t"/>
          <a:lstStyle/>
          <a:p>
            <a:pPr indent="0" marL="0">
              <a:buNone/>
            </a:pPr>
            <a:r>
              <a:rPr lang="en-US" sz="1200" dirty="0">
                <a:solidFill>
                  <a:srgbClr val="12202E"/>
                </a:solidFill>
                <a:latin typeface="Calibri" pitchFamily="34" charset="0"/>
                <a:ea typeface="Calibri" pitchFamily="34" charset="-122"/>
                <a:cs typeface="Calibri" pitchFamily="34" charset="-120"/>
              </a:rPr>
              <a:t>pH, temperature, DO, BOD, ammonia, orthophosphate, nitrogen, nitrate</a:t>
            </a:r>
            <a:endParaRPr lang="en-US" sz="1200" dirty="0"/>
          </a:p>
        </p:txBody>
      </p:sp>
      <p:sp>
        <p:nvSpPr>
          <p:cNvPr id="11" name="Shape 8"/>
          <p:cNvSpPr/>
          <p:nvPr/>
        </p:nvSpPr>
        <p:spPr>
          <a:xfrm>
            <a:off x="3355848" y="1783080"/>
            <a:ext cx="2651760" cy="1920240"/>
          </a:xfrm>
          <a:prstGeom prst="rect">
            <a:avLst/>
          </a:prstGeom>
          <a:solidFill>
            <a:srgbClr val="F4F8FA"/>
          </a:solidFill>
          <a:ln w="12700">
            <a:solidFill>
              <a:srgbClr val="F4F8FA"/>
            </a:solidFill>
            <a:prstDash val="solid"/>
          </a:ln>
        </p:spPr>
      </p:sp>
      <p:sp>
        <p:nvSpPr>
          <p:cNvPr id="12" name="Text 9"/>
          <p:cNvSpPr txBox="1"/>
          <p:nvPr/>
        </p:nvSpPr>
        <p:spPr>
          <a:xfrm>
            <a:off x="3538728" y="1892808"/>
            <a:ext cx="914400" cy="548640"/>
          </a:xfrm>
          <a:prstGeom prst="rect">
            <a:avLst/>
          </a:prstGeom>
          <a:noFill/>
          <a:ln/>
        </p:spPr>
        <p:txBody>
          <a:bodyPr wrap="square" lIns="0" tIns="0" rIns="0" bIns="0" rtlCol="0" anchor="t"/>
          <a:lstStyle/>
          <a:p>
            <a:pPr indent="0" marL="0">
              <a:buNone/>
            </a:pPr>
            <a:r>
              <a:rPr lang="en-US" sz="3200" b="1" dirty="0">
                <a:solidFill>
                  <a:srgbClr val="0E7C86"/>
                </a:solidFill>
                <a:latin typeface="Cambria" pitchFamily="34" charset="0"/>
                <a:ea typeface="Cambria" pitchFamily="34" charset="-122"/>
                <a:cs typeface="Cambria" pitchFamily="34" charset="-120"/>
              </a:rPr>
              <a:t>7</a:t>
            </a:r>
            <a:endParaRPr lang="en-US" sz="3200" dirty="0"/>
          </a:p>
        </p:txBody>
      </p:sp>
      <p:sp>
        <p:nvSpPr>
          <p:cNvPr id="13" name="Text 10"/>
          <p:cNvSpPr txBox="1"/>
          <p:nvPr/>
        </p:nvSpPr>
        <p:spPr>
          <a:xfrm>
            <a:off x="3538728" y="2468880"/>
            <a:ext cx="233172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Aquatic stoichiometry</a:t>
            </a:r>
            <a:endParaRPr lang="en-US" sz="1500" dirty="0"/>
          </a:p>
        </p:txBody>
      </p:sp>
      <p:sp>
        <p:nvSpPr>
          <p:cNvPr id="14" name="Text 11"/>
          <p:cNvSpPr txBox="1"/>
          <p:nvPr/>
        </p:nvSpPr>
        <p:spPr>
          <a:xfrm>
            <a:off x="3538728" y="2788920"/>
            <a:ext cx="2331720" cy="868680"/>
          </a:xfrm>
          <a:prstGeom prst="rect">
            <a:avLst/>
          </a:prstGeom>
          <a:noFill/>
          <a:ln/>
        </p:spPr>
        <p:txBody>
          <a:bodyPr wrap="square" lIns="0" tIns="0" rIns="0" bIns="0" rtlCol="0" anchor="t"/>
          <a:lstStyle/>
          <a:p>
            <a:pPr indent="0" marL="0">
              <a:buNone/>
            </a:pPr>
            <a:r>
              <a:rPr lang="en-US" sz="1200" dirty="0">
                <a:solidFill>
                  <a:srgbClr val="12202E"/>
                </a:solidFill>
                <a:latin typeface="Calibri" pitchFamily="34" charset="0"/>
                <a:ea typeface="Calibri" pitchFamily="34" charset="-122"/>
                <a:cs typeface="Calibri" pitchFamily="34" charset="-120"/>
              </a:rPr>
              <a:t>Benson–Krause DO deficit and % saturation, Redfield-style N:P, Emerson un-ionised NH₃, BOD:DO, pH deviation, nitrate share</a:t>
            </a:r>
            <a:endParaRPr lang="en-US" sz="1200" dirty="0"/>
          </a:p>
        </p:txBody>
      </p:sp>
      <p:sp>
        <p:nvSpPr>
          <p:cNvPr id="15" name="Shape 12"/>
          <p:cNvSpPr/>
          <p:nvPr/>
        </p:nvSpPr>
        <p:spPr>
          <a:xfrm>
            <a:off x="6163056" y="1783080"/>
            <a:ext cx="2651760" cy="1920240"/>
          </a:xfrm>
          <a:prstGeom prst="rect">
            <a:avLst/>
          </a:prstGeom>
          <a:solidFill>
            <a:srgbClr val="F4F8FA"/>
          </a:solidFill>
          <a:ln w="12700">
            <a:solidFill>
              <a:srgbClr val="F4F8FA"/>
            </a:solidFill>
            <a:prstDash val="solid"/>
          </a:ln>
        </p:spPr>
      </p:sp>
      <p:sp>
        <p:nvSpPr>
          <p:cNvPr id="16" name="Text 13"/>
          <p:cNvSpPr txBox="1"/>
          <p:nvPr/>
        </p:nvSpPr>
        <p:spPr>
          <a:xfrm>
            <a:off x="6345936" y="1892808"/>
            <a:ext cx="914400" cy="548640"/>
          </a:xfrm>
          <a:prstGeom prst="rect">
            <a:avLst/>
          </a:prstGeom>
          <a:noFill/>
          <a:ln/>
        </p:spPr>
        <p:txBody>
          <a:bodyPr wrap="square" lIns="0" tIns="0" rIns="0" bIns="0" rtlCol="0" anchor="t"/>
          <a:lstStyle/>
          <a:p>
            <a:pPr indent="0" marL="0">
              <a:buNone/>
            </a:pPr>
            <a:r>
              <a:rPr lang="en-US" sz="3200" b="1" dirty="0">
                <a:solidFill>
                  <a:srgbClr val="0E7C86"/>
                </a:solidFill>
                <a:latin typeface="Cambria" pitchFamily="34" charset="0"/>
                <a:ea typeface="Cambria" pitchFamily="34" charset="-122"/>
                <a:cs typeface="Cambria" pitchFamily="34" charset="-120"/>
              </a:rPr>
              <a:t>7</a:t>
            </a:r>
            <a:endParaRPr lang="en-US" sz="3200" dirty="0"/>
          </a:p>
        </p:txBody>
      </p:sp>
      <p:sp>
        <p:nvSpPr>
          <p:cNvPr id="17" name="Text 14"/>
          <p:cNvSpPr txBox="1"/>
          <p:nvPr/>
        </p:nvSpPr>
        <p:spPr>
          <a:xfrm>
            <a:off x="6345936" y="2468880"/>
            <a:ext cx="233172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log(1+x) variants</a:t>
            </a:r>
            <a:endParaRPr lang="en-US" sz="1500" dirty="0"/>
          </a:p>
        </p:txBody>
      </p:sp>
      <p:sp>
        <p:nvSpPr>
          <p:cNvPr id="18" name="Text 15"/>
          <p:cNvSpPr txBox="1"/>
          <p:nvPr/>
        </p:nvSpPr>
        <p:spPr>
          <a:xfrm>
            <a:off x="6345936" y="2788920"/>
            <a:ext cx="2331720" cy="868680"/>
          </a:xfrm>
          <a:prstGeom prst="rect">
            <a:avLst/>
          </a:prstGeom>
          <a:noFill/>
          <a:ln/>
        </p:spPr>
        <p:txBody>
          <a:bodyPr wrap="square" lIns="0" tIns="0" rIns="0" bIns="0" rtlCol="0" anchor="t"/>
          <a:lstStyle/>
          <a:p>
            <a:pPr indent="0" marL="0">
              <a:buNone/>
            </a:pPr>
            <a:r>
              <a:rPr lang="en-US" sz="1200" dirty="0">
                <a:solidFill>
                  <a:srgbClr val="12202E"/>
                </a:solidFill>
                <a:latin typeface="Calibri" pitchFamily="34" charset="0"/>
                <a:ea typeface="Calibri" pitchFamily="34" charset="-122"/>
                <a:cs typeface="Calibri" pitchFamily="34" charset="-120"/>
              </a:rPr>
              <a:t>Compress nutrient skew; help linear models, not trees</a:t>
            </a:r>
            <a:endParaRPr lang="en-US" sz="1200" dirty="0"/>
          </a:p>
        </p:txBody>
      </p:sp>
      <p:sp>
        <p:nvSpPr>
          <p:cNvPr id="19" name="Shape 16"/>
          <p:cNvSpPr/>
          <p:nvPr/>
        </p:nvSpPr>
        <p:spPr>
          <a:xfrm>
            <a:off x="8970264" y="1783080"/>
            <a:ext cx="2651760" cy="1920240"/>
          </a:xfrm>
          <a:prstGeom prst="rect">
            <a:avLst/>
          </a:prstGeom>
          <a:solidFill>
            <a:srgbClr val="F4F8FA"/>
          </a:solidFill>
          <a:ln w="12700">
            <a:solidFill>
              <a:srgbClr val="F4F8FA"/>
            </a:solidFill>
            <a:prstDash val="solid"/>
          </a:ln>
        </p:spPr>
      </p:sp>
      <p:sp>
        <p:nvSpPr>
          <p:cNvPr id="20" name="Text 17"/>
          <p:cNvSpPr txBox="1"/>
          <p:nvPr/>
        </p:nvSpPr>
        <p:spPr>
          <a:xfrm>
            <a:off x="9153144" y="1892808"/>
            <a:ext cx="914400" cy="548640"/>
          </a:xfrm>
          <a:prstGeom prst="rect">
            <a:avLst/>
          </a:prstGeom>
          <a:noFill/>
          <a:ln/>
        </p:spPr>
        <p:txBody>
          <a:bodyPr wrap="square" lIns="0" tIns="0" rIns="0" bIns="0" rtlCol="0" anchor="t"/>
          <a:lstStyle/>
          <a:p>
            <a:pPr indent="0" marL="0">
              <a:buNone/>
            </a:pPr>
            <a:r>
              <a:rPr lang="en-US" sz="3200" b="1" dirty="0">
                <a:solidFill>
                  <a:srgbClr val="0E7C86"/>
                </a:solidFill>
                <a:latin typeface="Cambria" pitchFamily="34" charset="0"/>
                <a:ea typeface="Cambria" pitchFamily="34" charset="-122"/>
                <a:cs typeface="Cambria" pitchFamily="34" charset="-120"/>
              </a:rPr>
              <a:t>6</a:t>
            </a:r>
            <a:endParaRPr lang="en-US" sz="3200" dirty="0"/>
          </a:p>
        </p:txBody>
      </p:sp>
      <p:sp>
        <p:nvSpPr>
          <p:cNvPr id="21" name="Text 18"/>
          <p:cNvSpPr txBox="1"/>
          <p:nvPr/>
        </p:nvSpPr>
        <p:spPr>
          <a:xfrm>
            <a:off x="9153144" y="2468880"/>
            <a:ext cx="233172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Station memory</a:t>
            </a:r>
            <a:endParaRPr lang="en-US" sz="1500" dirty="0"/>
          </a:p>
        </p:txBody>
      </p:sp>
      <p:sp>
        <p:nvSpPr>
          <p:cNvPr id="22" name="Text 19"/>
          <p:cNvSpPr txBox="1"/>
          <p:nvPr/>
        </p:nvSpPr>
        <p:spPr>
          <a:xfrm>
            <a:off x="9153144" y="2788920"/>
            <a:ext cx="2331720" cy="868680"/>
          </a:xfrm>
          <a:prstGeom prst="rect">
            <a:avLst/>
          </a:prstGeom>
          <a:noFill/>
          <a:ln/>
        </p:spPr>
        <p:txBody>
          <a:bodyPr wrap="square" lIns="0" tIns="0" rIns="0" bIns="0" rtlCol="0" anchor="t"/>
          <a:lstStyle/>
          <a:p>
            <a:pPr indent="0" marL="0">
              <a:buNone/>
            </a:pPr>
            <a:r>
              <a:rPr lang="en-US" sz="1200" dirty="0">
                <a:solidFill>
                  <a:srgbClr val="12202E"/>
                </a:solidFill>
                <a:latin typeface="Calibri" pitchFamily="34" charset="0"/>
                <a:ea typeface="Calibri" pitchFamily="34" charset="-122"/>
                <a:cs typeface="Calibri" pitchFamily="34" charset="-120"/>
              </a:rPr>
              <a:t>Shift-1 lags and rolling-3 means within each Area, sorted by date; first record filled with global median</a:t>
            </a:r>
            <a:endParaRPr lang="en-US" sz="1200" dirty="0"/>
          </a:p>
        </p:txBody>
      </p:sp>
      <p:sp>
        <p:nvSpPr>
          <p:cNvPr id="23" name="Shape 20"/>
          <p:cNvSpPr/>
          <p:nvPr/>
        </p:nvSpPr>
        <p:spPr>
          <a:xfrm>
            <a:off x="548640" y="3886200"/>
            <a:ext cx="2651760" cy="1920240"/>
          </a:xfrm>
          <a:prstGeom prst="rect">
            <a:avLst/>
          </a:prstGeom>
          <a:solidFill>
            <a:srgbClr val="F4F8FA"/>
          </a:solidFill>
          <a:ln w="12700">
            <a:solidFill>
              <a:srgbClr val="F4F8FA"/>
            </a:solidFill>
            <a:prstDash val="solid"/>
          </a:ln>
        </p:spPr>
      </p:sp>
      <p:sp>
        <p:nvSpPr>
          <p:cNvPr id="24" name="Text 21"/>
          <p:cNvSpPr txBox="1"/>
          <p:nvPr/>
        </p:nvSpPr>
        <p:spPr>
          <a:xfrm>
            <a:off x="731520" y="3995928"/>
            <a:ext cx="914400" cy="548640"/>
          </a:xfrm>
          <a:prstGeom prst="rect">
            <a:avLst/>
          </a:prstGeom>
          <a:noFill/>
          <a:ln/>
        </p:spPr>
        <p:txBody>
          <a:bodyPr wrap="square" lIns="0" tIns="0" rIns="0" bIns="0" rtlCol="0" anchor="t"/>
          <a:lstStyle/>
          <a:p>
            <a:pPr indent="0" marL="0">
              <a:buNone/>
            </a:pPr>
            <a:r>
              <a:rPr lang="en-US" sz="3200" b="1" dirty="0">
                <a:solidFill>
                  <a:srgbClr val="0E7C86"/>
                </a:solidFill>
                <a:latin typeface="Cambria" pitchFamily="34" charset="0"/>
                <a:ea typeface="Cambria" pitchFamily="34" charset="-122"/>
                <a:cs typeface="Cambria" pitchFamily="34" charset="-120"/>
              </a:rPr>
              <a:t>7</a:t>
            </a:r>
            <a:endParaRPr lang="en-US" sz="3200" dirty="0"/>
          </a:p>
        </p:txBody>
      </p:sp>
      <p:sp>
        <p:nvSpPr>
          <p:cNvPr id="25" name="Text 22"/>
          <p:cNvSpPr txBox="1"/>
          <p:nvPr/>
        </p:nvSpPr>
        <p:spPr>
          <a:xfrm>
            <a:off x="731520" y="4572000"/>
            <a:ext cx="233172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Temporal</a:t>
            </a:r>
            <a:endParaRPr lang="en-US" sz="1500" dirty="0"/>
          </a:p>
        </p:txBody>
      </p:sp>
      <p:sp>
        <p:nvSpPr>
          <p:cNvPr id="26" name="Text 23"/>
          <p:cNvSpPr txBox="1"/>
          <p:nvPr/>
        </p:nvSpPr>
        <p:spPr>
          <a:xfrm>
            <a:off x="731520" y="4892040"/>
            <a:ext cx="2331720" cy="868680"/>
          </a:xfrm>
          <a:prstGeom prst="rect">
            <a:avLst/>
          </a:prstGeom>
          <a:noFill/>
          <a:ln/>
        </p:spPr>
        <p:txBody>
          <a:bodyPr wrap="square" lIns="0" tIns="0" rIns="0" bIns="0" rtlCol="0" anchor="t"/>
          <a:lstStyle/>
          <a:p>
            <a:pPr indent="0" marL="0">
              <a:buNone/>
            </a:pPr>
            <a:r>
              <a:rPr lang="en-US" sz="1200" dirty="0">
                <a:solidFill>
                  <a:srgbClr val="12202E"/>
                </a:solidFill>
                <a:latin typeface="Calibri" pitchFamily="34" charset="0"/>
                <a:ea typeface="Calibri" pitchFamily="34" charset="-122"/>
                <a:cs typeface="Calibri" pitchFamily="34" charset="-120"/>
              </a:rPr>
              <a:t>year, month, quarter, sin/cos of month and day-of-year</a:t>
            </a:r>
            <a:endParaRPr lang="en-US" sz="1200" dirty="0"/>
          </a:p>
        </p:txBody>
      </p:sp>
      <p:sp>
        <p:nvSpPr>
          <p:cNvPr id="27" name="Shape 24"/>
          <p:cNvSpPr/>
          <p:nvPr/>
        </p:nvSpPr>
        <p:spPr>
          <a:xfrm>
            <a:off x="3355848" y="3886200"/>
            <a:ext cx="2651760" cy="1920240"/>
          </a:xfrm>
          <a:prstGeom prst="rect">
            <a:avLst/>
          </a:prstGeom>
          <a:solidFill>
            <a:srgbClr val="F4F8FA"/>
          </a:solidFill>
          <a:ln w="12700">
            <a:solidFill>
              <a:srgbClr val="F4F8FA"/>
            </a:solidFill>
            <a:prstDash val="solid"/>
          </a:ln>
        </p:spPr>
      </p:sp>
      <p:sp>
        <p:nvSpPr>
          <p:cNvPr id="28" name="Text 25"/>
          <p:cNvSpPr txBox="1"/>
          <p:nvPr/>
        </p:nvSpPr>
        <p:spPr>
          <a:xfrm>
            <a:off x="3538728" y="3995928"/>
            <a:ext cx="914400" cy="548640"/>
          </a:xfrm>
          <a:prstGeom prst="rect">
            <a:avLst/>
          </a:prstGeom>
          <a:noFill/>
          <a:ln/>
        </p:spPr>
        <p:txBody>
          <a:bodyPr wrap="square" lIns="0" tIns="0" rIns="0" bIns="0" rtlCol="0" anchor="t"/>
          <a:lstStyle/>
          <a:p>
            <a:pPr indent="0" marL="0">
              <a:buNone/>
            </a:pPr>
            <a:r>
              <a:rPr lang="en-US" sz="3200" b="1" dirty="0">
                <a:solidFill>
                  <a:srgbClr val="0E7C86"/>
                </a:solidFill>
                <a:latin typeface="Cambria" pitchFamily="34" charset="0"/>
                <a:ea typeface="Cambria" pitchFamily="34" charset="-122"/>
                <a:cs typeface="Cambria" pitchFamily="34" charset="-120"/>
              </a:rPr>
              <a:t>2</a:t>
            </a:r>
            <a:endParaRPr lang="en-US" sz="3200" dirty="0"/>
          </a:p>
        </p:txBody>
      </p:sp>
      <p:sp>
        <p:nvSpPr>
          <p:cNvPr id="29" name="Text 26"/>
          <p:cNvSpPr txBox="1"/>
          <p:nvPr/>
        </p:nvSpPr>
        <p:spPr>
          <a:xfrm>
            <a:off x="3538728" y="4572000"/>
            <a:ext cx="233172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Context</a:t>
            </a:r>
            <a:endParaRPr lang="en-US" sz="1500" dirty="0"/>
          </a:p>
        </p:txBody>
      </p:sp>
      <p:sp>
        <p:nvSpPr>
          <p:cNvPr id="30" name="Text 27"/>
          <p:cNvSpPr txBox="1"/>
          <p:nvPr/>
        </p:nvSpPr>
        <p:spPr>
          <a:xfrm>
            <a:off x="3538728" y="4892040"/>
            <a:ext cx="2331720" cy="868680"/>
          </a:xfrm>
          <a:prstGeom prst="rect">
            <a:avLst/>
          </a:prstGeom>
          <a:noFill/>
          <a:ln/>
        </p:spPr>
        <p:txBody>
          <a:bodyPr wrap="square" lIns="0" tIns="0" rIns="0" bIns="0" rtlCol="0" anchor="t"/>
          <a:lstStyle/>
          <a:p>
            <a:pPr indent="0" marL="0">
              <a:buNone/>
            </a:pPr>
            <a:r>
              <a:rPr lang="en-US" sz="1200" dirty="0">
                <a:solidFill>
                  <a:srgbClr val="12202E"/>
                </a:solidFill>
                <a:latin typeface="Calibri" pitchFamily="34" charset="0"/>
                <a:ea typeface="Calibri" pitchFamily="34" charset="-122"/>
                <a:cs typeface="Calibri" pitchFamily="34" charset="-120"/>
              </a:rPr>
              <a:t>country code, waterbody-type code</a:t>
            </a:r>
            <a:endParaRPr lang="en-US" sz="1200" dirty="0"/>
          </a:p>
        </p:txBody>
      </p:sp>
      <p:sp>
        <p:nvSpPr>
          <p:cNvPr id="31" name="Shape 28"/>
          <p:cNvSpPr/>
          <p:nvPr/>
        </p:nvSpPr>
        <p:spPr>
          <a:xfrm>
            <a:off x="6163056" y="3886200"/>
            <a:ext cx="2651760" cy="1920240"/>
          </a:xfrm>
          <a:prstGeom prst="rect">
            <a:avLst/>
          </a:prstGeom>
          <a:solidFill>
            <a:srgbClr val="FFF3DC"/>
          </a:solidFill>
          <a:ln w="12700">
            <a:solidFill>
              <a:srgbClr val="FFF3DC"/>
            </a:solidFill>
            <a:prstDash val="solid"/>
          </a:ln>
        </p:spPr>
      </p:sp>
      <p:sp>
        <p:nvSpPr>
          <p:cNvPr id="32" name="Text 29"/>
          <p:cNvSpPr txBox="1"/>
          <p:nvPr/>
        </p:nvSpPr>
        <p:spPr>
          <a:xfrm>
            <a:off x="6345936" y="3995928"/>
            <a:ext cx="914400" cy="548640"/>
          </a:xfrm>
          <a:prstGeom prst="rect">
            <a:avLst/>
          </a:prstGeom>
          <a:noFill/>
          <a:ln/>
        </p:spPr>
        <p:txBody>
          <a:bodyPr wrap="square" lIns="0" tIns="0" rIns="0" bIns="0" rtlCol="0" anchor="t"/>
          <a:lstStyle/>
          <a:p>
            <a:pPr indent="0" marL="0">
              <a:buNone/>
            </a:pPr>
            <a:r>
              <a:rPr lang="en-US" sz="3200" b="1" dirty="0">
                <a:solidFill>
                  <a:srgbClr val="D98A1F"/>
                </a:solidFill>
                <a:latin typeface="Cambria" pitchFamily="34" charset="0"/>
                <a:ea typeface="Cambria" pitchFamily="34" charset="-122"/>
                <a:cs typeface="Cambria" pitchFamily="34" charset="-120"/>
              </a:rPr>
              <a:t>1</a:t>
            </a:r>
            <a:endParaRPr lang="en-US" sz="3200" dirty="0"/>
          </a:p>
        </p:txBody>
      </p:sp>
      <p:sp>
        <p:nvSpPr>
          <p:cNvPr id="33" name="Text 30"/>
          <p:cNvSpPr txBox="1"/>
          <p:nvPr/>
        </p:nvSpPr>
        <p:spPr>
          <a:xfrm>
            <a:off x="6345936" y="4572000"/>
            <a:ext cx="233172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exceedance_counter</a:t>
            </a:r>
            <a:endParaRPr lang="en-US" sz="1500" dirty="0"/>
          </a:p>
        </p:txBody>
      </p:sp>
      <p:sp>
        <p:nvSpPr>
          <p:cNvPr id="34" name="Text 31"/>
          <p:cNvSpPr txBox="1"/>
          <p:nvPr/>
        </p:nvSpPr>
        <p:spPr>
          <a:xfrm>
            <a:off x="6345936" y="4892040"/>
            <a:ext cx="2331720" cy="868680"/>
          </a:xfrm>
          <a:prstGeom prst="rect">
            <a:avLst/>
          </a:prstGeom>
          <a:noFill/>
          <a:ln/>
        </p:spPr>
        <p:txBody>
          <a:bodyPr wrap="square" lIns="0" tIns="0" rIns="0" bIns="0" rtlCol="0" anchor="t"/>
          <a:lstStyle/>
          <a:p>
            <a:pPr indent="0" marL="0">
              <a:buNone/>
            </a:pPr>
            <a:r>
              <a:rPr lang="en-US" sz="1200" dirty="0">
                <a:solidFill>
                  <a:srgbClr val="12202E"/>
                </a:solidFill>
                <a:latin typeface="Calibri" pitchFamily="34" charset="0"/>
                <a:ea typeface="Calibri" pitchFamily="34" charset="-122"/>
                <a:cs typeface="Calibri" pitchFamily="34" charset="-120"/>
              </a:rPr>
              <a:t>Count of six guideline checks computed from input columns only</a:t>
            </a:r>
            <a:endParaRPr lang="en-US" sz="1200" dirty="0"/>
          </a:p>
        </p:txBody>
      </p:sp>
      <p:sp>
        <p:nvSpPr>
          <p:cNvPr id="35" name="Shape 32"/>
          <p:cNvSpPr/>
          <p:nvPr/>
        </p:nvSpPr>
        <p:spPr>
          <a:xfrm>
            <a:off x="8970264" y="3886200"/>
            <a:ext cx="2651760" cy="1920240"/>
          </a:xfrm>
          <a:prstGeom prst="rect">
            <a:avLst/>
          </a:prstGeom>
          <a:solidFill>
            <a:srgbClr val="EAF4F6"/>
          </a:solidFill>
          <a:ln w="12700">
            <a:solidFill>
              <a:srgbClr val="EAF4F6"/>
            </a:solidFill>
            <a:prstDash val="solid"/>
          </a:ln>
        </p:spPr>
      </p:sp>
      <p:sp>
        <p:nvSpPr>
          <p:cNvPr id="36" name="Text 33"/>
          <p:cNvSpPr txBox="1"/>
          <p:nvPr/>
        </p:nvSpPr>
        <p:spPr>
          <a:xfrm>
            <a:off x="9153144" y="4160520"/>
            <a:ext cx="2331720" cy="822960"/>
          </a:xfrm>
          <a:prstGeom prst="rect">
            <a:avLst/>
          </a:prstGeom>
          <a:noFill/>
          <a:ln/>
        </p:spPr>
        <p:txBody>
          <a:bodyPr wrap="square" lIns="0" tIns="0" rIns="0" bIns="0" rtlCol="0" anchor="t"/>
          <a:lstStyle/>
          <a:p>
            <a:pPr indent="0" marL="0">
              <a:buNone/>
            </a:pPr>
            <a:r>
              <a:rPr lang="en-US" sz="1400" b="1" dirty="0">
                <a:solidFill>
                  <a:srgbClr val="0B1F33"/>
                </a:solidFill>
                <a:latin typeface="Calibri" pitchFamily="34" charset="0"/>
                <a:ea typeface="Calibri" pitchFamily="34" charset="-122"/>
                <a:cs typeface="Calibri" pitchFamily="34" charset="-120"/>
              </a:rPr>
              <a:t>Total: 8+7+7+6+7+2+1 = 38 features</a:t>
            </a:r>
            <a:endParaRPr lang="en-US" sz="1400" dirty="0"/>
          </a:p>
        </p:txBody>
      </p:sp>
      <p:sp>
        <p:nvSpPr>
          <p:cNvPr id="37" name="Text 34"/>
          <p:cNvSpPr txBox="1"/>
          <p:nvPr/>
        </p:nvSpPr>
        <p:spPr>
          <a:xfrm>
            <a:off x="9153144" y="5029200"/>
            <a:ext cx="2331720" cy="82296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ρ(hist_ortho_lag1, WQI) = −0.78 (Spearman, full data)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0E7C86"/>
                </a:solidFill>
                <a:latin typeface="Calibri" pitchFamily="34" charset="0"/>
                <a:ea typeface="Calibri" pitchFamily="34" charset="-122"/>
                <a:cs typeface="Calibri" pitchFamily="34" charset="-120"/>
              </a:rPr>
              <a:t>PIPELINE ARCHITECTURE AND TESTING</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0B1F33"/>
                </a:solidFill>
                <a:latin typeface="Cambria" pitchFamily="34" charset="0"/>
                <a:ea typeface="Cambria" pitchFamily="34" charset="-122"/>
                <a:cs typeface="Cambria" pitchFamily="34" charset="-120"/>
              </a:rPr>
              <a:t>Features are built before the split, so station history can cross partitions</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783080"/>
            <a:ext cx="2606040" cy="1051560"/>
          </a:xfrm>
          <a:prstGeom prst="rect">
            <a:avLst/>
          </a:prstGeom>
          <a:solidFill>
            <a:srgbClr val="0B1F33"/>
          </a:solidFill>
          <a:ln w="12700">
            <a:solidFill>
              <a:srgbClr val="0B1F33"/>
            </a:solidFill>
            <a:prstDash val="solid"/>
          </a:ln>
        </p:spPr>
      </p:sp>
      <p:sp>
        <p:nvSpPr>
          <p:cNvPr id="8" name="Text 5"/>
          <p:cNvSpPr txBox="1"/>
          <p:nvPr/>
        </p:nvSpPr>
        <p:spPr>
          <a:xfrm>
            <a:off x="685800" y="1892808"/>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1  Load cleaned data</a:t>
            </a:r>
            <a:endParaRPr lang="en-US" sz="1500" dirty="0"/>
          </a:p>
        </p:txBody>
      </p:sp>
      <p:sp>
        <p:nvSpPr>
          <p:cNvPr id="9" name="Text 6"/>
          <p:cNvSpPr txBox="1"/>
          <p:nvPr/>
        </p:nvSpPr>
        <p:spPr>
          <a:xfrm>
            <a:off x="685800" y="2313432"/>
            <a:ext cx="237744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2,819,617 rows, 0 nulls</a:t>
            </a:r>
            <a:endParaRPr lang="en-US" sz="1200" dirty="0"/>
          </a:p>
        </p:txBody>
      </p:sp>
      <p:sp>
        <p:nvSpPr>
          <p:cNvPr id="10" name="Shape 7"/>
          <p:cNvSpPr/>
          <p:nvPr/>
        </p:nvSpPr>
        <p:spPr>
          <a:xfrm>
            <a:off x="3355848" y="1783080"/>
            <a:ext cx="2606040" cy="1051560"/>
          </a:xfrm>
          <a:prstGeom prst="rect">
            <a:avLst/>
          </a:prstGeom>
          <a:solidFill>
            <a:srgbClr val="0B1F33"/>
          </a:solidFill>
          <a:ln w="12700">
            <a:solidFill>
              <a:srgbClr val="0B1F33"/>
            </a:solidFill>
            <a:prstDash val="solid"/>
          </a:ln>
        </p:spPr>
      </p:sp>
      <p:sp>
        <p:nvSpPr>
          <p:cNvPr id="11" name="Text 8"/>
          <p:cNvSpPr txBox="1"/>
          <p:nvPr/>
        </p:nvSpPr>
        <p:spPr>
          <a:xfrm>
            <a:off x="3493008" y="1892808"/>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2  38 features</a:t>
            </a:r>
            <a:endParaRPr lang="en-US" sz="1500" dirty="0"/>
          </a:p>
        </p:txBody>
      </p:sp>
      <p:sp>
        <p:nvSpPr>
          <p:cNvPr id="12" name="Text 9"/>
          <p:cNvSpPr txBox="1"/>
          <p:nvPr/>
        </p:nvSpPr>
        <p:spPr>
          <a:xfrm>
            <a:off x="3493008" y="2313432"/>
            <a:ext cx="237744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lags built on full data</a:t>
            </a:r>
            <a:endParaRPr lang="en-US" sz="1200" dirty="0"/>
          </a:p>
        </p:txBody>
      </p:sp>
      <p:sp>
        <p:nvSpPr>
          <p:cNvPr id="13" name="Shape 10"/>
          <p:cNvSpPr/>
          <p:nvPr/>
        </p:nvSpPr>
        <p:spPr>
          <a:xfrm>
            <a:off x="6163056" y="1783080"/>
            <a:ext cx="2606040" cy="1051560"/>
          </a:xfrm>
          <a:prstGeom prst="rect">
            <a:avLst/>
          </a:prstGeom>
          <a:solidFill>
            <a:srgbClr val="D98A1F"/>
          </a:solidFill>
          <a:ln w="12700">
            <a:solidFill>
              <a:srgbClr val="D98A1F"/>
            </a:solidFill>
            <a:prstDash val="solid"/>
          </a:ln>
        </p:spPr>
      </p:sp>
      <p:sp>
        <p:nvSpPr>
          <p:cNvPr id="14" name="Text 11"/>
          <p:cNvSpPr txBox="1"/>
          <p:nvPr/>
        </p:nvSpPr>
        <p:spPr>
          <a:xfrm>
            <a:off x="6300216" y="1892808"/>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3  Target check</a:t>
            </a:r>
            <a:endParaRPr lang="en-US" sz="1500" dirty="0"/>
          </a:p>
        </p:txBody>
      </p:sp>
      <p:sp>
        <p:nvSpPr>
          <p:cNvPr id="15" name="Text 12"/>
          <p:cNvSpPr txBox="1"/>
          <p:nvPr/>
        </p:nvSpPr>
        <p:spPr>
          <a:xfrm>
            <a:off x="6300216" y="2313432"/>
            <a:ext cx="237744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targets not in features</a:t>
            </a:r>
            <a:endParaRPr lang="en-US" sz="1200" dirty="0"/>
          </a:p>
        </p:txBody>
      </p:sp>
      <p:sp>
        <p:nvSpPr>
          <p:cNvPr id="16" name="Shape 13"/>
          <p:cNvSpPr/>
          <p:nvPr/>
        </p:nvSpPr>
        <p:spPr>
          <a:xfrm>
            <a:off x="8970264" y="1783080"/>
            <a:ext cx="2606040" cy="1051560"/>
          </a:xfrm>
          <a:prstGeom prst="rect">
            <a:avLst/>
          </a:prstGeom>
          <a:solidFill>
            <a:srgbClr val="D98A1F"/>
          </a:solidFill>
          <a:ln w="12700">
            <a:solidFill>
              <a:srgbClr val="D98A1F"/>
            </a:solidFill>
            <a:prstDash val="solid"/>
          </a:ln>
        </p:spPr>
      </p:sp>
      <p:sp>
        <p:nvSpPr>
          <p:cNvPr id="17" name="Text 14"/>
          <p:cNvSpPr txBox="1"/>
          <p:nvPr/>
        </p:nvSpPr>
        <p:spPr>
          <a:xfrm>
            <a:off x="9107424" y="1892808"/>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4  Stratified split</a:t>
            </a:r>
            <a:endParaRPr lang="en-US" sz="1500" dirty="0"/>
          </a:p>
        </p:txBody>
      </p:sp>
      <p:sp>
        <p:nvSpPr>
          <p:cNvPr id="18" name="Text 15"/>
          <p:cNvSpPr txBox="1"/>
          <p:nvPr/>
        </p:nvSpPr>
        <p:spPr>
          <a:xfrm>
            <a:off x="9107424" y="2313432"/>
            <a:ext cx="237744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random, by WQI tier</a:t>
            </a:r>
            <a:endParaRPr lang="en-US" sz="1200" dirty="0"/>
          </a:p>
        </p:txBody>
      </p:sp>
      <p:sp>
        <p:nvSpPr>
          <p:cNvPr id="19" name="Shape 16"/>
          <p:cNvSpPr/>
          <p:nvPr/>
        </p:nvSpPr>
        <p:spPr>
          <a:xfrm>
            <a:off x="548640" y="3017520"/>
            <a:ext cx="2606040" cy="1051560"/>
          </a:xfrm>
          <a:prstGeom prst="rect">
            <a:avLst/>
          </a:prstGeom>
          <a:solidFill>
            <a:srgbClr val="0E7C86"/>
          </a:solidFill>
          <a:ln w="12700">
            <a:solidFill>
              <a:srgbClr val="0E7C86"/>
            </a:solidFill>
            <a:prstDash val="solid"/>
          </a:ln>
        </p:spPr>
      </p:sp>
      <p:sp>
        <p:nvSpPr>
          <p:cNvPr id="20" name="Text 17"/>
          <p:cNvSpPr txBox="1"/>
          <p:nvPr/>
        </p:nvSpPr>
        <p:spPr>
          <a:xfrm>
            <a:off x="685800" y="3127248"/>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5  Train RF + XGB</a:t>
            </a:r>
            <a:endParaRPr lang="en-US" sz="1500" dirty="0"/>
          </a:p>
        </p:txBody>
      </p:sp>
      <p:sp>
        <p:nvSpPr>
          <p:cNvPr id="21" name="Text 18"/>
          <p:cNvSpPr txBox="1"/>
          <p:nvPr/>
        </p:nvSpPr>
        <p:spPr>
          <a:xfrm>
            <a:off x="685800" y="3547872"/>
            <a:ext cx="237744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XGB early-stops on val</a:t>
            </a:r>
            <a:endParaRPr lang="en-US" sz="1200" dirty="0"/>
          </a:p>
        </p:txBody>
      </p:sp>
      <p:sp>
        <p:nvSpPr>
          <p:cNvPr id="22" name="Shape 19"/>
          <p:cNvSpPr/>
          <p:nvPr/>
        </p:nvSpPr>
        <p:spPr>
          <a:xfrm>
            <a:off x="3355848" y="3017520"/>
            <a:ext cx="2606040" cy="1051560"/>
          </a:xfrm>
          <a:prstGeom prst="rect">
            <a:avLst/>
          </a:prstGeom>
          <a:solidFill>
            <a:srgbClr val="0E7C86"/>
          </a:solidFill>
          <a:ln w="12700">
            <a:solidFill>
              <a:srgbClr val="0E7C86"/>
            </a:solidFill>
            <a:prstDash val="solid"/>
          </a:ln>
        </p:spPr>
      </p:sp>
      <p:sp>
        <p:nvSpPr>
          <p:cNvPr id="23" name="Text 20"/>
          <p:cNvSpPr txBox="1"/>
          <p:nvPr/>
        </p:nvSpPr>
        <p:spPr>
          <a:xfrm>
            <a:off x="3493008" y="3127248"/>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6  Evaluate</a:t>
            </a:r>
            <a:endParaRPr lang="en-US" sz="1500" dirty="0"/>
          </a:p>
        </p:txBody>
      </p:sp>
      <p:sp>
        <p:nvSpPr>
          <p:cNvPr id="24" name="Text 21"/>
          <p:cNvSpPr txBox="1"/>
          <p:nvPr/>
        </p:nvSpPr>
        <p:spPr>
          <a:xfrm>
            <a:off x="3493008" y="3547872"/>
            <a:ext cx="237744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validation only</a:t>
            </a:r>
            <a:endParaRPr lang="en-US" sz="1200" dirty="0"/>
          </a:p>
        </p:txBody>
      </p:sp>
      <p:sp>
        <p:nvSpPr>
          <p:cNvPr id="25" name="Shape 22"/>
          <p:cNvSpPr/>
          <p:nvPr/>
        </p:nvSpPr>
        <p:spPr>
          <a:xfrm>
            <a:off x="6163056" y="3017520"/>
            <a:ext cx="2606040" cy="1051560"/>
          </a:xfrm>
          <a:prstGeom prst="rect">
            <a:avLst/>
          </a:prstGeom>
          <a:solidFill>
            <a:srgbClr val="0E7C86"/>
          </a:solidFill>
          <a:ln w="12700">
            <a:solidFill>
              <a:srgbClr val="0E7C86"/>
            </a:solidFill>
            <a:prstDash val="solid"/>
          </a:ln>
        </p:spPr>
      </p:sp>
      <p:sp>
        <p:nvSpPr>
          <p:cNvPr id="26" name="Text 23"/>
          <p:cNvSpPr txBox="1"/>
          <p:nvPr/>
        </p:nvSpPr>
        <p:spPr>
          <a:xfrm>
            <a:off x="6300216" y="3127248"/>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7  Importance</a:t>
            </a:r>
            <a:endParaRPr lang="en-US" sz="1500" dirty="0"/>
          </a:p>
        </p:txBody>
      </p:sp>
      <p:sp>
        <p:nvSpPr>
          <p:cNvPr id="27" name="Text 24"/>
          <p:cNvSpPr txBox="1"/>
          <p:nvPr/>
        </p:nvSpPr>
        <p:spPr>
          <a:xfrm>
            <a:off x="6300216" y="3547872"/>
            <a:ext cx="237744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built-in + SHAP (250 rows)</a:t>
            </a:r>
            <a:endParaRPr lang="en-US" sz="1200" dirty="0"/>
          </a:p>
        </p:txBody>
      </p:sp>
      <p:sp>
        <p:nvSpPr>
          <p:cNvPr id="28" name="Shape 25"/>
          <p:cNvSpPr/>
          <p:nvPr/>
        </p:nvSpPr>
        <p:spPr>
          <a:xfrm>
            <a:off x="8970264" y="3017520"/>
            <a:ext cx="2606040" cy="1051560"/>
          </a:xfrm>
          <a:prstGeom prst="rect">
            <a:avLst/>
          </a:prstGeom>
          <a:solidFill>
            <a:srgbClr val="5B6B7A"/>
          </a:solidFill>
          <a:ln w="12700">
            <a:solidFill>
              <a:srgbClr val="5B6B7A"/>
            </a:solidFill>
            <a:prstDash val="solid"/>
          </a:ln>
        </p:spPr>
      </p:sp>
      <p:sp>
        <p:nvSpPr>
          <p:cNvPr id="29" name="Text 26"/>
          <p:cNvSpPr txBox="1"/>
          <p:nvPr/>
        </p:nvSpPr>
        <p:spPr>
          <a:xfrm>
            <a:off x="9107424" y="3127248"/>
            <a:ext cx="23774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8  Test set</a:t>
            </a:r>
            <a:endParaRPr lang="en-US" sz="1500" dirty="0"/>
          </a:p>
        </p:txBody>
      </p:sp>
      <p:sp>
        <p:nvSpPr>
          <p:cNvPr id="30" name="Text 27"/>
          <p:cNvSpPr txBox="1"/>
          <p:nvPr/>
        </p:nvSpPr>
        <p:spPr>
          <a:xfrm>
            <a:off x="9107424" y="3547872"/>
            <a:ext cx="237744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held out, not yet scored</a:t>
            </a:r>
            <a:endParaRPr lang="en-US" sz="1200" dirty="0"/>
          </a:p>
        </p:txBody>
      </p:sp>
      <p:sp>
        <p:nvSpPr>
          <p:cNvPr id="31" name="Text 28"/>
          <p:cNvSpPr txBox="1"/>
          <p:nvPr/>
        </p:nvSpPr>
        <p:spPr>
          <a:xfrm>
            <a:off x="548640" y="4251960"/>
            <a:ext cx="10972800" cy="274320"/>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Navy = before split · Amber = leakage-sensitive · Teal = after split · Grey = not yet done</a:t>
            </a:r>
            <a:endParaRPr lang="en-US" sz="1100" dirty="0"/>
          </a:p>
        </p:txBody>
      </p:sp>
      <p:sp>
        <p:nvSpPr>
          <p:cNvPr id="32" name="Shape 29"/>
          <p:cNvSpPr/>
          <p:nvPr/>
        </p:nvSpPr>
        <p:spPr>
          <a:xfrm>
            <a:off x="548640" y="4663440"/>
            <a:ext cx="11091672" cy="1508760"/>
          </a:xfrm>
          <a:prstGeom prst="rect">
            <a:avLst/>
          </a:prstGeom>
          <a:solidFill>
            <a:srgbClr val="EAF4F6"/>
          </a:solidFill>
          <a:ln w="12700">
            <a:solidFill>
              <a:srgbClr val="EAF4F6"/>
            </a:solidFill>
            <a:prstDash val="solid"/>
          </a:ln>
        </p:spPr>
      </p:sp>
      <p:sp>
        <p:nvSpPr>
          <p:cNvPr id="33" name="Text 30"/>
          <p:cNvSpPr txBox="1"/>
          <p:nvPr/>
        </p:nvSpPr>
        <p:spPr>
          <a:xfrm>
            <a:off x="777240" y="4754880"/>
            <a:ext cx="3657600" cy="320040"/>
          </a:xfrm>
          <a:prstGeom prst="rect">
            <a:avLst/>
          </a:prstGeom>
          <a:noFill/>
          <a:ln/>
        </p:spPr>
        <p:txBody>
          <a:bodyPr wrap="square" lIns="0" tIns="0" rIns="0" bIns="0" rtlCol="0" anchor="t"/>
          <a:lstStyle/>
          <a:p>
            <a:pPr indent="0" marL="0">
              <a:buNone/>
            </a:pPr>
            <a:r>
              <a:rPr lang="en-US" sz="1600" b="1" dirty="0">
                <a:solidFill>
                  <a:srgbClr val="0B1F33"/>
                </a:solidFill>
                <a:latin typeface="Cambria" pitchFamily="34" charset="0"/>
                <a:ea typeface="Cambria" pitchFamily="34" charset="-122"/>
                <a:cs typeface="Cambria" pitchFamily="34" charset="-120"/>
              </a:rPr>
              <a:t>Automated tests (pytest)</a:t>
            </a:r>
            <a:endParaRPr lang="en-US" sz="1600" dirty="0"/>
          </a:p>
        </p:txBody>
      </p:sp>
      <p:sp>
        <p:nvSpPr>
          <p:cNvPr id="34" name="Text 31"/>
          <p:cNvSpPr txBox="1"/>
          <p:nvPr/>
        </p:nvSpPr>
        <p:spPr>
          <a:xfrm>
            <a:off x="777240" y="5120640"/>
            <a:ext cx="5029200" cy="914400"/>
          </a:xfrm>
          <a:prstGeom prst="rect">
            <a:avLst/>
          </a:prstGeom>
          <a:noFill/>
          <a:ln/>
        </p:spPr>
        <p:txBody>
          <a:bodyPr wrap="square" lIns="0" tIns="0" rIns="0" bIns="0" rtlCol="0" anchor="t"/>
          <a:lstStyle/>
          <a:p>
            <a:pPr indent="0" marL="0">
              <a:buNone/>
            </a:pPr>
            <a:r>
              <a:rPr lang="en-US" sz="1300" dirty="0">
                <a:solidFill>
                  <a:srgbClr val="12202E"/>
                </a:solidFill>
                <a:latin typeface="Calibri" pitchFamily="34" charset="0"/>
                <a:ea typeface="Calibri" pitchFamily="34" charset="-122"/>
                <a:cs typeface="Calibri" pitchFamily="34" charset="-120"/>
              </a:rPr>
              <a:t>12 test functions: features 4 · leakage 2 · metrics 3 · models 3. Reported 100% pass in 1.65 s (not re-run here).</a:t>
            </a:r>
            <a:endParaRPr lang="en-US" sz="1300" dirty="0"/>
          </a:p>
        </p:txBody>
      </p:sp>
      <p:sp>
        <p:nvSpPr>
          <p:cNvPr id="35" name="Text 32"/>
          <p:cNvSpPr txBox="1"/>
          <p:nvPr/>
        </p:nvSpPr>
        <p:spPr>
          <a:xfrm>
            <a:off x="6126480" y="4754880"/>
            <a:ext cx="5349240" cy="137160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They check: </a:t>
            </a:r>
            <a:pPr indent="0" marL="0">
              <a:buNone/>
            </a:pPr>
            <a:r>
              <a:rPr lang="en-US" sz="1300" dirty="0">
                <a:solidFill>
                  <a:srgbClr val="12202E"/>
                </a:solidFill>
                <a:latin typeface="Calibri" pitchFamily="34" charset="0"/>
                <a:ea typeface="Calibri" pitchFamily="34" charset="-122"/>
                <a:cs typeface="Calibri" pitchFamily="34" charset="-120"/>
              </a:rPr>
              <a:t>bound filtering, log1p, shift-1 lags per station, targets absent from X and from the 38-feature list, metric maths, model loading.</a:t>
            </a:r>
            <a:endParaRPr lang="en-US" sz="1300" dirty="0"/>
          </a:p>
          <a:p>
            <a:pPr indent="0" marL="0">
              <a:buNone/>
            </a:pPr>
            <a:r>
              <a:rPr lang="en-US" sz="1300" b="1" dirty="0">
                <a:solidFill>
                  <a:srgbClr val="D98A1F"/>
                </a:solidFill>
                <a:latin typeface="Calibri" pitchFamily="34" charset="0"/>
                <a:ea typeface="Calibri" pitchFamily="34" charset="-122"/>
                <a:cs typeface="Calibri" pitchFamily="34" charset="-120"/>
              </a:rPr>
              <a:t>They do not show: </a:t>
            </a:r>
            <a:pPr indent="0" marL="0">
              <a:buNone/>
            </a:pPr>
            <a:r>
              <a:rPr lang="en-US" sz="1300" dirty="0">
                <a:solidFill>
                  <a:srgbClr val="12202E"/>
                </a:solidFill>
                <a:latin typeface="Calibri" pitchFamily="34" charset="0"/>
                <a:ea typeface="Calibri" pitchFamily="34" charset="-122"/>
                <a:cs typeface="Calibri" pitchFamily="34" charset="-120"/>
              </a:rPr>
              <a:t>that scores generalise to new stations or dates.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0E7C86"/>
                </a:solidFill>
                <a:latin typeface="Calibri" pitchFamily="34" charset="0"/>
                <a:ea typeface="Calibri" pitchFamily="34" charset="-122"/>
                <a:cs typeface="Calibri" pitchFamily="34" charset="-120"/>
              </a:rPr>
              <a:t>MODELING STRATEGY AND EVALUATION DESIGN</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0B1F33"/>
                </a:solidFill>
                <a:latin typeface="Cambria" pitchFamily="34" charset="0"/>
                <a:ea typeface="Cambria" pitchFamily="34" charset="-122"/>
                <a:cs typeface="Cambria" pitchFamily="34" charset="-120"/>
              </a:rPr>
              <a:t>Three regressors on one random stratified split, with the settings taken from the training notebook</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783080"/>
            <a:ext cx="7680960" cy="640080"/>
          </a:xfrm>
          <a:prstGeom prst="rect">
            <a:avLst/>
          </a:prstGeom>
          <a:solidFill>
            <a:srgbClr val="0B1F33"/>
          </a:solidFill>
          <a:ln w="19050">
            <a:solidFill>
              <a:srgbClr val="FFFFFF"/>
            </a:solidFill>
            <a:prstDash val="solid"/>
          </a:ln>
        </p:spPr>
      </p:sp>
      <p:sp>
        <p:nvSpPr>
          <p:cNvPr id="8" name="Text 5"/>
          <p:cNvSpPr txBox="1"/>
          <p:nvPr/>
        </p:nvSpPr>
        <p:spPr>
          <a:xfrm>
            <a:off x="548640" y="1783080"/>
            <a:ext cx="76809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Train 1,973,731 (70%)</a:t>
            </a:r>
            <a:endParaRPr lang="en-US" sz="1400" dirty="0"/>
          </a:p>
        </p:txBody>
      </p:sp>
      <p:sp>
        <p:nvSpPr>
          <p:cNvPr id="9" name="Shape 6"/>
          <p:cNvSpPr/>
          <p:nvPr/>
        </p:nvSpPr>
        <p:spPr>
          <a:xfrm>
            <a:off x="8229600" y="1783080"/>
            <a:ext cx="1705356" cy="640080"/>
          </a:xfrm>
          <a:prstGeom prst="rect">
            <a:avLst/>
          </a:prstGeom>
          <a:solidFill>
            <a:srgbClr val="0E7C86"/>
          </a:solidFill>
          <a:ln w="19050">
            <a:solidFill>
              <a:srgbClr val="FFFFFF"/>
            </a:solidFill>
            <a:prstDash val="solid"/>
          </a:ln>
        </p:spPr>
      </p:sp>
      <p:sp>
        <p:nvSpPr>
          <p:cNvPr id="10" name="Text 7"/>
          <p:cNvSpPr txBox="1"/>
          <p:nvPr/>
        </p:nvSpPr>
        <p:spPr>
          <a:xfrm>
            <a:off x="8229600" y="1783080"/>
            <a:ext cx="1705356"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 422,943 (15%)</a:t>
            </a:r>
            <a:endParaRPr lang="en-US" sz="1100" dirty="0"/>
          </a:p>
        </p:txBody>
      </p:sp>
      <p:sp>
        <p:nvSpPr>
          <p:cNvPr id="11" name="Shape 8"/>
          <p:cNvSpPr/>
          <p:nvPr/>
        </p:nvSpPr>
        <p:spPr>
          <a:xfrm>
            <a:off x="9934956" y="1783080"/>
            <a:ext cx="1705356" cy="640080"/>
          </a:xfrm>
          <a:prstGeom prst="rect">
            <a:avLst/>
          </a:prstGeom>
          <a:solidFill>
            <a:srgbClr val="2EC4B6"/>
          </a:solidFill>
          <a:ln w="19050">
            <a:solidFill>
              <a:srgbClr val="FFFFFF"/>
            </a:solidFill>
            <a:prstDash val="solid"/>
          </a:ln>
        </p:spPr>
      </p:sp>
      <p:sp>
        <p:nvSpPr>
          <p:cNvPr id="12" name="Text 9"/>
          <p:cNvSpPr txBox="1"/>
          <p:nvPr/>
        </p:nvSpPr>
        <p:spPr>
          <a:xfrm>
            <a:off x="9934956" y="1783080"/>
            <a:ext cx="1705356" cy="640080"/>
          </a:xfrm>
          <a:prstGeom prst="rect">
            <a:avLst/>
          </a:prstGeom>
          <a:noFill/>
          <a:ln/>
        </p:spPr>
        <p:txBody>
          <a:bodyPr wrap="square" lIns="0" tIns="0" rIns="0" bIns="0" rtlCol="0" anchor="ctr"/>
          <a:lstStyle/>
          <a:p>
            <a:pPr algn="ctr" indent="0" marL="0">
              <a:buNone/>
            </a:pPr>
            <a:r>
              <a:rPr lang="en-US" sz="1100" b="1" dirty="0">
                <a:solidFill>
                  <a:srgbClr val="12202E"/>
                </a:solidFill>
                <a:latin typeface="Calibri" pitchFamily="34" charset="0"/>
                <a:ea typeface="Calibri" pitchFamily="34" charset="-122"/>
                <a:cs typeface="Calibri" pitchFamily="34" charset="-120"/>
              </a:rPr>
              <a:t>Test 422,943 (15%)</a:t>
            </a:r>
            <a:endParaRPr lang="en-US" sz="1100" dirty="0"/>
          </a:p>
        </p:txBody>
      </p:sp>
      <p:sp>
        <p:nvSpPr>
          <p:cNvPr id="13" name="Text 10"/>
          <p:cNvSpPr txBox="1"/>
          <p:nvPr/>
        </p:nvSpPr>
        <p:spPr>
          <a:xfrm>
            <a:off x="548640" y="2514600"/>
            <a:ext cx="11064240" cy="27432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Random, stratified by WQI tier, seed 42 · no station or time hold-out · reported metrics are on validation; the test set has not been scored</a:t>
            </a:r>
            <a:endParaRPr lang="en-US" sz="1200" dirty="0"/>
          </a:p>
        </p:txBody>
      </p:sp>
      <p:sp>
        <p:nvSpPr>
          <p:cNvPr id="14" name="Shape 11"/>
          <p:cNvSpPr/>
          <p:nvPr/>
        </p:nvSpPr>
        <p:spPr>
          <a:xfrm>
            <a:off x="548640" y="3017520"/>
            <a:ext cx="2651760" cy="3017520"/>
          </a:xfrm>
          <a:prstGeom prst="rect">
            <a:avLst/>
          </a:prstGeom>
          <a:solidFill>
            <a:srgbClr val="F4F8FA"/>
          </a:solidFill>
          <a:ln w="12700">
            <a:solidFill>
              <a:srgbClr val="F4F8FA"/>
            </a:solidFill>
            <a:prstDash val="solid"/>
          </a:ln>
        </p:spPr>
      </p:sp>
      <p:sp>
        <p:nvSpPr>
          <p:cNvPr id="15" name="Text 12"/>
          <p:cNvSpPr txBox="1"/>
          <p:nvPr/>
        </p:nvSpPr>
        <p:spPr>
          <a:xfrm>
            <a:off x="731520" y="3154680"/>
            <a:ext cx="2331720" cy="365760"/>
          </a:xfrm>
          <a:prstGeom prst="rect">
            <a:avLst/>
          </a:prstGeom>
          <a:noFill/>
          <a:ln/>
        </p:spPr>
        <p:txBody>
          <a:bodyPr wrap="square" lIns="0" tIns="0" rIns="0" bIns="0" rtlCol="0" anchor="t"/>
          <a:lstStyle/>
          <a:p>
            <a:pPr indent="0" marL="0">
              <a:buNone/>
            </a:pPr>
            <a:r>
              <a:rPr lang="en-US" sz="1800" b="1" dirty="0">
                <a:solidFill>
                  <a:srgbClr val="0E7C86"/>
                </a:solidFill>
                <a:latin typeface="Cambria" pitchFamily="34" charset="0"/>
                <a:ea typeface="Cambria" pitchFamily="34" charset="-122"/>
                <a:cs typeface="Cambria" pitchFamily="34" charset="-120"/>
              </a:rPr>
              <a:t>Mean baseline</a:t>
            </a:r>
            <a:endParaRPr lang="en-US" sz="1800" dirty="0"/>
          </a:p>
        </p:txBody>
      </p:sp>
      <p:sp>
        <p:nvSpPr>
          <p:cNvPr id="16" name="Text 13"/>
          <p:cNvSpPr txBox="1"/>
          <p:nvPr/>
        </p:nvSpPr>
        <p:spPr>
          <a:xfrm>
            <a:off x="731520" y="3611880"/>
            <a:ext cx="2331720" cy="1463040"/>
          </a:xfrm>
          <a:prstGeom prst="rect">
            <a:avLst/>
          </a:prstGeom>
          <a:noFill/>
          <a:ln/>
        </p:spPr>
        <p:txBody>
          <a:bodyPr wrap="square" lIns="0" tIns="0" rIns="0" bIns="0" rtlCol="0" anchor="t"/>
          <a:lstStyle/>
          <a:p>
            <a:pPr indent="0" marL="0">
              <a:buNone/>
            </a:pPr>
            <a:r>
              <a:rPr lang="en-US" sz="1300" dirty="0">
                <a:solidFill>
                  <a:srgbClr val="12202E"/>
                </a:solidFill>
                <a:latin typeface="Calibri" pitchFamily="34" charset="0"/>
                <a:ea typeface="Calibri" pitchFamily="34" charset="-122"/>
                <a:cs typeface="Calibri" pitchFamily="34" charset="-120"/>
              </a:rPr>
              <a:t>Predicts the training mean (85.05). The floor any model must beat.</a:t>
            </a:r>
            <a:endParaRPr lang="en-US" sz="1300" dirty="0"/>
          </a:p>
        </p:txBody>
      </p:sp>
      <p:sp>
        <p:nvSpPr>
          <p:cNvPr id="17" name="Text 14"/>
          <p:cNvSpPr txBox="1"/>
          <p:nvPr/>
        </p:nvSpPr>
        <p:spPr>
          <a:xfrm>
            <a:off x="731520" y="5120640"/>
            <a:ext cx="2331720" cy="822960"/>
          </a:xfrm>
          <a:prstGeom prst="rect">
            <a:avLst/>
          </a:prstGeom>
          <a:noFill/>
          <a:ln/>
        </p:spPr>
        <p:txBody>
          <a:bodyPr wrap="square" lIns="0" tIns="0" rIns="0" bIns="0" rtlCol="0" anchor="t"/>
          <a:lstStyle/>
          <a:p>
            <a:pPr indent="0" marL="0">
              <a:buNone/>
            </a:pPr>
            <a:r>
              <a:rPr lang="en-US" sz="1200" b="1" dirty="0">
                <a:solidFill>
                  <a:srgbClr val="5B6B7A"/>
                </a:solidFill>
                <a:latin typeface="Calibri" pitchFamily="34" charset="0"/>
                <a:ea typeface="Calibri" pitchFamily="34" charset="-122"/>
                <a:cs typeface="Calibri" pitchFamily="34" charset="-120"/>
              </a:rPr>
              <a:t>No fitting beyond the mean</a:t>
            </a:r>
            <a:endParaRPr lang="en-US" sz="1200" dirty="0"/>
          </a:p>
        </p:txBody>
      </p:sp>
      <p:sp>
        <p:nvSpPr>
          <p:cNvPr id="18" name="Shape 15"/>
          <p:cNvSpPr/>
          <p:nvPr/>
        </p:nvSpPr>
        <p:spPr>
          <a:xfrm>
            <a:off x="3355848" y="3017520"/>
            <a:ext cx="2651760" cy="3017520"/>
          </a:xfrm>
          <a:prstGeom prst="rect">
            <a:avLst/>
          </a:prstGeom>
          <a:solidFill>
            <a:srgbClr val="F4F8FA"/>
          </a:solidFill>
          <a:ln w="12700">
            <a:solidFill>
              <a:srgbClr val="F4F8FA"/>
            </a:solidFill>
            <a:prstDash val="solid"/>
          </a:ln>
        </p:spPr>
      </p:sp>
      <p:sp>
        <p:nvSpPr>
          <p:cNvPr id="19" name="Text 16"/>
          <p:cNvSpPr txBox="1"/>
          <p:nvPr/>
        </p:nvSpPr>
        <p:spPr>
          <a:xfrm>
            <a:off x="3538728" y="3154680"/>
            <a:ext cx="2331720" cy="365760"/>
          </a:xfrm>
          <a:prstGeom prst="rect">
            <a:avLst/>
          </a:prstGeom>
          <a:noFill/>
          <a:ln/>
        </p:spPr>
        <p:txBody>
          <a:bodyPr wrap="square" lIns="0" tIns="0" rIns="0" bIns="0" rtlCol="0" anchor="t"/>
          <a:lstStyle/>
          <a:p>
            <a:pPr indent="0" marL="0">
              <a:buNone/>
            </a:pPr>
            <a:r>
              <a:rPr lang="en-US" sz="1800" b="1" dirty="0">
                <a:solidFill>
                  <a:srgbClr val="0E7C86"/>
                </a:solidFill>
                <a:latin typeface="Cambria" pitchFamily="34" charset="0"/>
                <a:ea typeface="Cambria" pitchFamily="34" charset="-122"/>
                <a:cs typeface="Cambria" pitchFamily="34" charset="-120"/>
              </a:rPr>
              <a:t>Random Forest</a:t>
            </a:r>
            <a:endParaRPr lang="en-US" sz="1800" dirty="0"/>
          </a:p>
        </p:txBody>
      </p:sp>
      <p:sp>
        <p:nvSpPr>
          <p:cNvPr id="20" name="Text 17"/>
          <p:cNvSpPr txBox="1"/>
          <p:nvPr/>
        </p:nvSpPr>
        <p:spPr>
          <a:xfrm>
            <a:off x="3538728" y="3611880"/>
            <a:ext cx="2331720" cy="1463040"/>
          </a:xfrm>
          <a:prstGeom prst="rect">
            <a:avLst/>
          </a:prstGeom>
          <a:noFill/>
          <a:ln/>
        </p:spPr>
        <p:txBody>
          <a:bodyPr wrap="square" lIns="0" tIns="0" rIns="0" bIns="0" rtlCol="0" anchor="t"/>
          <a:lstStyle/>
          <a:p>
            <a:pPr indent="0" marL="0">
              <a:buNone/>
            </a:pPr>
            <a:r>
              <a:rPr lang="en-US" sz="1300" dirty="0">
                <a:solidFill>
                  <a:srgbClr val="12202E"/>
                </a:solidFill>
                <a:latin typeface="Calibri" pitchFamily="34" charset="0"/>
                <a:ea typeface="Calibri" pitchFamily="34" charset="-122"/>
                <a:cs typeface="Calibri" pitchFamily="34" charset="-120"/>
              </a:rPr>
              <a:t>30 trees, max depth 14, min leaf 5, all 38 features considered per split, seed 42.</a:t>
            </a:r>
            <a:endParaRPr lang="en-US" sz="1300" dirty="0"/>
          </a:p>
        </p:txBody>
      </p:sp>
      <p:sp>
        <p:nvSpPr>
          <p:cNvPr id="21" name="Text 18"/>
          <p:cNvSpPr txBox="1"/>
          <p:nvPr/>
        </p:nvSpPr>
        <p:spPr>
          <a:xfrm>
            <a:off x="3538728" y="5120640"/>
            <a:ext cx="2331720" cy="822960"/>
          </a:xfrm>
          <a:prstGeom prst="rect">
            <a:avLst/>
          </a:prstGeom>
          <a:noFill/>
          <a:ln/>
        </p:spPr>
        <p:txBody>
          <a:bodyPr wrap="square" lIns="0" tIns="0" rIns="0" bIns="0" rtlCol="0" anchor="t"/>
          <a:lstStyle/>
          <a:p>
            <a:pPr indent="0" marL="0">
              <a:buNone/>
            </a:pPr>
            <a:r>
              <a:rPr lang="en-US" sz="1200" b="1" dirty="0">
                <a:solidFill>
                  <a:srgbClr val="5B6B7A"/>
                </a:solidFill>
                <a:latin typeface="Calibri" pitchFamily="34" charset="0"/>
                <a:ea typeface="Calibri" pitchFamily="34" charset="-122"/>
                <a:cs typeface="Calibri" pitchFamily="34" charset="-120"/>
              </a:rPr>
              <a:t>Notebook = saved model</a:t>
            </a:r>
            <a:endParaRPr lang="en-US" sz="1200" dirty="0"/>
          </a:p>
        </p:txBody>
      </p:sp>
      <p:sp>
        <p:nvSpPr>
          <p:cNvPr id="22" name="Shape 19"/>
          <p:cNvSpPr/>
          <p:nvPr/>
        </p:nvSpPr>
        <p:spPr>
          <a:xfrm>
            <a:off x="6163056" y="3017520"/>
            <a:ext cx="2651760" cy="3017520"/>
          </a:xfrm>
          <a:prstGeom prst="rect">
            <a:avLst/>
          </a:prstGeom>
          <a:solidFill>
            <a:srgbClr val="F4F8FA"/>
          </a:solidFill>
          <a:ln w="12700">
            <a:solidFill>
              <a:srgbClr val="F4F8FA"/>
            </a:solidFill>
            <a:prstDash val="solid"/>
          </a:ln>
        </p:spPr>
      </p:sp>
      <p:sp>
        <p:nvSpPr>
          <p:cNvPr id="23" name="Text 20"/>
          <p:cNvSpPr txBox="1"/>
          <p:nvPr/>
        </p:nvSpPr>
        <p:spPr>
          <a:xfrm>
            <a:off x="6345936" y="3154680"/>
            <a:ext cx="2331720" cy="365760"/>
          </a:xfrm>
          <a:prstGeom prst="rect">
            <a:avLst/>
          </a:prstGeom>
          <a:noFill/>
          <a:ln/>
        </p:spPr>
        <p:txBody>
          <a:bodyPr wrap="square" lIns="0" tIns="0" rIns="0" bIns="0" rtlCol="0" anchor="t"/>
          <a:lstStyle/>
          <a:p>
            <a:pPr indent="0" marL="0">
              <a:buNone/>
            </a:pPr>
            <a:r>
              <a:rPr lang="en-US" sz="1800" b="1" dirty="0">
                <a:solidFill>
                  <a:srgbClr val="0E7C86"/>
                </a:solidFill>
                <a:latin typeface="Cambria" pitchFamily="34" charset="0"/>
                <a:ea typeface="Cambria" pitchFamily="34" charset="-122"/>
                <a:cs typeface="Cambria" pitchFamily="34" charset="-120"/>
              </a:rPr>
              <a:t>XGBoost</a:t>
            </a:r>
            <a:endParaRPr lang="en-US" sz="1800" dirty="0"/>
          </a:p>
        </p:txBody>
      </p:sp>
      <p:sp>
        <p:nvSpPr>
          <p:cNvPr id="24" name="Text 21"/>
          <p:cNvSpPr txBox="1"/>
          <p:nvPr/>
        </p:nvSpPr>
        <p:spPr>
          <a:xfrm>
            <a:off x="6345936" y="3611880"/>
            <a:ext cx="2331720" cy="1463040"/>
          </a:xfrm>
          <a:prstGeom prst="rect">
            <a:avLst/>
          </a:prstGeom>
          <a:noFill/>
          <a:ln/>
        </p:spPr>
        <p:txBody>
          <a:bodyPr wrap="square" lIns="0" tIns="0" rIns="0" bIns="0" rtlCol="0" anchor="t"/>
          <a:lstStyle/>
          <a:p>
            <a:pPr indent="0" marL="0">
              <a:buNone/>
            </a:pPr>
            <a:r>
              <a:rPr lang="en-US" sz="1300" dirty="0">
                <a:solidFill>
                  <a:srgbClr val="12202E"/>
                </a:solidFill>
                <a:latin typeface="Calibri" pitchFamily="34" charset="0"/>
                <a:ea typeface="Calibri" pitchFamily="34" charset="-122"/>
                <a:cs typeface="Calibri" pitchFamily="34" charset="-120"/>
              </a:rPr>
              <a:t>≤150 rounds, depth 6, η 0.08, subsample 0.8, colsample 0.8; early stopping (20) on validation; best round 149.</a:t>
            </a:r>
            <a:endParaRPr lang="en-US" sz="1300" dirty="0"/>
          </a:p>
        </p:txBody>
      </p:sp>
      <p:sp>
        <p:nvSpPr>
          <p:cNvPr id="25" name="Text 22"/>
          <p:cNvSpPr txBox="1"/>
          <p:nvPr/>
        </p:nvSpPr>
        <p:spPr>
          <a:xfrm>
            <a:off x="6345936" y="5120640"/>
            <a:ext cx="2331720" cy="822960"/>
          </a:xfrm>
          <a:prstGeom prst="rect">
            <a:avLst/>
          </a:prstGeom>
          <a:noFill/>
          <a:ln/>
        </p:spPr>
        <p:txBody>
          <a:bodyPr wrap="square" lIns="0" tIns="0" rIns="0" bIns="0" rtlCol="0" anchor="t"/>
          <a:lstStyle/>
          <a:p>
            <a:pPr indent="0" marL="0">
              <a:buNone/>
            </a:pPr>
            <a:r>
              <a:rPr lang="en-US" sz="1200" b="1" dirty="0">
                <a:solidFill>
                  <a:srgbClr val="5B6B7A"/>
                </a:solidFill>
                <a:latin typeface="Calibri" pitchFamily="34" charset="0"/>
                <a:ea typeface="Calibri" pitchFamily="34" charset="-122"/>
                <a:cs typeface="Calibri" pitchFamily="34" charset="-120"/>
              </a:rPr>
              <a:t>Early stopping uses the validation set</a:t>
            </a:r>
            <a:endParaRPr lang="en-US" sz="1200" dirty="0"/>
          </a:p>
        </p:txBody>
      </p:sp>
      <p:sp>
        <p:nvSpPr>
          <p:cNvPr id="26" name="Shape 23"/>
          <p:cNvSpPr/>
          <p:nvPr/>
        </p:nvSpPr>
        <p:spPr>
          <a:xfrm>
            <a:off x="8970264" y="3017520"/>
            <a:ext cx="2651760" cy="3017520"/>
          </a:xfrm>
          <a:prstGeom prst="rect">
            <a:avLst/>
          </a:prstGeom>
          <a:solidFill>
            <a:srgbClr val="FFF3DC"/>
          </a:solidFill>
          <a:ln w="12700">
            <a:solidFill>
              <a:srgbClr val="FFF3DC"/>
            </a:solidFill>
            <a:prstDash val="solid"/>
          </a:ln>
        </p:spPr>
      </p:sp>
      <p:sp>
        <p:nvSpPr>
          <p:cNvPr id="27" name="Text 24"/>
          <p:cNvSpPr txBox="1"/>
          <p:nvPr/>
        </p:nvSpPr>
        <p:spPr>
          <a:xfrm>
            <a:off x="9153144" y="3154680"/>
            <a:ext cx="2331720" cy="365760"/>
          </a:xfrm>
          <a:prstGeom prst="rect">
            <a:avLst/>
          </a:prstGeom>
          <a:noFill/>
          <a:ln/>
        </p:spPr>
        <p:txBody>
          <a:bodyPr wrap="square" lIns="0" tIns="0" rIns="0" bIns="0" rtlCol="0" anchor="t"/>
          <a:lstStyle/>
          <a:p>
            <a:pPr indent="0" marL="0">
              <a:buNone/>
            </a:pPr>
            <a:r>
              <a:rPr lang="en-US" sz="1800" b="1" dirty="0">
                <a:solidFill>
                  <a:srgbClr val="D98A1F"/>
                </a:solidFill>
                <a:latin typeface="Cambria" pitchFamily="34" charset="0"/>
                <a:ea typeface="Cambria" pitchFamily="34" charset="-122"/>
                <a:cs typeface="Cambria" pitchFamily="34" charset="-120"/>
              </a:rPr>
              <a:t>Neural network</a:t>
            </a:r>
            <a:endParaRPr lang="en-US" sz="1800" dirty="0"/>
          </a:p>
        </p:txBody>
      </p:sp>
      <p:sp>
        <p:nvSpPr>
          <p:cNvPr id="28" name="Text 25"/>
          <p:cNvSpPr txBox="1"/>
          <p:nvPr/>
        </p:nvSpPr>
        <p:spPr>
          <a:xfrm>
            <a:off x="9153144" y="3611880"/>
            <a:ext cx="2331720" cy="1463040"/>
          </a:xfrm>
          <a:prstGeom prst="rect">
            <a:avLst/>
          </a:prstGeom>
          <a:noFill/>
          <a:ln/>
        </p:spPr>
        <p:txBody>
          <a:bodyPr wrap="square" lIns="0" tIns="0" rIns="0" bIns="0" rtlCol="0" anchor="t"/>
          <a:lstStyle/>
          <a:p>
            <a:pPr indent="0" marL="0">
              <a:buNone/>
            </a:pPr>
            <a:r>
              <a:rPr lang="en-US" sz="1300" dirty="0">
                <a:solidFill>
                  <a:srgbClr val="12202E"/>
                </a:solidFill>
                <a:latin typeface="Calibri" pitchFamily="34" charset="0"/>
                <a:ea typeface="Calibri" pitchFamily="34" charset="-122"/>
                <a:cs typeface="Calibri" pitchFamily="34" charset="-120"/>
              </a:rPr>
              <a:t>Not implemented in this repo version. Planned for Phase 2 (multi-task MLP).</a:t>
            </a:r>
            <a:endParaRPr lang="en-US" sz="1300" dirty="0"/>
          </a:p>
        </p:txBody>
      </p:sp>
      <p:sp>
        <p:nvSpPr>
          <p:cNvPr id="29" name="Text 26"/>
          <p:cNvSpPr txBox="1"/>
          <p:nvPr/>
        </p:nvSpPr>
        <p:spPr>
          <a:xfrm>
            <a:off x="9153144" y="5120640"/>
            <a:ext cx="2331720" cy="822960"/>
          </a:xfrm>
          <a:prstGeom prst="rect">
            <a:avLst/>
          </a:prstGeom>
          <a:noFill/>
          <a:ln/>
        </p:spPr>
        <p:txBody>
          <a:bodyPr wrap="square" lIns="0" tIns="0" rIns="0" bIns="0" rtlCol="0" anchor="t"/>
          <a:lstStyle/>
          <a:p>
            <a:pPr indent="0" marL="0">
              <a:buNone/>
            </a:pPr>
            <a:r>
              <a:rPr lang="en-US" sz="1200" b="1" dirty="0">
                <a:solidFill>
                  <a:srgbClr val="D98A1F"/>
                </a:solidFill>
                <a:latin typeface="Calibri" pitchFamily="34" charset="0"/>
                <a:ea typeface="Calibri" pitchFamily="34" charset="-122"/>
                <a:cs typeface="Calibri" pitchFamily="34" charset="-120"/>
              </a:rPr>
              <a:t>No results claimed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0E7C86"/>
                </a:solidFill>
                <a:latin typeface="Calibri" pitchFamily="34" charset="0"/>
                <a:ea typeface="Calibri" pitchFamily="34" charset="-122"/>
                <a:cs typeface="Calibri" pitchFamily="34" charset="-120"/>
              </a:rPr>
              <a:t>MODEL BENCHMARKING</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0B1F33"/>
                </a:solidFill>
                <a:latin typeface="Cambria" pitchFamily="34" charset="0"/>
                <a:ea typeface="Cambria" pitchFamily="34" charset="-122"/>
                <a:cs typeface="Cambria" pitchFamily="34" charset="-120"/>
              </a:rPr>
              <a:t>Tree ensembles reproduce the index almost exactly on validation rows</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2651760"/>
                <a:gridCol w="1005840"/>
                <a:gridCol w="1097280"/>
                <a:gridCol w="109728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0B1F33"/>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MAE</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0B1F33"/>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RMSE</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0B1F33"/>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R²</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0B1F33"/>
                    </a:solidFill>
                  </a:tcPr>
                </a:tc>
              </a:tr>
              <a:tr h="457200">
                <a:tc>
                  <a:txBody>
                    <a:bodyPr/>
                    <a:lstStyle/>
                    <a:p>
                      <a:pPr algn="l" indent="0" marL="0">
                        <a:buNone/>
                      </a:pPr>
                      <a:r>
                        <a:rPr lang="en-US" sz="1400" dirty="0">
                          <a:solidFill>
                            <a:srgbClr val="12202E"/>
                          </a:solidFill>
                          <a:latin typeface="Calibri" pitchFamily="34" charset="0"/>
                          <a:ea typeface="Calibri" pitchFamily="34" charset="-122"/>
                          <a:cs typeface="Calibri" pitchFamily="34" charset="-120"/>
                        </a:rPr>
                        <a:t>Mean baseline</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2202E"/>
                          </a:solidFill>
                          <a:latin typeface="Calibri" pitchFamily="34" charset="0"/>
                          <a:ea typeface="Calibri" pitchFamily="34" charset="-122"/>
                          <a:cs typeface="Calibri" pitchFamily="34" charset="-120"/>
                        </a:rPr>
                        <a:t>14.130</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2202E"/>
                          </a:solidFill>
                          <a:latin typeface="Calibri" pitchFamily="34" charset="0"/>
                          <a:ea typeface="Calibri" pitchFamily="34" charset="-122"/>
                          <a:cs typeface="Calibri" pitchFamily="34" charset="-120"/>
                        </a:rPr>
                        <a:t>17.656</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2202E"/>
                          </a:solidFill>
                          <a:latin typeface="Calibri" pitchFamily="34" charset="0"/>
                          <a:ea typeface="Calibri" pitchFamily="34" charset="-122"/>
                          <a:cs typeface="Calibri" pitchFamily="34" charset="-120"/>
                        </a:rPr>
                        <a:t>0.0000</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2202E"/>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4F6"/>
                    </a:solidFill>
                  </a:tcPr>
                </a:tc>
                <a:tc>
                  <a:txBody>
                    <a:bodyPr/>
                    <a:lstStyle/>
                    <a:p>
                      <a:pPr algn="r" indent="0" marL="0">
                        <a:buNone/>
                      </a:pPr>
                      <a:r>
                        <a:rPr lang="en-US" sz="1400" b="1" dirty="0">
                          <a:solidFill>
                            <a:srgbClr val="12202E"/>
                          </a:solidFill>
                          <a:latin typeface="Calibri" pitchFamily="34" charset="0"/>
                          <a:ea typeface="Calibri" pitchFamily="34" charset="-122"/>
                          <a:cs typeface="Calibri" pitchFamily="34" charset="-120"/>
                        </a:rPr>
                        <a:t>0.052</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4F6"/>
                    </a:solidFill>
                  </a:tcPr>
                </a:tc>
                <a:tc>
                  <a:txBody>
                    <a:bodyPr/>
                    <a:lstStyle/>
                    <a:p>
                      <a:pPr algn="r" indent="0" marL="0">
                        <a:buNone/>
                      </a:pPr>
                      <a:r>
                        <a:rPr lang="en-US" sz="1400" b="1" dirty="0">
                          <a:solidFill>
                            <a:srgbClr val="12202E"/>
                          </a:solidFill>
                          <a:latin typeface="Calibri" pitchFamily="34" charset="0"/>
                          <a:ea typeface="Calibri" pitchFamily="34" charset="-122"/>
                          <a:cs typeface="Calibri" pitchFamily="34" charset="-120"/>
                        </a:rPr>
                        <a:t>0.208</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4F6"/>
                    </a:solidFill>
                  </a:tcPr>
                </a:tc>
                <a:tc>
                  <a:txBody>
                    <a:bodyPr/>
                    <a:lstStyle/>
                    <a:p>
                      <a:pPr algn="r" indent="0" marL="0">
                        <a:buNone/>
                      </a:pPr>
                      <a:r>
                        <a:rPr lang="en-US" sz="1400" b="1" dirty="0">
                          <a:solidFill>
                            <a:srgbClr val="12202E"/>
                          </a:solidFill>
                          <a:latin typeface="Calibri" pitchFamily="34" charset="0"/>
                          <a:ea typeface="Calibri" pitchFamily="34" charset="-122"/>
                          <a:cs typeface="Calibri" pitchFamily="34" charset="-120"/>
                        </a:rPr>
                        <a:t>0.9999</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4F6"/>
                    </a:solidFill>
                  </a:tcPr>
                </a:tc>
              </a:tr>
              <a:tr h="457200">
                <a:tc>
                  <a:txBody>
                    <a:bodyPr/>
                    <a:lstStyle/>
                    <a:p>
                      <a:pPr algn="l" indent="0" marL="0">
                        <a:buNone/>
                      </a:pPr>
                      <a:r>
                        <a:rPr lang="en-US" sz="1400" dirty="0">
                          <a:solidFill>
                            <a:srgbClr val="12202E"/>
                          </a:solidFill>
                          <a:latin typeface="Calibri" pitchFamily="34" charset="0"/>
                          <a:ea typeface="Calibri" pitchFamily="34" charset="-122"/>
                          <a:cs typeface="Calibri" pitchFamily="34" charset="-120"/>
                        </a:rPr>
                        <a:t>XGBoost (comparison file)</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2202E"/>
                          </a:solidFill>
                          <a:latin typeface="Calibri" pitchFamily="34" charset="0"/>
                          <a:ea typeface="Calibri" pitchFamily="34" charset="-122"/>
                          <a:cs typeface="Calibri" pitchFamily="34" charset="-120"/>
                        </a:rPr>
                        <a:t>0.137</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2202E"/>
                          </a:solidFill>
                          <a:latin typeface="Calibri" pitchFamily="34" charset="0"/>
                          <a:ea typeface="Calibri" pitchFamily="34" charset="-122"/>
                          <a:cs typeface="Calibri" pitchFamily="34" charset="-120"/>
                        </a:rPr>
                        <a:t>0.374</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2202E"/>
                          </a:solidFill>
                          <a:latin typeface="Calibri" pitchFamily="34" charset="0"/>
                          <a:ea typeface="Calibri" pitchFamily="34" charset="-122"/>
                          <a:cs typeface="Calibri" pitchFamily="34" charset="-120"/>
                        </a:rPr>
                        <a:t>0.9996</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2202E"/>
                          </a:solidFill>
                          <a:latin typeface="Calibri" pitchFamily="34" charset="0"/>
                          <a:ea typeface="Calibri" pitchFamily="34" charset="-122"/>
                          <a:cs typeface="Calibri" pitchFamily="34" charset="-120"/>
                        </a:rPr>
                        <a:t>XGBoost (saved model run)†</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2202E"/>
                          </a:solidFill>
                          <a:latin typeface="Calibri" pitchFamily="34" charset="0"/>
                          <a:ea typeface="Calibri" pitchFamily="34" charset="-122"/>
                          <a:cs typeface="Calibri" pitchFamily="34" charset="-120"/>
                        </a:rPr>
                        <a:t>0.161</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2202E"/>
                          </a:solidFill>
                          <a:latin typeface="Calibri" pitchFamily="34" charset="0"/>
                          <a:ea typeface="Calibri" pitchFamily="34" charset="-122"/>
                          <a:cs typeface="Calibri" pitchFamily="34" charset="-120"/>
                        </a:rPr>
                        <a:t>0.437</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2202E"/>
                          </a:solidFill>
                          <a:latin typeface="Calibri" pitchFamily="34" charset="0"/>
                          <a:ea typeface="Calibri" pitchFamily="34" charset="-122"/>
                          <a:cs typeface="Calibri" pitchFamily="34" charset="-120"/>
                        </a:rPr>
                        <a:t>0.9994</a:t>
                      </a:r>
                      <a:endParaRPr lang="en-US" sz="1400" dirty="0">
                        <a:latin typeface="Calibri" charset="0"/>
                        <a:ea typeface="Calibri" charset="0"/>
                        <a:cs typeface="Calibri" charset="0"/>
                      </a:endParaRPr>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4206240"/>
            <a:ext cx="5852160" cy="82296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 Training notebook and the saved XGBoost model’s recorded validation RMSE (0.4372). The saved predictions file behind the comparison table disagrees; provenance unresolved. All values: validation set, 422,943 rows.</a:t>
            </a:r>
            <a:endParaRPr lang="en-US" sz="1200" dirty="0"/>
          </a:p>
        </p:txBody>
      </p:sp>
      <p:graphicFrame>
        <p:nvGraphicFramePr>
          <p:cNvPr id="9" name="Chart 0" descr=""/>
          <p:cNvGraphicFramePr/>
          <p:nvPr/>
        </p:nvGraphicFramePr>
        <p:xfrm>
          <a:off x="6675120" y="1691640"/>
          <a:ext cx="4965192" cy="3291840"/>
        </p:xfrm>
        <a:graphic xmlns:a="http://schemas.openxmlformats.org/drawingml/2006/main">
          <a:graphicData uri="http://schemas.openxmlformats.org/drawingml/2006/chart">
            <c:chart xmlns:c="http://schemas.openxmlformats.org/drawingml/2006/chart" r:id="rId1"/>
          </a:graphicData>
        </a:graphic>
      </p:graphicFrame>
      <p:sp>
        <p:nvSpPr>
          <p:cNvPr id="10" name="Shape 5"/>
          <p:cNvSpPr/>
          <p:nvPr/>
        </p:nvSpPr>
        <p:spPr>
          <a:xfrm>
            <a:off x="548640" y="5212080"/>
            <a:ext cx="11091672" cy="868680"/>
          </a:xfrm>
          <a:prstGeom prst="rect">
            <a:avLst/>
          </a:prstGeom>
          <a:solidFill>
            <a:srgbClr val="FFF3DC"/>
          </a:solidFill>
          <a:ln w="12700">
            <a:solidFill>
              <a:srgbClr val="FFF3DC"/>
            </a:solidFill>
            <a:prstDash val="solid"/>
          </a:ln>
        </p:spPr>
      </p:sp>
      <p:sp>
        <p:nvSpPr>
          <p:cNvPr id="11" name="Text 6"/>
          <p:cNvSpPr txBox="1"/>
          <p:nvPr/>
        </p:nvSpPr>
        <p:spPr>
          <a:xfrm>
            <a:off x="777240" y="5212080"/>
            <a:ext cx="10698480" cy="868680"/>
          </a:xfrm>
          <a:prstGeom prst="rect">
            <a:avLst/>
          </a:prstGeom>
          <a:noFill/>
          <a:ln/>
        </p:spPr>
        <p:txBody>
          <a:bodyPr wrap="square" lIns="0" tIns="0" rIns="0" bIns="0" rtlCol="0" anchor="ctr"/>
          <a:lstStyle/>
          <a:p>
            <a:pPr indent="0" marL="0">
              <a:buNone/>
            </a:pPr>
            <a:r>
              <a:rPr lang="en-US" sz="1300" b="1" dirty="0">
                <a:solidFill>
                  <a:srgbClr val="D98A1F"/>
                </a:solidFill>
                <a:latin typeface="Calibri" pitchFamily="34" charset="0"/>
                <a:ea typeface="Calibri" pitchFamily="34" charset="-122"/>
                <a:cs typeface="Calibri" pitchFamily="34" charset="-120"/>
              </a:rPr>
              <a:t>Qualification  </a:t>
            </a:r>
            <a:pPr indent="0" marL="0">
              <a:buNone/>
            </a:pPr>
            <a:r>
              <a:rPr lang="en-US" sz="1300" dirty="0">
                <a:solidFill>
                  <a:srgbClr val="12202E"/>
                </a:solidFill>
                <a:latin typeface="Calibri" pitchFamily="34" charset="0"/>
                <a:ea typeface="Calibri" pitchFamily="34" charset="-122"/>
                <a:cs typeface="Calibri" pitchFamily="34" charset="-120"/>
              </a:rPr>
              <a:t>These scores measure how well each model reconstructs the CCME index from same-time measurements on randomly held-out rows (the repo’s own notebook says so). They do not show forecasting skill. Latency omitted: not measured in the repo.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0E7C86"/>
                </a:solidFill>
                <a:latin typeface="Calibri" pitchFamily="34" charset="0"/>
                <a:ea typeface="Calibri" pitchFamily="34" charset="-122"/>
                <a:cs typeface="Calibri" pitchFamily="34" charset="-120"/>
              </a:rPr>
              <a:t>RELIABILITY AND VALIDITY</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0B1F33"/>
                </a:solidFill>
                <a:latin typeface="Cambria" pitchFamily="34" charset="0"/>
                <a:ea typeface="Cambria" pitchFamily="34" charset="-122"/>
                <a:cs typeface="Cambria" pitchFamily="34" charset="-120"/>
              </a:rPr>
              <a:t>Why R² ≈ 0.9999 needs careful reading: what the code shows</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737360"/>
            <a:ext cx="3611880" cy="3063240"/>
          </a:xfrm>
          <a:prstGeom prst="rect">
            <a:avLst/>
          </a:prstGeom>
          <a:solidFill>
            <a:srgbClr val="F4F8FA"/>
          </a:solidFill>
          <a:ln w="12700">
            <a:solidFill>
              <a:srgbClr val="F4F8FA"/>
            </a:solidFill>
            <a:prstDash val="solid"/>
          </a:ln>
        </p:spPr>
      </p:sp>
      <p:sp>
        <p:nvSpPr>
          <p:cNvPr id="8" name="Text 5"/>
          <p:cNvSpPr txBox="1"/>
          <p:nvPr/>
        </p:nvSpPr>
        <p:spPr>
          <a:xfrm>
            <a:off x="731520" y="1847088"/>
            <a:ext cx="3291840" cy="640080"/>
          </a:xfrm>
          <a:prstGeom prst="rect">
            <a:avLst/>
          </a:prstGeom>
          <a:noFill/>
          <a:ln/>
        </p:spPr>
        <p:txBody>
          <a:bodyPr wrap="square" lIns="0" tIns="0" rIns="0" bIns="0" rtlCol="0" anchor="t"/>
          <a:lstStyle/>
          <a:p>
            <a:pPr indent="0" marL="0">
              <a:buNone/>
            </a:pPr>
            <a:r>
              <a:rPr lang="en-US" sz="1600" b="1" dirty="0">
                <a:solidFill>
                  <a:srgbClr val="0E7C86"/>
                </a:solidFill>
                <a:latin typeface="Cambria" pitchFamily="34" charset="0"/>
                <a:ea typeface="Cambria" pitchFamily="34" charset="-122"/>
                <a:cs typeface="Cambria" pitchFamily="34" charset="-120"/>
              </a:rPr>
              <a:t>1  Target is a formula of the inputs</a:t>
            </a:r>
            <a:endParaRPr lang="en-US" sz="1600" dirty="0"/>
          </a:p>
        </p:txBody>
      </p:sp>
      <p:sp>
        <p:nvSpPr>
          <p:cNvPr id="9" name="Text 6"/>
          <p:cNvSpPr txBox="1"/>
          <p:nvPr/>
        </p:nvSpPr>
        <p:spPr>
          <a:xfrm>
            <a:off x="731520" y="2514600"/>
            <a:ext cx="3291840" cy="1783080"/>
          </a:xfrm>
          <a:prstGeom prst="rect">
            <a:avLst/>
          </a:prstGeom>
          <a:noFill/>
          <a:ln/>
        </p:spPr>
        <p:txBody>
          <a:bodyPr wrap="square" lIns="0" tIns="0" rIns="0" bIns="0" rtlCol="0" anchor="t"/>
          <a:lstStyle/>
          <a:p>
            <a:pPr indent="0" marL="0">
              <a:buNone/>
            </a:pPr>
            <a:r>
              <a:rPr lang="en-US" sz="1300" dirty="0">
                <a:solidFill>
                  <a:srgbClr val="12202E"/>
                </a:solidFill>
                <a:latin typeface="Calibri" pitchFamily="34" charset="0"/>
                <a:ea typeface="Calibri" pitchFamily="34" charset="-122"/>
                <a:cs typeface="Calibri" pitchFamily="34" charset="-120"/>
              </a:rPr>
              <a:t>CCME_Values ships with the data and is a composite of the same eight measurements. High R² means the model learned the formula. The repo’s evaluation notebook says exactly this.</a:t>
            </a:r>
            <a:endParaRPr lang="en-US" sz="1300" dirty="0"/>
          </a:p>
        </p:txBody>
      </p:sp>
      <p:sp>
        <p:nvSpPr>
          <p:cNvPr id="10" name="Text 7"/>
          <p:cNvSpPr txBox="1"/>
          <p:nvPr/>
        </p:nvSpPr>
        <p:spPr>
          <a:xfrm>
            <a:off x="731520" y="4389120"/>
            <a:ext cx="3291840" cy="274320"/>
          </a:xfrm>
          <a:prstGeom prst="rect">
            <a:avLst/>
          </a:prstGeom>
          <a:noFill/>
          <a:ln/>
        </p:spPr>
        <p:txBody>
          <a:bodyPr wrap="square" lIns="0" tIns="0" rIns="0" bIns="0" rtlCol="0" anchor="t"/>
          <a:lstStyle/>
          <a:p>
            <a:pPr indent="0" marL="0">
              <a:buNone/>
            </a:pPr>
            <a:r>
              <a:rPr lang="en-US" sz="1200" b="1" dirty="0">
                <a:solidFill>
                  <a:srgbClr val="5B6B7A"/>
                </a:solidFill>
                <a:latin typeface="Calibri" pitchFamily="34" charset="0"/>
                <a:ea typeface="Calibri" pitchFamily="34" charset="-122"/>
                <a:cs typeface="Calibri" pitchFamily="34" charset="-120"/>
              </a:rPr>
              <a:t>Confirmed in repo</a:t>
            </a:r>
            <a:endParaRPr lang="en-US" sz="1200" dirty="0"/>
          </a:p>
        </p:txBody>
      </p:sp>
      <p:sp>
        <p:nvSpPr>
          <p:cNvPr id="11" name="Shape 8"/>
          <p:cNvSpPr/>
          <p:nvPr/>
        </p:nvSpPr>
        <p:spPr>
          <a:xfrm>
            <a:off x="4297680" y="1737360"/>
            <a:ext cx="3611880" cy="3063240"/>
          </a:xfrm>
          <a:prstGeom prst="rect">
            <a:avLst/>
          </a:prstGeom>
          <a:solidFill>
            <a:srgbClr val="EAF4F6"/>
          </a:solidFill>
          <a:ln w="12700">
            <a:solidFill>
              <a:srgbClr val="EAF4F6"/>
            </a:solidFill>
            <a:prstDash val="solid"/>
          </a:ln>
        </p:spPr>
      </p:sp>
      <p:sp>
        <p:nvSpPr>
          <p:cNvPr id="12" name="Text 9"/>
          <p:cNvSpPr txBox="1"/>
          <p:nvPr/>
        </p:nvSpPr>
        <p:spPr>
          <a:xfrm>
            <a:off x="4480560" y="1847088"/>
            <a:ext cx="3291840" cy="640080"/>
          </a:xfrm>
          <a:prstGeom prst="rect">
            <a:avLst/>
          </a:prstGeom>
          <a:noFill/>
          <a:ln/>
        </p:spPr>
        <p:txBody>
          <a:bodyPr wrap="square" lIns="0" tIns="0" rIns="0" bIns="0" rtlCol="0" anchor="t"/>
          <a:lstStyle/>
          <a:p>
            <a:pPr indent="0" marL="0">
              <a:buNone/>
            </a:pPr>
            <a:r>
              <a:rPr lang="en-US" sz="1600" b="1" dirty="0">
                <a:solidFill>
                  <a:srgbClr val="0E7C86"/>
                </a:solidFill>
                <a:latin typeface="Cambria" pitchFamily="34" charset="0"/>
                <a:ea typeface="Cambria" pitchFamily="34" charset="-122"/>
                <a:cs typeface="Cambria" pitchFamily="34" charset="-120"/>
              </a:rPr>
              <a:t>2  exceedance_counter re-checked</a:t>
            </a:r>
            <a:endParaRPr lang="en-US" sz="1600" dirty="0"/>
          </a:p>
        </p:txBody>
      </p:sp>
      <p:sp>
        <p:nvSpPr>
          <p:cNvPr id="13" name="Text 10"/>
          <p:cNvSpPr txBox="1"/>
          <p:nvPr/>
        </p:nvSpPr>
        <p:spPr>
          <a:xfrm>
            <a:off x="4480560" y="2514600"/>
            <a:ext cx="3291840" cy="1783080"/>
          </a:xfrm>
          <a:prstGeom prst="rect">
            <a:avLst/>
          </a:prstGeom>
          <a:noFill/>
          <a:ln/>
        </p:spPr>
        <p:txBody>
          <a:bodyPr wrap="square" lIns="0" tIns="0" rIns="0" bIns="0" rtlCol="0" anchor="t"/>
          <a:lstStyle/>
          <a:p>
            <a:pPr indent="0" marL="0">
              <a:buNone/>
            </a:pPr>
            <a:r>
              <a:rPr lang="en-US" sz="1300" dirty="0">
                <a:solidFill>
                  <a:srgbClr val="12202E"/>
                </a:solidFill>
                <a:latin typeface="Calibri" pitchFamily="34" charset="0"/>
                <a:ea typeface="Calibri" pitchFamily="34" charset="-122"/>
                <a:cs typeface="Calibri" pitchFamily="34" charset="-120"/>
              </a:rPr>
              <a:t>Built only from six input columns with its own thresholds; not a target column, not F₁–F₃ (not in the data). Legitimate but redundant. Ablation not yet run.</a:t>
            </a:r>
            <a:endParaRPr lang="en-US" sz="1300" dirty="0"/>
          </a:p>
        </p:txBody>
      </p:sp>
      <p:sp>
        <p:nvSpPr>
          <p:cNvPr id="14" name="Text 11"/>
          <p:cNvSpPr txBox="1"/>
          <p:nvPr/>
        </p:nvSpPr>
        <p:spPr>
          <a:xfrm>
            <a:off x="4480560" y="4389120"/>
            <a:ext cx="3291840" cy="274320"/>
          </a:xfrm>
          <a:prstGeom prst="rect">
            <a:avLst/>
          </a:prstGeom>
          <a:noFill/>
          <a:ln/>
        </p:spPr>
        <p:txBody>
          <a:bodyPr wrap="square" lIns="0" tIns="0" rIns="0" bIns="0" rtlCol="0" anchor="t"/>
          <a:lstStyle/>
          <a:p>
            <a:pPr indent="0" marL="0">
              <a:buNone/>
            </a:pPr>
            <a:r>
              <a:rPr lang="en-US" sz="1200" b="1" dirty="0">
                <a:solidFill>
                  <a:srgbClr val="5B6B7A"/>
                </a:solidFill>
                <a:latin typeface="Calibri" pitchFamily="34" charset="0"/>
                <a:ea typeface="Calibri" pitchFamily="34" charset="-122"/>
                <a:cs typeface="Calibri" pitchFamily="34" charset="-120"/>
              </a:rPr>
              <a:t>Re-assessed: no data-flow leak</a:t>
            </a:r>
            <a:endParaRPr lang="en-US" sz="1200" dirty="0"/>
          </a:p>
        </p:txBody>
      </p:sp>
      <p:sp>
        <p:nvSpPr>
          <p:cNvPr id="15" name="Shape 12"/>
          <p:cNvSpPr/>
          <p:nvPr/>
        </p:nvSpPr>
        <p:spPr>
          <a:xfrm>
            <a:off x="8046720" y="1737360"/>
            <a:ext cx="3611880" cy="3063240"/>
          </a:xfrm>
          <a:prstGeom prst="rect">
            <a:avLst/>
          </a:prstGeom>
          <a:solidFill>
            <a:srgbClr val="F4F8FA"/>
          </a:solidFill>
          <a:ln w="12700">
            <a:solidFill>
              <a:srgbClr val="F4F8FA"/>
            </a:solidFill>
            <a:prstDash val="solid"/>
          </a:ln>
        </p:spPr>
      </p:sp>
      <p:sp>
        <p:nvSpPr>
          <p:cNvPr id="16" name="Text 13"/>
          <p:cNvSpPr txBox="1"/>
          <p:nvPr/>
        </p:nvSpPr>
        <p:spPr>
          <a:xfrm>
            <a:off x="8229600" y="1847088"/>
            <a:ext cx="3291840" cy="640080"/>
          </a:xfrm>
          <a:prstGeom prst="rect">
            <a:avLst/>
          </a:prstGeom>
          <a:noFill/>
          <a:ln/>
        </p:spPr>
        <p:txBody>
          <a:bodyPr wrap="square" lIns="0" tIns="0" rIns="0" bIns="0" rtlCol="0" anchor="t"/>
          <a:lstStyle/>
          <a:p>
            <a:pPr indent="0" marL="0">
              <a:buNone/>
            </a:pPr>
            <a:r>
              <a:rPr lang="en-US" sz="1600" b="1" dirty="0">
                <a:solidFill>
                  <a:srgbClr val="0E7C86"/>
                </a:solidFill>
                <a:latin typeface="Cambria" pitchFamily="34" charset="0"/>
                <a:ea typeface="Cambria" pitchFamily="34" charset="-122"/>
                <a:cs typeface="Cambria" pitchFamily="34" charset="-120"/>
              </a:rPr>
              <a:t>3  Random split, early stopping</a:t>
            </a:r>
            <a:endParaRPr lang="en-US" sz="1600" dirty="0"/>
          </a:p>
        </p:txBody>
      </p:sp>
      <p:sp>
        <p:nvSpPr>
          <p:cNvPr id="17" name="Text 14"/>
          <p:cNvSpPr txBox="1"/>
          <p:nvPr/>
        </p:nvSpPr>
        <p:spPr>
          <a:xfrm>
            <a:off x="8229600" y="2514600"/>
            <a:ext cx="3291840" cy="1783080"/>
          </a:xfrm>
          <a:prstGeom prst="rect">
            <a:avLst/>
          </a:prstGeom>
          <a:noFill/>
          <a:ln/>
        </p:spPr>
        <p:txBody>
          <a:bodyPr wrap="square" lIns="0" tIns="0" rIns="0" bIns="0" rtlCol="0" anchor="t"/>
          <a:lstStyle/>
          <a:p>
            <a:pPr indent="0" marL="0">
              <a:buNone/>
            </a:pPr>
            <a:r>
              <a:rPr lang="en-US" sz="1300" dirty="0">
                <a:solidFill>
                  <a:srgbClr val="12202E"/>
                </a:solidFill>
                <a:latin typeface="Calibri" pitchFamily="34" charset="0"/>
                <a:ea typeface="Calibri" pitchFamily="34" charset="-122"/>
                <a:cs typeface="Calibri" pitchFamily="34" charset="-120"/>
              </a:rPr>
              <a:t>Stratified random split; per-Area lags built on full data, so neighbours cross partitions; XGBoost stops on validation; test set unscored.</a:t>
            </a:r>
            <a:endParaRPr lang="en-US" sz="1300" dirty="0"/>
          </a:p>
        </p:txBody>
      </p:sp>
      <p:sp>
        <p:nvSpPr>
          <p:cNvPr id="18" name="Text 15"/>
          <p:cNvSpPr txBox="1"/>
          <p:nvPr/>
        </p:nvSpPr>
        <p:spPr>
          <a:xfrm>
            <a:off x="8229600" y="4389120"/>
            <a:ext cx="3291840" cy="274320"/>
          </a:xfrm>
          <a:prstGeom prst="rect">
            <a:avLst/>
          </a:prstGeom>
          <a:noFill/>
          <a:ln/>
        </p:spPr>
        <p:txBody>
          <a:bodyPr wrap="square" lIns="0" tIns="0" rIns="0" bIns="0" rtlCol="0" anchor="t"/>
          <a:lstStyle/>
          <a:p>
            <a:pPr indent="0" marL="0">
              <a:buNone/>
            </a:pPr>
            <a:r>
              <a:rPr lang="en-US" sz="1200" b="1" dirty="0">
                <a:solidFill>
                  <a:srgbClr val="5B6B7A"/>
                </a:solidFill>
                <a:latin typeface="Calibri" pitchFamily="34" charset="0"/>
                <a:ea typeface="Calibri" pitchFamily="34" charset="-122"/>
                <a:cs typeface="Calibri" pitchFamily="34" charset="-120"/>
              </a:rPr>
              <a:t>Confirmed in code</a:t>
            </a:r>
            <a:endParaRPr lang="en-US" sz="1200" dirty="0"/>
          </a:p>
        </p:txBody>
      </p:sp>
      <p:sp>
        <p:nvSpPr>
          <p:cNvPr id="19" name="Shape 16"/>
          <p:cNvSpPr/>
          <p:nvPr/>
        </p:nvSpPr>
        <p:spPr>
          <a:xfrm>
            <a:off x="548640" y="4983480"/>
            <a:ext cx="5440680" cy="1234440"/>
          </a:xfrm>
          <a:prstGeom prst="rect">
            <a:avLst/>
          </a:prstGeom>
          <a:solidFill>
            <a:srgbClr val="EAF4F6"/>
          </a:solidFill>
          <a:ln w="12700">
            <a:solidFill>
              <a:srgbClr val="EAF4F6"/>
            </a:solidFill>
            <a:prstDash val="solid"/>
          </a:ln>
        </p:spPr>
      </p:sp>
      <p:sp>
        <p:nvSpPr>
          <p:cNvPr id="20" name="Text 17"/>
          <p:cNvSpPr txBox="1"/>
          <p:nvPr/>
        </p:nvSpPr>
        <p:spPr>
          <a:xfrm>
            <a:off x="731520" y="5074920"/>
            <a:ext cx="5120640" cy="109728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Can claim</a:t>
            </a:r>
            <a:endParaRPr lang="en-US" sz="1300" dirty="0"/>
          </a:p>
          <a:p>
            <a:pPr indent="0" marL="0">
              <a:buNone/>
            </a:pPr>
            <a:r>
              <a:rPr lang="en-US" sz="1300" dirty="0">
                <a:solidFill>
                  <a:srgbClr val="12202E"/>
                </a:solidFill>
                <a:latin typeface="Calibri" pitchFamily="34" charset="0"/>
                <a:ea typeface="Calibri" pitchFamily="34" charset="-122"/>
                <a:cs typeface="Calibri" pitchFamily="34" charset="-120"/>
              </a:rPr>
              <a:t>A fast, accurate surrogate of the CCME computation on this dataset (validation rows).</a:t>
            </a:r>
            <a:endParaRPr lang="en-US" sz="1300" dirty="0"/>
          </a:p>
        </p:txBody>
      </p:sp>
      <p:sp>
        <p:nvSpPr>
          <p:cNvPr id="21" name="Shape 18"/>
          <p:cNvSpPr/>
          <p:nvPr/>
        </p:nvSpPr>
        <p:spPr>
          <a:xfrm>
            <a:off x="6199632" y="4983480"/>
            <a:ext cx="5440680" cy="1234440"/>
          </a:xfrm>
          <a:prstGeom prst="rect">
            <a:avLst/>
          </a:prstGeom>
          <a:solidFill>
            <a:srgbClr val="FFF3DC"/>
          </a:solidFill>
          <a:ln w="12700">
            <a:solidFill>
              <a:srgbClr val="FFF3DC"/>
            </a:solidFill>
            <a:prstDash val="solid"/>
          </a:ln>
        </p:spPr>
      </p:sp>
      <p:sp>
        <p:nvSpPr>
          <p:cNvPr id="22" name="Text 19"/>
          <p:cNvSpPr txBox="1"/>
          <p:nvPr/>
        </p:nvSpPr>
        <p:spPr>
          <a:xfrm>
            <a:off x="6382512" y="5074920"/>
            <a:ext cx="5120640" cy="1097280"/>
          </a:xfrm>
          <a:prstGeom prst="rect">
            <a:avLst/>
          </a:prstGeom>
          <a:noFill/>
          <a:ln/>
        </p:spPr>
        <p:txBody>
          <a:bodyPr wrap="square" lIns="0" tIns="0" rIns="0" bIns="0" rtlCol="0" anchor="t"/>
          <a:lstStyle/>
          <a:p>
            <a:pPr indent="0" marL="0">
              <a:buNone/>
            </a:pPr>
            <a:r>
              <a:rPr lang="en-US" sz="1300" b="1" dirty="0">
                <a:solidFill>
                  <a:srgbClr val="D98A1F"/>
                </a:solidFill>
                <a:latin typeface="Calibri" pitchFamily="34" charset="0"/>
                <a:ea typeface="Calibri" pitchFamily="34" charset="-122"/>
                <a:cs typeface="Calibri" pitchFamily="34" charset="-120"/>
              </a:rPr>
              <a:t>Cannot claim</a:t>
            </a:r>
            <a:endParaRPr lang="en-US" sz="1300" dirty="0"/>
          </a:p>
          <a:p>
            <a:pPr indent="0" marL="0">
              <a:buNone/>
            </a:pPr>
            <a:r>
              <a:rPr lang="en-US" sz="1300" dirty="0">
                <a:solidFill>
                  <a:srgbClr val="12202E"/>
                </a:solidFill>
                <a:latin typeface="Calibri" pitchFamily="34" charset="0"/>
                <a:ea typeface="Calibri" pitchFamily="34" charset="-122"/>
                <a:cs typeface="Calibri" pitchFamily="34" charset="-120"/>
              </a:rPr>
              <a:t>Performance on unseen stations or future dates; independent water-quality forecasting.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0E7C86"/>
                </a:solidFill>
                <a:latin typeface="Calibri" pitchFamily="34" charset="0"/>
                <a:ea typeface="Calibri" pitchFamily="34" charset="-122"/>
                <a:cs typeface="Calibri" pitchFamily="34" charset="-120"/>
              </a:rPr>
              <a:t>WHAT DRIVES THE PREDICTIONS</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0B1F33"/>
                </a:solidFill>
                <a:latin typeface="Cambria" pitchFamily="34" charset="0"/>
                <a:ea typeface="Cambria" pitchFamily="34" charset="-122"/>
                <a:cs typeface="Cambria" pitchFamily="34" charset="-120"/>
              </a:rPr>
              <a:t>Orthophosphate dominates the models — a property of the index and data, not a causal finding</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12</a:t>
            </a:r>
            <a:endParaRPr lang="en-US" sz="1000" dirty="0"/>
          </a:p>
        </p:txBody>
      </p:sp>
      <p:graphicFrame>
        <p:nvGraphicFramePr>
          <p:cNvPr id="7" name="Chart 0" descr=""/>
          <p:cNvGraphicFramePr/>
          <p:nvPr/>
        </p:nvGraphicFramePr>
        <p:xfrm>
          <a:off x="548640" y="1691640"/>
          <a:ext cx="6309360" cy="3657600"/>
        </p:xfrm>
        <a:graphic xmlns:a="http://schemas.openxmlformats.org/drawingml/2006/main">
          <a:graphicData uri="http://schemas.openxmlformats.org/drawingml/2006/chart">
            <c:chart xmlns:c="http://schemas.openxmlformats.org/drawingml/2006/chart" r:id="rId1"/>
          </a:graphicData>
        </a:graphic>
      </p:graphicFrame>
      <p:pic>
        <p:nvPicPr>
          <p:cNvPr id="8" name="Image 0" descr="/home/claude/w/img2/16_MODEL_shap_summary_beeswarm.png">    </p:cNvPr>
          <p:cNvPicPr>
            <a:picLocks noChangeAspect="1"/>
          </p:cNvPicPr>
          <p:nvPr/>
        </p:nvPicPr>
        <p:blipFill>
          <a:blip r:embed="rId2"/>
          <a:stretch>
            <a:fillRect/>
          </a:stretch>
        </p:blipFill>
        <p:spPr>
          <a:xfrm>
            <a:off x="7178040" y="1691640"/>
            <a:ext cx="3657600" cy="3493008"/>
          </a:xfrm>
          <a:prstGeom prst="rect">
            <a:avLst/>
          </a:prstGeom>
        </p:spPr>
      </p:pic>
      <p:sp>
        <p:nvSpPr>
          <p:cNvPr id="9" name="Text 4"/>
          <p:cNvSpPr txBox="1"/>
          <p:nvPr/>
        </p:nvSpPr>
        <p:spPr>
          <a:xfrm>
            <a:off x="7178040" y="5212080"/>
            <a:ext cx="4480560" cy="274320"/>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TreeSHAP beeswarm, XGBoost, 250 validation rows (repo graph 16)</a:t>
            </a:r>
            <a:endParaRPr lang="en-US" sz="1100" dirty="0"/>
          </a:p>
        </p:txBody>
      </p:sp>
      <p:sp>
        <p:nvSpPr>
          <p:cNvPr id="10" name="Shape 5"/>
          <p:cNvSpPr/>
          <p:nvPr/>
        </p:nvSpPr>
        <p:spPr>
          <a:xfrm>
            <a:off x="548640" y="5577840"/>
            <a:ext cx="11091672" cy="685800"/>
          </a:xfrm>
          <a:prstGeom prst="rect">
            <a:avLst/>
          </a:prstGeom>
          <a:solidFill>
            <a:srgbClr val="FFF3DC"/>
          </a:solidFill>
          <a:ln w="12700">
            <a:solidFill>
              <a:srgbClr val="FFF3DC"/>
            </a:solidFill>
            <a:prstDash val="solid"/>
          </a:ln>
        </p:spPr>
      </p:sp>
      <p:sp>
        <p:nvSpPr>
          <p:cNvPr id="11" name="Text 6"/>
          <p:cNvSpPr txBox="1"/>
          <p:nvPr/>
        </p:nvSpPr>
        <p:spPr>
          <a:xfrm>
            <a:off x="777240" y="5577840"/>
            <a:ext cx="10698480" cy="685800"/>
          </a:xfrm>
          <a:prstGeom prst="rect">
            <a:avLst/>
          </a:prstGeom>
          <a:noFill/>
          <a:ln/>
        </p:spPr>
        <p:txBody>
          <a:bodyPr wrap="square" lIns="0" tIns="0" rIns="0" bIns="0" rtlCol="0" anchor="ctr"/>
          <a:lstStyle/>
          <a:p>
            <a:pPr indent="0" marL="0">
              <a:buNone/>
            </a:pPr>
            <a:r>
              <a:rPr lang="en-US" sz="1300" b="1" dirty="0">
                <a:solidFill>
                  <a:srgbClr val="D98A1F"/>
                </a:solidFill>
                <a:latin typeface="Calibri" pitchFamily="34" charset="0"/>
                <a:ea typeface="Calibri" pitchFamily="34" charset="-122"/>
                <a:cs typeface="Calibri" pitchFamily="34" charset="-120"/>
              </a:rPr>
              <a:t>Qualification  </a:t>
            </a:r>
            <a:pPr indent="0" marL="0">
              <a:buNone/>
            </a:pPr>
            <a:r>
              <a:rPr lang="en-US" sz="1300" dirty="0">
                <a:solidFill>
                  <a:srgbClr val="12202E"/>
                </a:solidFill>
                <a:latin typeface="Calibri" pitchFamily="34" charset="0"/>
                <a:ea typeface="Calibri" pitchFamily="34" charset="-122"/>
                <a:cs typeface="Calibri" pitchFamily="34" charset="-120"/>
              </a:rPr>
              <a:t>Importance describes the model, not the river. Orthophosphate + log variant: 88.5% of RF impurity, 76.4% of XGBoost gain; not “88% of split decisions”. The station lag ranks 6th in XGBoost (1.5%).</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0E7C86"/>
                </a:solidFill>
                <a:latin typeface="Calibri" pitchFamily="34" charset="0"/>
                <a:ea typeface="Calibri" pitchFamily="34" charset="-122"/>
                <a:cs typeface="Calibri" pitchFamily="34" charset="-120"/>
              </a:rPr>
              <a:t>LIMITATIONS, STATUS AND NEXT STEPS</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0B1F33"/>
                </a:solidFill>
                <a:latin typeface="Cambria" pitchFamily="34" charset="0"/>
                <a:ea typeface="Cambria" pitchFamily="34" charset="-122"/>
                <a:cs typeface="Cambria" pitchFamily="34" charset="-120"/>
              </a:rPr>
              <a:t>Phase 1 delivers a tested tree baseline; stricter validation and deep learning come next</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737360"/>
            <a:ext cx="3611880" cy="3611880"/>
          </a:xfrm>
          <a:prstGeom prst="rect">
            <a:avLst/>
          </a:prstGeom>
          <a:solidFill>
            <a:srgbClr val="F4F8FA"/>
          </a:solidFill>
          <a:ln w="12700">
            <a:solidFill>
              <a:srgbClr val="F4F8FA"/>
            </a:solidFill>
            <a:prstDash val="solid"/>
          </a:ln>
        </p:spPr>
      </p:sp>
      <p:sp>
        <p:nvSpPr>
          <p:cNvPr id="8" name="Text 5"/>
          <p:cNvSpPr txBox="1"/>
          <p:nvPr/>
        </p:nvSpPr>
        <p:spPr>
          <a:xfrm>
            <a:off x="731520" y="1874520"/>
            <a:ext cx="3291840" cy="365760"/>
          </a:xfrm>
          <a:prstGeom prst="rect">
            <a:avLst/>
          </a:prstGeom>
          <a:noFill/>
          <a:ln/>
        </p:spPr>
        <p:txBody>
          <a:bodyPr wrap="square" lIns="0" tIns="0" rIns="0" bIns="0" rtlCol="0" anchor="t"/>
          <a:lstStyle/>
          <a:p>
            <a:pPr indent="0" marL="0">
              <a:buNone/>
            </a:pPr>
            <a:r>
              <a:rPr lang="en-US" sz="1700" b="1" dirty="0">
                <a:solidFill>
                  <a:srgbClr val="0E7C86"/>
                </a:solidFill>
                <a:latin typeface="Cambria" pitchFamily="34" charset="0"/>
                <a:ea typeface="Cambria" pitchFamily="34" charset="-122"/>
                <a:cs typeface="Cambria" pitchFamily="34" charset="-120"/>
              </a:rPr>
              <a:t>Confirmed from code and outputs</a:t>
            </a:r>
            <a:endParaRPr lang="en-US" sz="1700" dirty="0"/>
          </a:p>
        </p:txBody>
      </p:sp>
      <p:sp>
        <p:nvSpPr>
          <p:cNvPr id="9" name="Text 6"/>
          <p:cNvSpPr txBox="1"/>
          <p:nvPr/>
        </p:nvSpPr>
        <p:spPr>
          <a:xfrm>
            <a:off x="731520" y="2423160"/>
            <a:ext cx="329184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2202E"/>
                </a:solidFill>
                <a:latin typeface="Calibri" pitchFamily="34" charset="0"/>
                <a:ea typeface="Calibri" pitchFamily="34" charset="-122"/>
                <a:cs typeface="Calibri" pitchFamily="34" charset="-120"/>
              </a:rPr>
              <a:t>Country imbalance: England ≈75% of rows</a:t>
            </a:r>
            <a:endParaRPr lang="en-US" sz="1400" dirty="0"/>
          </a:p>
          <a:p>
            <a:pPr marL="342900" indent="-342900">
              <a:spcAft>
                <a:spcPts val="800"/>
              </a:spcAft>
              <a:buSzPct val="100000"/>
              <a:buChar char="•"/>
            </a:pPr>
            <a:r>
              <a:rPr lang="en-US" sz="1400" dirty="0">
                <a:solidFill>
                  <a:srgbClr val="12202E"/>
                </a:solidFill>
                <a:latin typeface="Calibri" pitchFamily="34" charset="0"/>
                <a:ea typeface="Calibri" pitchFamily="34" charset="-122"/>
                <a:cs typeface="Calibri" pitchFamily="34" charset="-120"/>
              </a:rPr>
              <a:t>Random split; no station or time hold-out</a:t>
            </a:r>
            <a:endParaRPr lang="en-US" sz="1400" dirty="0"/>
          </a:p>
          <a:p>
            <a:pPr marL="342900" indent="-342900">
              <a:spcAft>
                <a:spcPts val="800"/>
              </a:spcAft>
              <a:buSzPct val="100000"/>
              <a:buChar char="•"/>
            </a:pPr>
            <a:r>
              <a:rPr lang="en-US" sz="1400" dirty="0">
                <a:solidFill>
                  <a:srgbClr val="12202E"/>
                </a:solidFill>
                <a:latin typeface="Calibri" pitchFamily="34" charset="0"/>
                <a:ea typeface="Calibri" pitchFamily="34" charset="-122"/>
                <a:cs typeface="Calibri" pitchFamily="34" charset="-120"/>
              </a:rPr>
              <a:t>Validation metrics only; test set unscored</a:t>
            </a:r>
            <a:endParaRPr lang="en-US" sz="1400" dirty="0"/>
          </a:p>
          <a:p>
            <a:pPr marL="342900" indent="-342900">
              <a:spcAft>
                <a:spcPts val="800"/>
              </a:spcAft>
              <a:buSzPct val="100000"/>
              <a:buChar char="•"/>
            </a:pPr>
            <a:r>
              <a:rPr lang="en-US" sz="1400" dirty="0">
                <a:solidFill>
                  <a:srgbClr val="12202E"/>
                </a:solidFill>
                <a:latin typeface="Calibri" pitchFamily="34" charset="0"/>
                <a:ea typeface="Calibri" pitchFamily="34" charset="-122"/>
                <a:cs typeface="Calibri" pitchFamily="34" charset="-120"/>
              </a:rPr>
              <a:t>XGBoost validation numbers differ between artifacts</a:t>
            </a:r>
            <a:endParaRPr lang="en-US" sz="1400" dirty="0"/>
          </a:p>
        </p:txBody>
      </p:sp>
      <p:sp>
        <p:nvSpPr>
          <p:cNvPr id="10" name="Shape 7"/>
          <p:cNvSpPr/>
          <p:nvPr/>
        </p:nvSpPr>
        <p:spPr>
          <a:xfrm>
            <a:off x="4297680" y="1737360"/>
            <a:ext cx="3611880" cy="3611880"/>
          </a:xfrm>
          <a:prstGeom prst="rect">
            <a:avLst/>
          </a:prstGeom>
          <a:solidFill>
            <a:srgbClr val="FFF3DC"/>
          </a:solidFill>
          <a:ln w="12700">
            <a:solidFill>
              <a:srgbClr val="FFF3DC"/>
            </a:solidFill>
            <a:prstDash val="solid"/>
          </a:ln>
        </p:spPr>
      </p:sp>
      <p:sp>
        <p:nvSpPr>
          <p:cNvPr id="11" name="Text 8"/>
          <p:cNvSpPr txBox="1"/>
          <p:nvPr/>
        </p:nvSpPr>
        <p:spPr>
          <a:xfrm>
            <a:off x="4480560" y="1874520"/>
            <a:ext cx="3291840" cy="365760"/>
          </a:xfrm>
          <a:prstGeom prst="rect">
            <a:avLst/>
          </a:prstGeom>
          <a:noFill/>
          <a:ln/>
        </p:spPr>
        <p:txBody>
          <a:bodyPr wrap="square" lIns="0" tIns="0" rIns="0" bIns="0" rtlCol="0" anchor="t"/>
          <a:lstStyle/>
          <a:p>
            <a:pPr indent="0" marL="0">
              <a:buNone/>
            </a:pPr>
            <a:r>
              <a:rPr lang="en-US" sz="1700" b="1" dirty="0">
                <a:solidFill>
                  <a:srgbClr val="D98A1F"/>
                </a:solidFill>
                <a:latin typeface="Cambria" pitchFamily="34" charset="0"/>
                <a:ea typeface="Cambria" pitchFamily="34" charset="-122"/>
                <a:cs typeface="Cambria" pitchFamily="34" charset="-120"/>
              </a:rPr>
              <a:t>Open / not verified</a:t>
            </a:r>
            <a:endParaRPr lang="en-US" sz="1700" dirty="0"/>
          </a:p>
        </p:txBody>
      </p:sp>
      <p:sp>
        <p:nvSpPr>
          <p:cNvPr id="12" name="Text 9"/>
          <p:cNvSpPr txBox="1"/>
          <p:nvPr/>
        </p:nvSpPr>
        <p:spPr>
          <a:xfrm>
            <a:off x="4480560" y="2423160"/>
            <a:ext cx="329184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2202E"/>
                </a:solidFill>
                <a:latin typeface="Calibri" pitchFamily="34" charset="0"/>
                <a:ea typeface="Calibri" pitchFamily="34" charset="-122"/>
                <a:cs typeface="Calibri" pitchFamily="34" charset="-120"/>
              </a:rPr>
              <a:t>Whether the 0-null file reflects upstream filling (clustered values; graph 17)</a:t>
            </a:r>
            <a:endParaRPr lang="en-US" sz="1400" dirty="0"/>
          </a:p>
          <a:p>
            <a:pPr marL="342900" indent="-342900">
              <a:spcAft>
                <a:spcPts val="800"/>
              </a:spcAft>
              <a:buSzPct val="100000"/>
              <a:buChar char="•"/>
            </a:pPr>
            <a:r>
              <a:rPr lang="en-US" sz="1400" dirty="0">
                <a:solidFill>
                  <a:srgbClr val="12202E"/>
                </a:solidFill>
                <a:latin typeface="Calibri" pitchFamily="34" charset="0"/>
                <a:ea typeface="Calibri" pitchFamily="34" charset="-122"/>
                <a:cs typeface="Calibri" pitchFamily="34" charset="-120"/>
              </a:rPr>
              <a:t>Effect of dropping exceedance_counter</a:t>
            </a:r>
            <a:endParaRPr lang="en-US" sz="1400" dirty="0"/>
          </a:p>
          <a:p>
            <a:pPr marL="342900" indent="-342900">
              <a:spcAft>
                <a:spcPts val="800"/>
              </a:spcAft>
              <a:buSzPct val="100000"/>
              <a:buChar char="•"/>
            </a:pPr>
            <a:r>
              <a:rPr lang="en-US" sz="1400" dirty="0">
                <a:solidFill>
                  <a:srgbClr val="12202E"/>
                </a:solidFill>
                <a:latin typeface="Calibri" pitchFamily="34" charset="0"/>
                <a:ea typeface="Calibri" pitchFamily="34" charset="-122"/>
                <a:cs typeface="Calibri" pitchFamily="34" charset="-120"/>
              </a:rPr>
              <a:t>Duplicates across partitions</a:t>
            </a:r>
            <a:endParaRPr lang="en-US" sz="1400" dirty="0"/>
          </a:p>
          <a:p>
            <a:pPr marL="342900" indent="-342900">
              <a:spcAft>
                <a:spcPts val="800"/>
              </a:spcAft>
              <a:buSzPct val="100000"/>
              <a:buChar char="•"/>
            </a:pPr>
            <a:r>
              <a:rPr lang="en-US" sz="1400" dirty="0">
                <a:solidFill>
                  <a:srgbClr val="12202E"/>
                </a:solidFill>
                <a:latin typeface="Calibri" pitchFamily="34" charset="0"/>
                <a:ea typeface="Calibri" pitchFamily="34" charset="-122"/>
                <a:cs typeface="Calibri" pitchFamily="34" charset="-120"/>
              </a:rPr>
              <a:t>Inference latency (not measured)</a:t>
            </a:r>
            <a:endParaRPr lang="en-US" sz="1400" dirty="0"/>
          </a:p>
        </p:txBody>
      </p:sp>
      <p:sp>
        <p:nvSpPr>
          <p:cNvPr id="13" name="Shape 10"/>
          <p:cNvSpPr/>
          <p:nvPr/>
        </p:nvSpPr>
        <p:spPr>
          <a:xfrm>
            <a:off x="8046720" y="1737360"/>
            <a:ext cx="3611880" cy="3611880"/>
          </a:xfrm>
          <a:prstGeom prst="rect">
            <a:avLst/>
          </a:prstGeom>
          <a:solidFill>
            <a:srgbClr val="F4F8FA"/>
          </a:solidFill>
          <a:ln w="12700">
            <a:solidFill>
              <a:srgbClr val="F4F8FA"/>
            </a:solidFill>
            <a:prstDash val="solid"/>
          </a:ln>
        </p:spPr>
      </p:sp>
      <p:sp>
        <p:nvSpPr>
          <p:cNvPr id="14" name="Text 11"/>
          <p:cNvSpPr txBox="1"/>
          <p:nvPr/>
        </p:nvSpPr>
        <p:spPr>
          <a:xfrm>
            <a:off x="8229600" y="1874520"/>
            <a:ext cx="3291840" cy="365760"/>
          </a:xfrm>
          <a:prstGeom prst="rect">
            <a:avLst/>
          </a:prstGeom>
          <a:noFill/>
          <a:ln/>
        </p:spPr>
        <p:txBody>
          <a:bodyPr wrap="square" lIns="0" tIns="0" rIns="0" bIns="0" rtlCol="0" anchor="t"/>
          <a:lstStyle/>
          <a:p>
            <a:pPr indent="0" marL="0">
              <a:buNone/>
            </a:pPr>
            <a:r>
              <a:rPr lang="en-US" sz="1700" b="1" dirty="0">
                <a:solidFill>
                  <a:srgbClr val="0B1F33"/>
                </a:solidFill>
                <a:latin typeface="Cambria" pitchFamily="34" charset="0"/>
                <a:ea typeface="Cambria" pitchFamily="34" charset="-122"/>
                <a:cs typeface="Cambria" pitchFamily="34" charset="-120"/>
              </a:rPr>
              <a:t>Planned (not done)</a:t>
            </a:r>
            <a:endParaRPr lang="en-US" sz="1700" dirty="0"/>
          </a:p>
        </p:txBody>
      </p:sp>
      <p:sp>
        <p:nvSpPr>
          <p:cNvPr id="15" name="Text 12"/>
          <p:cNvSpPr txBox="1"/>
          <p:nvPr/>
        </p:nvSpPr>
        <p:spPr>
          <a:xfrm>
            <a:off x="8229600" y="2423160"/>
            <a:ext cx="329184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2202E"/>
                </a:solidFill>
                <a:latin typeface="Calibri" pitchFamily="34" charset="0"/>
                <a:ea typeface="Calibri" pitchFamily="34" charset="-122"/>
                <a:cs typeface="Calibri" pitchFamily="34" charset="-120"/>
              </a:rPr>
              <a:t>Station-held-out and time-forward splits</a:t>
            </a:r>
            <a:endParaRPr lang="en-US" sz="1400" dirty="0"/>
          </a:p>
          <a:p>
            <a:pPr marL="342900" indent="-342900">
              <a:spcAft>
                <a:spcPts val="800"/>
              </a:spcAft>
              <a:buSzPct val="100000"/>
              <a:buChar char="•"/>
            </a:pPr>
            <a:r>
              <a:rPr lang="en-US" sz="1400" dirty="0">
                <a:solidFill>
                  <a:srgbClr val="12202E"/>
                </a:solidFill>
                <a:latin typeface="Calibri" pitchFamily="34" charset="0"/>
                <a:ea typeface="Calibri" pitchFamily="34" charset="-122"/>
                <a:cs typeface="Calibri" pitchFamily="34" charset="-120"/>
              </a:rPr>
              <a:t>Score the held-out test set</a:t>
            </a:r>
            <a:endParaRPr lang="en-US" sz="1400" dirty="0"/>
          </a:p>
          <a:p>
            <a:pPr marL="342900" indent="-342900">
              <a:spcAft>
                <a:spcPts val="800"/>
              </a:spcAft>
              <a:buSzPct val="100000"/>
              <a:buChar char="•"/>
            </a:pPr>
            <a:r>
              <a:rPr lang="en-US" sz="1400" dirty="0">
                <a:solidFill>
                  <a:srgbClr val="12202E"/>
                </a:solidFill>
                <a:latin typeface="Calibri" pitchFamily="34" charset="0"/>
                <a:ea typeface="Calibri" pitchFamily="34" charset="-122"/>
                <a:cs typeface="Calibri" pitchFamily="34" charset="-120"/>
              </a:rPr>
              <a:t>Re-run notebooks 03–04 to align artifacts</a:t>
            </a:r>
            <a:endParaRPr lang="en-US" sz="1400" dirty="0"/>
          </a:p>
          <a:p>
            <a:pPr marL="342900" indent="-342900">
              <a:spcAft>
                <a:spcPts val="800"/>
              </a:spcAft>
              <a:buSzPct val="100000"/>
              <a:buChar char="•"/>
            </a:pPr>
            <a:r>
              <a:rPr lang="en-US" sz="1400" dirty="0">
                <a:solidFill>
                  <a:srgbClr val="12202E"/>
                </a:solidFill>
                <a:latin typeface="Calibri" pitchFamily="34" charset="0"/>
                <a:ea typeface="Calibri" pitchFamily="34" charset="-122"/>
                <a:cs typeface="Calibri" pitchFamily="34" charset="-120"/>
              </a:rPr>
              <a:t>Phase 2: multi-task neural network</a:t>
            </a:r>
            <a:endParaRPr lang="en-US" sz="1400" dirty="0"/>
          </a:p>
        </p:txBody>
      </p:sp>
      <p:sp>
        <p:nvSpPr>
          <p:cNvPr id="16" name="Text 13"/>
          <p:cNvSpPr txBox="1"/>
          <p:nvPr/>
        </p:nvSpPr>
        <p:spPr>
          <a:xfrm>
            <a:off x="548640" y="5532120"/>
            <a:ext cx="11064240" cy="5486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Deep learning: no neural-network code or results exist in this repo version, so none are claimed. Phase 2 is planned.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48640" y="347472"/>
            <a:ext cx="109728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CONCLUSION, TEAM AND REFERENCES</a:t>
            </a:r>
            <a:endParaRPr lang="en-US" sz="1200" dirty="0"/>
          </a:p>
        </p:txBody>
      </p:sp>
      <p:sp>
        <p:nvSpPr>
          <p:cNvPr id="3" name="Text 1"/>
          <p:cNvSpPr txBox="1"/>
          <p:nvPr/>
        </p:nvSpPr>
        <p:spPr>
          <a:xfrm>
            <a:off x="548640" y="640080"/>
            <a:ext cx="11064240" cy="868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 reproducible tree baseline — with a clear route to a stricter evaluation</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9FB6C6"/>
                </a:solidFill>
                <a:latin typeface="Calibri" pitchFamily="34" charset="0"/>
                <a:ea typeface="Calibri" pitchFamily="34" charset="-122"/>
                <a:cs typeface="Calibri" pitchFamily="34" charset="-120"/>
              </a:rPr>
              <a:t>Project 18 · Surface Water Quality Prediction · CCME WQI</a:t>
            </a:r>
            <a:endParaRPr lang="en-US" sz="1000" dirty="0"/>
          </a:p>
        </p:txBody>
      </p:sp>
      <p:sp>
        <p:nvSpPr>
          <p:cNvPr id="5" name="Text 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1000" dirty="0">
                <a:solidFill>
                  <a:srgbClr val="9FB6C6"/>
                </a:solidFill>
                <a:latin typeface="Calibri" pitchFamily="34" charset="0"/>
                <a:ea typeface="Calibri" pitchFamily="34" charset="-122"/>
                <a:cs typeface="Calibri" pitchFamily="34" charset="-120"/>
              </a:rPr>
              <a:t>14</a:t>
            </a:r>
            <a:endParaRPr lang="en-US" sz="1000" dirty="0"/>
          </a:p>
        </p:txBody>
      </p:sp>
      <p:sp>
        <p:nvSpPr>
          <p:cNvPr id="7" name="Text 4"/>
          <p:cNvSpPr txBox="1"/>
          <p:nvPr/>
        </p:nvSpPr>
        <p:spPr>
          <a:xfrm>
            <a:off x="548640" y="1691640"/>
            <a:ext cx="5577840" cy="2377440"/>
          </a:xfrm>
          <a:prstGeom prst="rect">
            <a:avLst/>
          </a:prstGeom>
          <a:noFill/>
          <a:ln/>
        </p:spPr>
        <p:txBody>
          <a:bodyPr wrap="square" lIns="0" tIns="0" rIns="0" bIns="0" rtlCol="0" anchor="t"/>
          <a:lstStyle/>
          <a:p>
            <a:pPr indent="0" marL="0">
              <a:spcAft>
                <a:spcPts val="1000"/>
              </a:spcAft>
              <a:buNone/>
            </a:pPr>
            <a:r>
              <a:rPr lang="en-US" sz="1500" b="1" dirty="0">
                <a:solidFill>
                  <a:srgbClr val="2EC4B6"/>
                </a:solidFill>
                <a:latin typeface="Calibri" pitchFamily="34" charset="0"/>
                <a:ea typeface="Calibri" pitchFamily="34" charset="-122"/>
                <a:cs typeface="Calibri" pitchFamily="34" charset="-120"/>
              </a:rPr>
              <a:t>Built: </a:t>
            </a:r>
            <a:pPr indent="0" marL="0">
              <a:spcAft>
                <a:spcPts val="1000"/>
              </a:spcAft>
              <a:buNone/>
            </a:pPr>
            <a:r>
              <a:rPr lang="en-US" sz="1500" dirty="0">
                <a:solidFill>
                  <a:srgbClr val="FFFFFF"/>
                </a:solidFill>
                <a:latin typeface="Calibri" pitchFamily="34" charset="0"/>
                <a:ea typeface="Calibri" pitchFamily="34" charset="-122"/>
                <a:cs typeface="Calibri" pitchFamily="34" charset="-120"/>
              </a:rPr>
              <a:t>audited 2.82 M-row dataset, 38 chemistry-driven features, RF and XGBoost benchmarks, SHAP, 12 tests.</a:t>
            </a:r>
            <a:endParaRPr lang="en-US" sz="1500" dirty="0"/>
          </a:p>
          <a:p>
            <a:pPr indent="0" marL="0">
              <a:spcAft>
                <a:spcPts val="1000"/>
              </a:spcAft>
              <a:buNone/>
            </a:pPr>
            <a:r>
              <a:rPr lang="en-US" sz="1500" b="1" dirty="0">
                <a:solidFill>
                  <a:srgbClr val="2EC4B6"/>
                </a:solidFill>
                <a:latin typeface="Calibri" pitchFamily="34" charset="0"/>
                <a:ea typeface="Calibri" pitchFamily="34" charset="-122"/>
                <a:cs typeface="Calibri" pitchFamily="34" charset="-120"/>
              </a:rPr>
              <a:t>Strongest finding: </a:t>
            </a:r>
            <a:pPr indent="0" marL="0">
              <a:spcAft>
                <a:spcPts val="1000"/>
              </a:spcAft>
              <a:buNone/>
            </a:pPr>
            <a:r>
              <a:rPr lang="en-US" sz="1500" dirty="0">
                <a:solidFill>
                  <a:srgbClr val="FFFFFF"/>
                </a:solidFill>
                <a:latin typeface="Calibri" pitchFamily="34" charset="0"/>
                <a:ea typeface="Calibri" pitchFamily="34" charset="-122"/>
                <a:cs typeface="Calibri" pitchFamily="34" charset="-120"/>
              </a:rPr>
              <a:t>trees reconstruct the CCME index with validation MAE 0.05 (RF) to 0.14–0.16 (XGBoost).</a:t>
            </a:r>
            <a:endParaRPr lang="en-US" sz="1500" dirty="0"/>
          </a:p>
          <a:p>
            <a:pPr indent="0" marL="0">
              <a:spcAft>
                <a:spcPts val="1000"/>
              </a:spcAft>
              <a:buNone/>
            </a:pPr>
            <a:r>
              <a:rPr lang="en-US" sz="1500" b="1" dirty="0">
                <a:solidFill>
                  <a:srgbClr val="F2B45A"/>
                </a:solidFill>
                <a:latin typeface="Calibri" pitchFamily="34" charset="0"/>
                <a:ea typeface="Calibri" pitchFamily="34" charset="-122"/>
                <a:cs typeface="Calibri" pitchFamily="34" charset="-120"/>
              </a:rPr>
              <a:t>Key caveat: </a:t>
            </a:r>
            <a:pPr indent="0" marL="0">
              <a:spcAft>
                <a:spcPts val="1000"/>
              </a:spcAft>
              <a:buNone/>
            </a:pPr>
            <a:r>
              <a:rPr lang="en-US" sz="1500" dirty="0">
                <a:solidFill>
                  <a:srgbClr val="FFFFFF"/>
                </a:solidFill>
                <a:latin typeface="Calibri" pitchFamily="34" charset="0"/>
                <a:ea typeface="Calibri" pitchFamily="34" charset="-122"/>
                <a:cs typeface="Calibri" pitchFamily="34" charset="-120"/>
              </a:rPr>
              <a:t>the target is a formula of the inputs and the split is random; next, station-held-out and time-forward evaluation.</a:t>
            </a:r>
            <a:endParaRPr lang="en-US" sz="1500" dirty="0"/>
          </a:p>
        </p:txBody>
      </p:sp>
      <p:sp>
        <p:nvSpPr>
          <p:cNvPr id="8" name="Text 5"/>
          <p:cNvSpPr txBox="1"/>
          <p:nvPr/>
        </p:nvSpPr>
        <p:spPr>
          <a:xfrm>
            <a:off x="548640" y="3931920"/>
            <a:ext cx="5486400" cy="3200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Team and roles</a:t>
            </a:r>
            <a:endParaRPr lang="en-US" sz="1600" dirty="0"/>
          </a:p>
        </p:txBody>
      </p:sp>
      <p:sp>
        <p:nvSpPr>
          <p:cNvPr id="9" name="Text 6"/>
          <p:cNvSpPr txBox="1"/>
          <p:nvPr/>
        </p:nvSpPr>
        <p:spPr>
          <a:xfrm>
            <a:off x="548640" y="4297680"/>
            <a:ext cx="5577840" cy="1920240"/>
          </a:xfrm>
          <a:prstGeom prst="rect">
            <a:avLst/>
          </a:prstGeom>
          <a:noFill/>
          <a:ln/>
        </p:spPr>
        <p:txBody>
          <a:bodyPr wrap="square" lIns="0" tIns="0" rIns="0" bIns="0" rtlCol="0" anchor="t"/>
          <a:lstStyle/>
          <a:p>
            <a:pPr indent="0" marL="0">
              <a:spcAft>
                <a:spcPts val="300"/>
              </a:spcAft>
              <a:buNone/>
            </a:pPr>
            <a:r>
              <a:rPr lang="en-US" sz="1200" dirty="0">
                <a:solidFill>
                  <a:srgbClr val="BFD6E2"/>
                </a:solidFill>
                <a:latin typeface="Calibri" pitchFamily="34" charset="0"/>
                <a:ea typeface="Calibri" pitchFamily="34" charset="-122"/>
                <a:cs typeface="Calibri" pitchFamily="34" charset="-120"/>
              </a:rPr>
              <a:t>Mayank Sharma – EDA &amp; repository management lead</a:t>
            </a:r>
            <a:endParaRPr lang="en-US" sz="1200" dirty="0"/>
          </a:p>
          <a:p>
            <a:pPr indent="0" marL="0">
              <a:spcAft>
                <a:spcPts val="300"/>
              </a:spcAft>
              <a:buNone/>
            </a:pPr>
            <a:r>
              <a:rPr lang="en-US" sz="1200" dirty="0">
                <a:solidFill>
                  <a:srgbClr val="BFD6E2"/>
                </a:solidFill>
                <a:latin typeface="Calibri" pitchFamily="34" charset="0"/>
                <a:ea typeface="Calibri" pitchFamily="34" charset="-122"/>
                <a:cs typeface="Calibri" pitchFamily="34" charset="-120"/>
              </a:rPr>
              <a:t>Aman Soni – model training lead (baseline, RF, XGBoost)</a:t>
            </a:r>
            <a:endParaRPr lang="en-US" sz="1200" dirty="0"/>
          </a:p>
          <a:p>
            <a:pPr indent="0" marL="0">
              <a:spcAft>
                <a:spcPts val="300"/>
              </a:spcAft>
              <a:buNone/>
            </a:pPr>
            <a:r>
              <a:rPr lang="en-US" sz="1200" dirty="0">
                <a:solidFill>
                  <a:srgbClr val="BFD6E2"/>
                </a:solidFill>
                <a:latin typeface="Calibri" pitchFamily="34" charset="0"/>
                <a:ea typeface="Calibri" pitchFamily="34" charset="-122"/>
                <a:cs typeface="Calibri" pitchFamily="34" charset="-120"/>
              </a:rPr>
              <a:t>Aaryan Gera – data preprocessing</a:t>
            </a:r>
            <a:endParaRPr lang="en-US" sz="1200" dirty="0"/>
          </a:p>
          <a:p>
            <a:pPr indent="0" marL="0">
              <a:spcAft>
                <a:spcPts val="300"/>
              </a:spcAft>
              <a:buNone/>
            </a:pPr>
            <a:r>
              <a:rPr lang="en-US" sz="1200" dirty="0">
                <a:solidFill>
                  <a:srgbClr val="BFD6E2"/>
                </a:solidFill>
                <a:latin typeface="Calibri" pitchFamily="34" charset="0"/>
                <a:ea typeface="Calibri" pitchFamily="34" charset="-122"/>
                <a:cs typeface="Calibri" pitchFamily="34" charset="-120"/>
              </a:rPr>
              <a:t>Chaitanya Kumar – feature engineering &amp; pipeline</a:t>
            </a:r>
            <a:endParaRPr lang="en-US" sz="1200" dirty="0"/>
          </a:p>
          <a:p>
            <a:pPr indent="0" marL="0">
              <a:spcAft>
                <a:spcPts val="300"/>
              </a:spcAft>
              <a:buNone/>
            </a:pPr>
            <a:r>
              <a:rPr lang="en-US" sz="1200" dirty="0">
                <a:solidFill>
                  <a:srgbClr val="BFD6E2"/>
                </a:solidFill>
                <a:latin typeface="Calibri" pitchFamily="34" charset="0"/>
                <a:ea typeface="Calibri" pitchFamily="34" charset="-122"/>
                <a:cs typeface="Calibri" pitchFamily="34" charset="-120"/>
              </a:rPr>
              <a:t>Ankit Kumar Pandey – model evaluation &amp; validation</a:t>
            </a:r>
            <a:endParaRPr lang="en-US" sz="1200" dirty="0"/>
          </a:p>
          <a:p>
            <a:pPr indent="0" marL="0">
              <a:spcAft>
                <a:spcPts val="300"/>
              </a:spcAft>
              <a:buNone/>
            </a:pPr>
            <a:r>
              <a:rPr lang="en-US" sz="1200" dirty="0">
                <a:solidFill>
                  <a:srgbClr val="BFD6E2"/>
                </a:solidFill>
                <a:latin typeface="Calibri" pitchFamily="34" charset="0"/>
                <a:ea typeface="Calibri" pitchFamily="34" charset="-122"/>
                <a:cs typeface="Calibri" pitchFamily="34" charset="-120"/>
              </a:rPr>
              <a:t>Pranav Sehgal – research, documentation &amp; presentation</a:t>
            </a:r>
            <a:endParaRPr lang="en-US" sz="1200" dirty="0"/>
          </a:p>
        </p:txBody>
      </p:sp>
      <p:sp>
        <p:nvSpPr>
          <p:cNvPr id="10" name="Text 7"/>
          <p:cNvSpPr txBox="1"/>
          <p:nvPr/>
        </p:nvSpPr>
        <p:spPr>
          <a:xfrm>
            <a:off x="6583680" y="1691640"/>
            <a:ext cx="5029200" cy="3200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Key references</a:t>
            </a:r>
            <a:endParaRPr lang="en-US" sz="1600" dirty="0"/>
          </a:p>
        </p:txBody>
      </p:sp>
      <p:sp>
        <p:nvSpPr>
          <p:cNvPr id="11" name="Text 8"/>
          <p:cNvSpPr txBox="1"/>
          <p:nvPr/>
        </p:nvSpPr>
        <p:spPr>
          <a:xfrm>
            <a:off x="6583680" y="2057400"/>
            <a:ext cx="5029200" cy="3017520"/>
          </a:xfrm>
          <a:prstGeom prst="rect">
            <a:avLst/>
          </a:prstGeom>
          <a:noFill/>
          <a:ln/>
        </p:spPr>
        <p:txBody>
          <a:bodyPr wrap="square" lIns="0" tIns="0" rIns="0" bIns="0" rtlCol="0" anchor="t"/>
          <a:lstStyle/>
          <a:p>
            <a:pPr indent="0" marL="0">
              <a:spcAft>
                <a:spcPts val="500"/>
              </a:spcAft>
              <a:buNone/>
            </a:pPr>
            <a:r>
              <a:rPr lang="en-US" sz="1200" dirty="0">
                <a:solidFill>
                  <a:srgbClr val="BFD6E2"/>
                </a:solidFill>
                <a:latin typeface="Calibri" pitchFamily="34" charset="0"/>
                <a:ea typeface="Calibri" pitchFamily="34" charset="-122"/>
                <a:cs typeface="Calibri" pitchFamily="34" charset="-120"/>
              </a:rPr>
              <a:t>Breiman (2001) Random Forests. Machine Learning 45(1)</a:t>
            </a:r>
            <a:endParaRPr lang="en-US" sz="1200" dirty="0"/>
          </a:p>
          <a:p>
            <a:pPr indent="0" marL="0">
              <a:spcAft>
                <a:spcPts val="500"/>
              </a:spcAft>
              <a:buNone/>
            </a:pPr>
            <a:r>
              <a:rPr lang="en-US" sz="1200" dirty="0">
                <a:solidFill>
                  <a:srgbClr val="BFD6E2"/>
                </a:solidFill>
                <a:latin typeface="Calibri" pitchFamily="34" charset="0"/>
                <a:ea typeface="Calibri" pitchFamily="34" charset="-122"/>
                <a:cs typeface="Calibri" pitchFamily="34" charset="-120"/>
              </a:rPr>
              <a:t>Goodfellow, Bengio &amp; Courville (2016) Deep Learning. MIT Press (feed-forward networks)</a:t>
            </a:r>
            <a:endParaRPr lang="en-US" sz="1200" dirty="0"/>
          </a:p>
          <a:p>
            <a:pPr indent="0" marL="0">
              <a:spcAft>
                <a:spcPts val="500"/>
              </a:spcAft>
              <a:buNone/>
            </a:pPr>
            <a:r>
              <a:rPr lang="en-US" sz="1200" dirty="0">
                <a:solidFill>
                  <a:srgbClr val="BFD6E2"/>
                </a:solidFill>
                <a:latin typeface="Calibri" pitchFamily="34" charset="0"/>
                <a:ea typeface="Calibri" pitchFamily="34" charset="-122"/>
                <a:cs typeface="Calibri" pitchFamily="34" charset="-120"/>
              </a:rPr>
              <a:t>Chen &amp; Guestrin (2016) XGBoost. KDD</a:t>
            </a:r>
            <a:endParaRPr lang="en-US" sz="1200" dirty="0"/>
          </a:p>
          <a:p>
            <a:pPr indent="0" marL="0">
              <a:spcAft>
                <a:spcPts val="500"/>
              </a:spcAft>
              <a:buNone/>
            </a:pPr>
            <a:r>
              <a:rPr lang="en-US" sz="1200" dirty="0">
                <a:solidFill>
                  <a:srgbClr val="BFD6E2"/>
                </a:solidFill>
                <a:latin typeface="Calibri" pitchFamily="34" charset="0"/>
                <a:ea typeface="Calibri" pitchFamily="34" charset="-122"/>
                <a:cs typeface="Calibri" pitchFamily="34" charset="-120"/>
              </a:rPr>
              <a:t>Lundberg &amp; Lee (2017) SHAP. NeurIPS</a:t>
            </a:r>
            <a:endParaRPr lang="en-US" sz="1200" dirty="0"/>
          </a:p>
          <a:p>
            <a:pPr indent="0" marL="0">
              <a:spcAft>
                <a:spcPts val="500"/>
              </a:spcAft>
              <a:buNone/>
            </a:pPr>
            <a:r>
              <a:rPr lang="en-US" sz="1200" dirty="0">
                <a:solidFill>
                  <a:srgbClr val="BFD6E2"/>
                </a:solidFill>
                <a:latin typeface="Calibri" pitchFamily="34" charset="0"/>
                <a:ea typeface="Calibri" pitchFamily="34" charset="-122"/>
                <a:cs typeface="Calibri" pitchFamily="34" charset="-120"/>
              </a:rPr>
              <a:t>CCME (2001) Water Quality Index 1.0 Technical Report</a:t>
            </a:r>
            <a:endParaRPr lang="en-US" sz="1200" dirty="0"/>
          </a:p>
          <a:p>
            <a:pPr indent="0" marL="0">
              <a:spcAft>
                <a:spcPts val="500"/>
              </a:spcAft>
              <a:buNone/>
            </a:pPr>
            <a:r>
              <a:rPr lang="en-US" sz="1200" dirty="0">
                <a:solidFill>
                  <a:srgbClr val="BFD6E2"/>
                </a:solidFill>
                <a:latin typeface="Calibri" pitchFamily="34" charset="0"/>
                <a:ea typeface="Calibri" pitchFamily="34" charset="-122"/>
                <a:cs typeface="Calibri" pitchFamily="34" charset="-120"/>
              </a:rPr>
              <a:t>Benson &amp; Krause (1984) Limnol. Oceanogr. 29(3)</a:t>
            </a:r>
            <a:endParaRPr lang="en-US" sz="1200" dirty="0"/>
          </a:p>
          <a:p>
            <a:pPr indent="0" marL="0">
              <a:spcAft>
                <a:spcPts val="500"/>
              </a:spcAft>
              <a:buNone/>
            </a:pPr>
            <a:r>
              <a:rPr lang="en-US" sz="1200" dirty="0">
                <a:solidFill>
                  <a:srgbClr val="BFD6E2"/>
                </a:solidFill>
                <a:latin typeface="Calibri" pitchFamily="34" charset="0"/>
                <a:ea typeface="Calibri" pitchFamily="34" charset="-122"/>
                <a:cs typeface="Calibri" pitchFamily="34" charset="-120"/>
              </a:rPr>
              <a:t>Redfield (1958) Am. Scientist 46(3)</a:t>
            </a:r>
            <a:endParaRPr lang="en-US" sz="1200" dirty="0"/>
          </a:p>
          <a:p>
            <a:pPr indent="0" marL="0">
              <a:spcAft>
                <a:spcPts val="500"/>
              </a:spcAft>
              <a:buNone/>
            </a:pPr>
            <a:r>
              <a:rPr lang="en-US" sz="1200" dirty="0">
                <a:solidFill>
                  <a:srgbClr val="BFD6E2"/>
                </a:solidFill>
                <a:latin typeface="Calibri" pitchFamily="34" charset="0"/>
                <a:ea typeface="Calibri" pitchFamily="34" charset="-122"/>
                <a:cs typeface="Calibri" pitchFamily="34" charset="-120"/>
              </a:rPr>
              <a:t>Emerson et al. (1975) J. Fish. Res. Board Can. 32(12)</a:t>
            </a:r>
            <a:endParaRPr lang="en-US" sz="1200" dirty="0"/>
          </a:p>
        </p:txBody>
      </p:sp>
      <p:sp>
        <p:nvSpPr>
          <p:cNvPr id="12" name="Text 9"/>
          <p:cNvSpPr txBox="1"/>
          <p:nvPr/>
        </p:nvSpPr>
        <p:spPr>
          <a:xfrm>
            <a:off x="6583680" y="5303520"/>
            <a:ext cx="5029200" cy="822960"/>
          </a:xfrm>
          <a:prstGeom prst="rect">
            <a:avLst/>
          </a:prstGeom>
          <a:noFill/>
          <a:ln/>
        </p:spPr>
        <p:txBody>
          <a:bodyPr wrap="square" lIns="0" tIns="0" rIns="0" bIns="0" rtlCol="0" anchor="t"/>
          <a:lstStyle/>
          <a:p>
            <a:pPr indent="0" marL="0">
              <a:buNone/>
            </a:pPr>
            <a:r>
              <a:rPr lang="en-US" sz="1100" dirty="0">
                <a:solidFill>
                  <a:srgbClr val="9FB6C6"/>
                </a:solidFill>
                <a:latin typeface="Calibri" pitchFamily="34" charset="0"/>
                <a:ea typeface="Calibri" pitchFamily="34" charset="-122"/>
                <a:cs typeface="Calibri" pitchFamily="34" charset="-120"/>
              </a:rPr>
              <a:t>Data: agencies listed in the repo’s DataCollectionSources sheet (data.gov.uk, USGS/EPA, EPA Ireland, MEE China, ECCC). Code: github.com/MAYANKSHARMA01010/Semester_5_AML_DL</a:t>
            </a:r>
            <a:endParaRPr lang="en-US" sz="1100" dirty="0"/>
          </a:p>
        </p:txBody>
      </p:sp>
    </p:spTree>
  </p:cSld>
  <p:clrMapOvr>
    <a:masterClrMapping/>
  </p:clrMapOvr>
</p:sld>
</file>

<file path=ppt/theme/theme1.xml><?xml version="1.0" encoding="utf-8"?>
<a:theme xmlns:a="http://schemas.openxmlformats.org/drawingml/2006/main" name="AquaAudit">
  <a:themeElements>
    <a:clrScheme name="AquaAudit">
      <a:dk1>
        <a:srgbClr val="12202E"/>
      </a:dk1>
      <a:lt1>
        <a:srgbClr val="FFFFFF"/>
      </a:lt1>
      <a:dk2>
        <a:srgbClr val="0B1F33"/>
      </a:dk2>
      <a:lt2>
        <a:srgbClr val="F4F8FA"/>
      </a:lt2>
      <a:accent1>
        <a:srgbClr val="0E7C86"/>
      </a:accent1>
      <a:accent2>
        <a:srgbClr val="2EC4B6"/>
      </a:accent2>
      <a:accent3>
        <a:srgbClr val="D98A1F"/>
      </a:accent3>
      <a:accent4>
        <a:srgbClr val="B5483A"/>
      </a:accent4>
      <a:accent5>
        <a:srgbClr val="3E6FA3"/>
      </a:accent5>
      <a:accent6>
        <a:srgbClr val="5B6B7A"/>
      </a:accent6>
      <a:hlink>
        <a:srgbClr val="0E7C86"/>
      </a:hlink>
      <a:folHlink>
        <a:srgbClr val="5B6B7A"/>
      </a:folHlink>
    </a:clrScheme>
    <a:fontScheme name="AquaAud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Surface Water Quality Prediction — Project 18 (Final)</dc:title>
  <dc:subject>PptxGenJS Presentation</dc:subject>
  <dc:creator>Project 18 team</dc:creator>
  <cp:lastModifiedBy>Project 18 team</cp:lastModifiedBy>
  <cp:revision>1</cp:revision>
  <dcterms:created xsi:type="dcterms:W3CDTF">2026-10-27T19:47:40Z</dcterms:created>
  <dcterms:modified xsi:type="dcterms:W3CDTF">2026-10-27T19:47:40Z</dcterms:modified>
</cp:coreProperties>
</file>