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Share of clean observations by country (%)</a:t>
            </a:r>
          </a:p>
        </c:rich>
      </c:tx>
      <c:layout/>
      <c:overlay val="0"/>
    </c:title>
    <c:autoTitleDeleted val="0"/>
    <c:plotArea>
      <c:layout/>
      <c:barChart>
        <c:barDir val="bar"/>
        <c:grouping val="clustered"/>
        <c:varyColors val="0"/>
        <c:ser>
          <c:idx val="0"/>
          <c:order val="0"/>
          <c:tx>
            <c:strRef>
              <c:f>Sheet1!$B$1</c:f>
              <c:strCache>
                <c:ptCount val="1"/>
                <c:pt idx="0">
                  <c:v>Share of clean rows (%)</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England</c:v>
                  </c:pt>
                  <c:pt idx="1">
                    <c:v>USA</c:v>
                  </c:pt>
                  <c:pt idx="2">
                    <c:v>Ireland</c:v>
                  </c:pt>
                  <c:pt idx="3">
                    <c:v>China</c:v>
                  </c:pt>
                  <c:pt idx="4">
                    <c:v>Canada</c:v>
                  </c:pt>
                </c:lvl>
              </c:multiLvlStrCache>
            </c:multiLvlStrRef>
          </c:cat>
          <c:val>
            <c:numRef>
              <c:f>Sheet1!$B$2:$B$6</c:f>
              <c:numCache>
                <c:formatCode>General</c:formatCode>
                <c:ptCount val="5"/>
                <c:pt idx="0">
                  <c:v>75.48</c:v>
                </c:pt>
                <c:pt idx="1">
                  <c:v>14.44</c:v>
                </c:pt>
                <c:pt idx="2">
                  <c:v>8.31</c:v>
                </c:pt>
                <c:pt idx="3">
                  <c:v>1.63</c:v>
                </c:pt>
                <c:pt idx="4">
                  <c:v>0.14</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9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Pearson r with WQI, raw vs log(1+x)</a:t>
            </a:r>
          </a:p>
        </c:rich>
      </c:tx>
      <c:layout/>
      <c:overlay val="0"/>
    </c:title>
    <c:autoTitleDeleted val="0"/>
    <c:plotArea>
      <c:layout/>
      <c:barChart>
        <c:barDir val="col"/>
        <c:grouping val="clustered"/>
        <c:varyColors val="0"/>
        <c:ser>
          <c:idx val="0"/>
          <c:order val="0"/>
          <c:tx>
            <c:strRef>
              <c:f>Sheet1!$B$1</c:f>
              <c:strCache>
                <c:ptCount val="1"/>
                <c:pt idx="0">
                  <c:v>Raw</c:v>
                </c:pt>
              </c:strCache>
            </c:strRef>
          </c:tx>
          <c:spPr>
            <a:solidFill>
              <a:srgbClr val="9DB4C0"/>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Sheet1!$A$2:$A$5</c:f>
              <c:multiLvlStrCache>
                <c:ptCount val="4"/>
                <c:lvl>
                  <c:pt idx="0">
                    <c:v>Orthophosphate</c:v>
                  </c:pt>
                  <c:pt idx="1">
                    <c:v>Ammonia</c:v>
                  </c:pt>
                  <c:pt idx="2">
                    <c:v>BOD</c:v>
                  </c:pt>
                  <c:pt idx="3">
                    <c:v>N:P ratio</c:v>
                  </c:pt>
                </c:lvl>
              </c:multiLvlStrCache>
            </c:multiLvlStrRef>
          </c:cat>
          <c:val>
            <c:numRef>
              <c:f>Sheet1!$B$2:$B$5</c:f>
              <c:numCache>
                <c:formatCode>General</c:formatCode>
                <c:ptCount val="4"/>
                <c:pt idx="0">
                  <c:v>-0.66</c:v>
                </c:pt>
                <c:pt idx="1">
                  <c:v>-0.392</c:v>
                </c:pt>
                <c:pt idx="2">
                  <c:v>-0.321</c:v>
                </c:pt>
                <c:pt idx="3">
                  <c:v>0.013</c:v>
                </c:pt>
              </c:numCache>
            </c:numRef>
          </c:val>
        </c:ser>
        <c:ser>
          <c:idx val="1"/>
          <c:order val="1"/>
          <c:tx>
            <c:strRef>
              <c:f>Sheet1!$C$1</c:f>
              <c:strCache>
                <c:ptCount val="1"/>
                <c:pt idx="0">
                  <c:v>log(1+x)</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Sheet1!$A$2:$A$5</c:f>
              <c:multiLvlStrCache>
                <c:ptCount val="4"/>
                <c:lvl>
                  <c:pt idx="0">
                    <c:v>Orthophosphate</c:v>
                  </c:pt>
                  <c:pt idx="1">
                    <c:v>Ammonia</c:v>
                  </c:pt>
                  <c:pt idx="2">
                    <c:v>BOD</c:v>
                  </c:pt>
                  <c:pt idx="3">
                    <c:v>N:P ratio</c:v>
                  </c:pt>
                </c:lvl>
              </c:multiLvlStrCache>
            </c:multiLvlStrRef>
          </c:cat>
          <c:val>
            <c:numRef>
              <c:f>Sheet1!$C$2:$C$5</c:f>
              <c:numCache>
                <c:formatCode>General</c:formatCode>
                <c:ptCount val="4"/>
                <c:pt idx="0">
                  <c:v>-0.853</c:v>
                </c:pt>
                <c:pt idx="1">
                  <c:v>-0.659</c:v>
                </c:pt>
                <c:pt idx="2">
                  <c:v>-0.578</c:v>
                </c:pt>
                <c:pt idx="3">
                  <c:v>0.517</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8"/>
          <c:min val="-1"/>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Validation MAE (index points; baseline = 14.13)</a:t>
            </a:r>
          </a:p>
        </c:rich>
      </c:tx>
      <c:layout/>
      <c:overlay val="0"/>
    </c:title>
    <c:autoTitleDeleted val="0"/>
    <c:plotArea>
      <c:layout/>
      <c:barChart>
        <c:barDir val="col"/>
        <c:grouping val="clustered"/>
        <c:varyColors val="0"/>
        <c:ser>
          <c:idx val="0"/>
          <c:order val="0"/>
          <c:tx>
            <c:strRef>
              <c:f>Sheet1!$B$1</c:f>
              <c:strCache>
                <c:ptCount val="1"/>
                <c:pt idx="0">
                  <c:v>Validation MAE (WQI points)</c:v>
                </c:pt>
              </c:strCache>
            </c:strRef>
          </c:tx>
          <c:spPr>
            <a:solidFill>
              <a:srgbClr val="0E7C86"/>
            </a:solidFill>
            <a:effectLst/>
          </c:spPr>
          <c:invertIfNegative val="0"/>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Random Forest</c:v>
                  </c:pt>
                  <c:pt idx="1">
                    <c:v>XGBoost</c:v>
                  </c:pt>
                  <c:pt idx="2">
                    <c:v>Dual-head MLP</c:v>
                  </c:pt>
                </c:lvl>
              </c:multiLvlStrCache>
            </c:multiLvlStrRef>
          </c:cat>
          <c:val>
            <c:numRef>
              <c:f>Sheet1!$B$2:$B$4</c:f>
              <c:numCache>
                <c:formatCode>General</c:formatCode>
                <c:ptCount val="3"/>
                <c:pt idx="0">
                  <c:v>0.052</c:v>
                </c:pt>
                <c:pt idx="1">
                  <c:v>0.137</c:v>
                </c:pt>
                <c:pt idx="2">
                  <c:v>0.706</c:v>
                </c:pt>
              </c:numCache>
            </c:numRef>
          </c:val>
        </c:ser>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9"/>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Built-in importance (% of total), top features</a:t>
            </a:r>
          </a:p>
        </c:rich>
      </c:tx>
      <c:layout/>
      <c:overlay val="0"/>
    </c:title>
    <c:autoTitleDeleted val="0"/>
    <c:plotArea>
      <c:layout/>
      <c:barChart>
        <c:barDir val="bar"/>
        <c:grouping val="clustered"/>
        <c:varyColors val="0"/>
        <c:ser>
          <c:idx val="0"/>
          <c:order val="0"/>
          <c:tx>
            <c:strRef>
              <c:f>Sheet1!$B$1</c:f>
              <c:strCache>
                <c:ptCount val="1"/>
                <c:pt idx="0">
                  <c:v>Random Forest</c:v>
                </c:pt>
              </c:strCache>
            </c:strRef>
          </c:tx>
          <c:spPr>
            <a:solidFill>
              <a:srgbClr val="0E7C8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unionized_ammonia</c:v>
                  </c:pt>
                  <c:pt idx="5">
                    <c:v>log1p_bod</c:v>
                  </c:pt>
                  <c:pt idx="6">
                    <c:v>exceedance_counter</c:v>
                  </c:pt>
                </c:lvl>
              </c:multiLvlStrCache>
            </c:multiLvlStrRef>
          </c:cat>
          <c:val>
            <c:numRef>
              <c:f>Sheet1!$B$2:$B$8</c:f>
              <c:numCache>
                <c:formatCode>General</c:formatCode>
                <c:ptCount val="7"/>
                <c:pt idx="0">
                  <c:v>48.28</c:v>
                </c:pt>
                <c:pt idx="1">
                  <c:v>40.2</c:v>
                </c:pt>
                <c:pt idx="2">
                  <c:v>5.05</c:v>
                </c:pt>
                <c:pt idx="3">
                  <c:v>4.38</c:v>
                </c:pt>
                <c:pt idx="4">
                  <c:v>0</c:v>
                </c:pt>
                <c:pt idx="5">
                  <c:v>0.76</c:v>
                </c:pt>
                <c:pt idx="6">
                  <c:v>0.04</c:v>
                </c:pt>
              </c:numCache>
            </c:numRef>
          </c:val>
        </c:ser>
        <c:ser>
          <c:idx val="1"/>
          <c:order val="1"/>
          <c:tx>
            <c:strRef>
              <c:f>Sheet1!$C$1</c:f>
              <c:strCache>
                <c:ptCount val="1"/>
                <c:pt idx="0">
                  <c:v>XGBoost</c:v>
                </c:pt>
              </c:strCache>
            </c:strRef>
          </c:tx>
          <c:spPr>
            <a:solidFill>
              <a:srgbClr val="2EC4B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unionized_ammonia</c:v>
                  </c:pt>
                  <c:pt idx="5">
                    <c:v>log1p_bod</c:v>
                  </c:pt>
                  <c:pt idx="6">
                    <c:v>exceedance_counter</c:v>
                  </c:pt>
                </c:lvl>
              </c:multiLvlStrCache>
            </c:multiLvlStrRef>
          </c:cat>
          <c:val>
            <c:numRef>
              <c:f>Sheet1!$C$2:$C$8</c:f>
              <c:numCache>
                <c:formatCode>General</c:formatCode>
                <c:ptCount val="7"/>
                <c:pt idx="0">
                  <c:v>49.3</c:v>
                </c:pt>
                <c:pt idx="1">
                  <c:v>36.73</c:v>
                </c:pt>
                <c:pt idx="2">
                  <c:v>5.85</c:v>
                </c:pt>
                <c:pt idx="3">
                  <c:v>1.15</c:v>
                </c:pt>
                <c:pt idx="4">
                  <c:v>2.04</c:v>
                </c:pt>
                <c:pt idx="5">
                  <c:v>1.7</c:v>
                </c:pt>
                <c:pt idx="6">
                  <c:v>0.78</c:v>
                </c:pt>
              </c:numCache>
            </c:numRef>
          </c:val>
        </c:ser>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6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predicting CCME WQI from eight measured parameters plus engineered features. Say up front that the deck includes an audit of the very high scores — that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BOD5 needs a five-day incubation (120 h). The model is a surrogate that maps already-measured parameters to an index. Do NOT claim real-time deployment or lab replacement: no deployment was built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F1 scope, F2 frequency, F3 amplitude. Mention that tier thresholds are the standard CCME bands. Note the dataset's index values are pre-computed from the same eight parameters we use as inputs; this matters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are the audited figures. Stress the imbalance: Canada contributes under 4,000 rows. Mention the discrepancy: report Table I shows England at 83.7% while the EDA figure counts give 75.5%; we use the EDA counts because they sum exactly to 2,819,617.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missingness from implausibility. The audit found 0 nulls in the 14 source columns, so nothing was imputed. Physical screening is a separate step: 8,360 rows (0.296%) were dropped. Per-parameter counts sum to more than 8,360 because rows can violate several bounds; the report says the union was taken.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dissolved oxygen against temperature follows the Benson-Krause saturation envelope (figure from the project report). Right: Pearson correlation with the WQI before and after log(1+x) — values from the technical report. Stress the nuance: log(1+x) is monotonic, so it cannot change rank correlation (raw orthophosphate Spearman is already -0.917) and tree models are invariant to it. It helps linear models and the neural network, not the tree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check: 8+7+7+6+1+2+7 = 38. Point out the amber card: exceedance_counter is a guideline-violation count, which is built from the same quantities as the target; slide 11 treats this as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is taken from the notebook descriptions: preprocessing notebook = cleaning, 38 features, stratified split. Lags therefore exist before partitioning. The split is random, so neighbouring observations of one station can fall in different partitions. Tests: 12 reported (features 4, models 3, leakage 2, metrics 3). They verify those properties only — not scientific validity. We did not re-run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split bar: random, stratified by WQI tier; no station or time hold-out. The tree configuration differs between the PDF report/viva guide (100 trees, depth 20; 300 rounds, lr 0.05, depth 8) and the repo technical report (30 trees, depth 14; 150 estimators, lr 0.08, depth 6, early stopping). Metrics are identical in both, so one description is wrong. Resolve before presenting configuration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validation-set (422,943 rows). RF has the lowest error, XGBoost is close, and the MLP trades about 5x higher MAE for multi-task output with calibrated probabilities (ECE 1.27%, accuracy 96.09%, macro F1 0.9485). Latency figures (0.42 s vs 3.85 s) are deliberately NOT on the slide: hardware, batch setup and RF size are undocumented and the RF configuration is disputed.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for credibility. (1) The team's own viva guide states the WQI is an exact deterministic aggregation of the chemical parameters, so the models emulate the formula. (2) exceedance_counter counts guideline violations, which is the same raw ingredient as F1; its low importance is expected because the raw columns already carry it. We could not read the code, so it is unresolved, not proven leakage. (3) The split is random, with station-lag features, so neighbouring observations cross partitions. Recommend dropping exceedance_counter and re-running, and a station-held-out and time-forward split. None of these experiments has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Importances come from the repo technical report: built-in Gini (RF) and gain (XGBoost) importances, NOT TreeSHAP and NOT split counts as the PDF wording says. Orthophosphate plus its log variant account for 86-88% of importance. A plausible, unverified explanation: the orthophosphate limit (0.05 mg/L) is close to the median reading (0.040), so it is exceeded often and moves the index most. The PDF claim that hist_ortho_lag1 ranks second is not supported by its own beeswarm or the importance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The PDF report lists deep learning as future work, but the repo technical report and AGENT.md document a trained dual-head MLP with validation metrics, so it is presented as implemented (validation only; notebook outputs were not independently re-run). Planned items are exactly that: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Aman closes: strongest verified result first, then the main limitation, then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chart" Targe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PROJECT 18 · SEMESTER 5 APPLIED ML &amp; DEEP LEARNING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a:t>
            </a:r>
            <a:endParaRPr lang="en-US" sz="1000" dirty="0"/>
          </a:p>
        </p:txBody>
      </p:sp>
      <p:sp>
        <p:nvSpPr>
          <p:cNvPr id="6" name="Text 4"/>
          <p:cNvSpPr txBox="1"/>
          <p:nvPr/>
        </p:nvSpPr>
        <p:spPr>
          <a:xfrm>
            <a:off x="548640" y="1371600"/>
            <a:ext cx="7315200" cy="173736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Surface Water Quality</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Prediction</a:t>
            </a:r>
            <a:endParaRPr lang="en-US" sz="4800" dirty="0"/>
          </a:p>
        </p:txBody>
      </p:sp>
      <p:sp>
        <p:nvSpPr>
          <p:cNvPr id="7" name="Text 5"/>
          <p:cNvSpPr txBox="1"/>
          <p:nvPr/>
        </p:nvSpPr>
        <p:spPr>
          <a:xfrm>
            <a:off x="548640" y="3337560"/>
            <a:ext cx="6766560" cy="1188720"/>
          </a:xfrm>
          <a:prstGeom prst="rect">
            <a:avLst/>
          </a:prstGeom>
          <a:noFill/>
          <a:ln/>
        </p:spPr>
        <p:txBody>
          <a:bodyPr wrap="square" lIns="0" tIns="0" rIns="0" bIns="0" rtlCol="0" anchor="t"/>
          <a:lstStyle/>
          <a:p>
            <a:pPr indent="0" marL="0">
              <a:buNone/>
            </a:pPr>
            <a:r>
              <a:rPr lang="en-US" sz="1800" dirty="0">
                <a:solidFill>
                  <a:srgbClr val="BFD6E2"/>
                </a:solidFill>
                <a:latin typeface="Calibri" pitchFamily="34" charset="0"/>
                <a:ea typeface="Calibri" pitchFamily="34" charset="-122"/>
                <a:cs typeface="Calibri" pitchFamily="34" charset="-120"/>
              </a:rPr>
              <a:t>Estimating the CCME Water Quality Index with gradient-tree ensembles, aquatic-chemistry features and a dual-head neural network — and an honest audit of what the scores mean</a:t>
            </a:r>
            <a:endParaRPr lang="en-US" sz="1800" dirty="0"/>
          </a:p>
        </p:txBody>
      </p:sp>
      <p:sp>
        <p:nvSpPr>
          <p:cNvPr id="8" name="Text 6"/>
          <p:cNvSpPr txBox="1"/>
          <p:nvPr/>
        </p:nvSpPr>
        <p:spPr>
          <a:xfrm>
            <a:off x="548640" y="5120640"/>
            <a:ext cx="7315200" cy="45720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Mayank Sharma · Aman Soni · Aaryan Gera</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Chaitanya Kumar · Ankit Kumar Pandey · Pranav</a:t>
            </a:r>
            <a:endParaRPr lang="en-US" sz="1500" dirty="0"/>
          </a:p>
        </p:txBody>
      </p:sp>
      <p:sp>
        <p:nvSpPr>
          <p:cNvPr id="9" name="Text 7"/>
          <p:cNvSpPr txBox="1"/>
          <p:nvPr/>
        </p:nvSpPr>
        <p:spPr>
          <a:xfrm>
            <a:off x="548640" y="5623560"/>
            <a:ext cx="7315200" cy="502920"/>
          </a:xfrm>
          <a:prstGeom prst="rect">
            <a:avLst/>
          </a:prstGeom>
          <a:noFill/>
          <a:ln/>
        </p:spPr>
        <p:txBody>
          <a:bodyPr wrap="square" lIns="0" tIns="0" rIns="0" bIns="0" rtlCol="0" anchor="t"/>
          <a:lstStyle/>
          <a:p>
            <a:pPr indent="0" marL="0">
              <a:buNone/>
            </a:pPr>
            <a:r>
              <a:rPr lang="en-US" sz="1300" dirty="0">
                <a:solidFill>
                  <a:srgbClr val="9FB6C6"/>
                </a:solidFill>
                <a:latin typeface="Calibri" pitchFamily="34" charset="0"/>
                <a:ea typeface="Calibri" pitchFamily="34" charset="-122"/>
                <a:cs typeface="Calibri" pitchFamily="34" charset="-120"/>
              </a:rPr>
              <a:t>Department of Computer Science &amp; Artificial Intelligence · School of Engineering and Technology</a:t>
            </a:r>
            <a:endParaRPr lang="en-US" sz="1300" dirty="0"/>
          </a:p>
        </p:txBody>
      </p:sp>
      <p:sp>
        <p:nvSpPr>
          <p:cNvPr id="10" name="Shape 8"/>
          <p:cNvSpPr/>
          <p:nvPr/>
        </p:nvSpPr>
        <p:spPr>
          <a:xfrm>
            <a:off x="8229600" y="1280160"/>
            <a:ext cx="3291840" cy="3291840"/>
          </a:xfrm>
          <a:prstGeom prst="ellipse">
            <a:avLst/>
          </a:prstGeom>
          <a:solidFill>
            <a:srgbClr val="12405A"/>
          </a:solidFill>
          <a:ln w="12700">
            <a:solidFill>
              <a:srgbClr val="12405A"/>
            </a:solidFill>
            <a:prstDash val="solid"/>
          </a:ln>
        </p:spPr>
      </p:sp>
      <p:sp>
        <p:nvSpPr>
          <p:cNvPr id="11" name="Shape 9"/>
          <p:cNvSpPr/>
          <p:nvPr/>
        </p:nvSpPr>
        <p:spPr>
          <a:xfrm>
            <a:off x="8686800" y="1737360"/>
            <a:ext cx="2377440" cy="2377440"/>
          </a:xfrm>
          <a:prstGeom prst="ellipse">
            <a:avLst/>
          </a:prstGeom>
          <a:solidFill>
            <a:srgbClr val="15607A"/>
          </a:solidFill>
          <a:ln w="12700">
            <a:solidFill>
              <a:srgbClr val="15607A"/>
            </a:solidFill>
            <a:prstDash val="solid"/>
          </a:ln>
        </p:spPr>
      </p:sp>
      <p:sp>
        <p:nvSpPr>
          <p:cNvPr id="12" name="Shape 10"/>
          <p:cNvSpPr/>
          <p:nvPr/>
        </p:nvSpPr>
        <p:spPr>
          <a:xfrm>
            <a:off x="9144000" y="2194560"/>
            <a:ext cx="1463040" cy="1463040"/>
          </a:xfrm>
          <a:prstGeom prst="ellipse">
            <a:avLst/>
          </a:prstGeom>
          <a:solidFill>
            <a:srgbClr val="0E7C86"/>
          </a:solidFill>
          <a:ln w="12700">
            <a:solidFill>
              <a:srgbClr val="0E7C86"/>
            </a:solidFill>
            <a:prstDash val="solid"/>
          </a:ln>
        </p:spPr>
      </p:sp>
      <p:sp>
        <p:nvSpPr>
          <p:cNvPr id="13" name="Shape 11"/>
          <p:cNvSpPr/>
          <p:nvPr/>
        </p:nvSpPr>
        <p:spPr>
          <a:xfrm>
            <a:off x="9601200" y="2651760"/>
            <a:ext cx="548640" cy="548640"/>
          </a:xfrm>
          <a:prstGeom prst="ellipse">
            <a:avLst/>
          </a:prstGeom>
          <a:solidFill>
            <a:srgbClr val="2EC4B6"/>
          </a:solidFill>
          <a:ln w="12700">
            <a:solidFill>
              <a:srgbClr val="2EC4B6"/>
            </a:solidFill>
            <a:prstDash val="solid"/>
          </a:ln>
        </p:spPr>
      </p:sp>
      <p:sp>
        <p:nvSpPr>
          <p:cNvPr id="14" name="Text 12"/>
          <p:cNvSpPr txBox="1"/>
          <p:nvPr/>
        </p:nvSpPr>
        <p:spPr>
          <a:xfrm>
            <a:off x="7863840" y="5120640"/>
            <a:ext cx="3840480" cy="274320"/>
          </a:xfrm>
          <a:prstGeom prst="rect">
            <a:avLst/>
          </a:prstGeom>
          <a:noFill/>
          <a:ln/>
        </p:spPr>
        <p:txBody>
          <a:bodyPr wrap="square" lIns="0" tIns="0" rIns="0" bIns="0" rtlCol="0" anchor="t"/>
          <a:lstStyle/>
          <a:p>
            <a:pPr algn="r" indent="0" marL="0">
              <a:buNone/>
            </a:pPr>
            <a:r>
              <a:rPr lang="en-US" sz="1300" dirty="0">
                <a:solidFill>
                  <a:srgbClr val="2EC4B6"/>
                </a:solidFill>
                <a:latin typeface="Calibri" pitchFamily="34" charset="0"/>
                <a:ea typeface="Calibri" pitchFamily="34" charset="-122"/>
                <a:cs typeface="Calibri" pitchFamily="34" charset="-120"/>
              </a:rPr>
              <a:t>2.82 M observations · 5 countries · 1940–2023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Lab assays are slow and sparse; an index estimator could triage faster</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783080"/>
            <a:ext cx="3383280" cy="1554480"/>
          </a:xfrm>
          <a:prstGeom prst="rect">
            <a:avLst/>
          </a:prstGeom>
          <a:solidFill>
            <a:srgbClr val="EAF4F6"/>
          </a:solidFill>
          <a:ln w="12700">
            <a:solidFill>
              <a:srgbClr val="EAF4F6"/>
            </a:solidFill>
            <a:prstDash val="solid"/>
          </a:ln>
        </p:spPr>
      </p:sp>
      <p:sp>
        <p:nvSpPr>
          <p:cNvPr id="8" name="Text 5"/>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Grab sample</a:t>
            </a:r>
            <a:endParaRPr lang="en-US" sz="2000" dirty="0"/>
          </a:p>
        </p:txBody>
      </p:sp>
      <p:sp>
        <p:nvSpPr>
          <p:cNvPr id="9" name="Text 6"/>
          <p:cNvSpPr txBox="1"/>
          <p:nvPr/>
        </p:nvSpPr>
        <p:spPr>
          <a:xfrm>
            <a:off x="77724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Field visit, discrete in space and time</a:t>
            </a:r>
            <a:endParaRPr lang="en-US" sz="1500" dirty="0"/>
          </a:p>
        </p:txBody>
      </p:sp>
      <p:sp>
        <p:nvSpPr>
          <p:cNvPr id="10" name="Text 7"/>
          <p:cNvSpPr txBox="1"/>
          <p:nvPr/>
        </p:nvSpPr>
        <p:spPr>
          <a:xfrm>
            <a:off x="393192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4297680" y="1783080"/>
            <a:ext cx="3383280" cy="1554480"/>
          </a:xfrm>
          <a:prstGeom prst="rect">
            <a:avLst/>
          </a:prstGeom>
          <a:solidFill>
            <a:srgbClr val="EAF4F6"/>
          </a:solidFill>
          <a:ln w="12700">
            <a:solidFill>
              <a:srgbClr val="EAF4F6"/>
            </a:solidFill>
            <a:prstDash val="solid"/>
          </a:ln>
        </p:spPr>
      </p:sp>
      <p:sp>
        <p:nvSpPr>
          <p:cNvPr id="12" name="Text 9"/>
          <p:cNvSpPr txBox="1"/>
          <p:nvPr/>
        </p:nvSpPr>
        <p:spPr>
          <a:xfrm>
            <a:off x="452628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Lab assay</a:t>
            </a:r>
            <a:endParaRPr lang="en-US" sz="2000" dirty="0"/>
          </a:p>
        </p:txBody>
      </p:sp>
      <p:sp>
        <p:nvSpPr>
          <p:cNvPr id="13" name="Text 10"/>
          <p:cNvSpPr txBox="1"/>
          <p:nvPr/>
        </p:nvSpPr>
        <p:spPr>
          <a:xfrm>
            <a:off x="452628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BOD5 needs 5 days (120 h) incubation</a:t>
            </a:r>
            <a:endParaRPr lang="en-US" sz="1500" dirty="0"/>
          </a:p>
        </p:txBody>
      </p:sp>
      <p:sp>
        <p:nvSpPr>
          <p:cNvPr id="14" name="Text 11"/>
          <p:cNvSpPr txBox="1"/>
          <p:nvPr/>
        </p:nvSpPr>
        <p:spPr>
          <a:xfrm>
            <a:off x="768096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8046720" y="1783080"/>
            <a:ext cx="3383280" cy="1554480"/>
          </a:xfrm>
          <a:prstGeom prst="rect">
            <a:avLst/>
          </a:prstGeom>
          <a:solidFill>
            <a:srgbClr val="EAF4F6"/>
          </a:solidFill>
          <a:ln w="12700">
            <a:solidFill>
              <a:srgbClr val="EAF4F6"/>
            </a:solidFill>
            <a:prstDash val="solid"/>
          </a:ln>
        </p:spPr>
      </p:sp>
      <p:sp>
        <p:nvSpPr>
          <p:cNvPr id="16" name="Text 13"/>
          <p:cNvSpPr txBox="1"/>
          <p:nvPr/>
        </p:nvSpPr>
        <p:spPr>
          <a:xfrm>
            <a:off x="827532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Index</a:t>
            </a:r>
            <a:endParaRPr lang="en-US" sz="2000" dirty="0"/>
          </a:p>
        </p:txBody>
      </p:sp>
      <p:sp>
        <p:nvSpPr>
          <p:cNvPr id="17" name="Text 14"/>
          <p:cNvSpPr txBox="1"/>
          <p:nvPr/>
        </p:nvSpPr>
        <p:spPr>
          <a:xfrm>
            <a:off x="827532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Composite score computed after results arrive</a:t>
            </a:r>
            <a:endParaRPr lang="en-US" sz="1500" dirty="0"/>
          </a:p>
        </p:txBody>
      </p:sp>
      <p:sp>
        <p:nvSpPr>
          <p:cNvPr id="18" name="Text 15"/>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Project objective</a:t>
            </a:r>
            <a:endParaRPr lang="en-US" sz="2000" dirty="0"/>
          </a:p>
        </p:txBody>
      </p:sp>
      <p:sp>
        <p:nvSpPr>
          <p:cNvPr id="19" name="Text 16"/>
          <p:cNvSpPr txBox="1"/>
          <p:nvPr/>
        </p:nvSpPr>
        <p:spPr>
          <a:xfrm>
            <a:off x="548640" y="4160520"/>
            <a:ext cx="5303520" cy="11887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Learn a fast surrogate: measured physico-chemical parameters (pH, temperature, DO, BOD, ammonia, orthophosphate, nitrogen, nitrate) → CCME WQI score and quality tier.</a:t>
            </a:r>
            <a:endParaRPr lang="en-US" sz="1500" dirty="0"/>
          </a:p>
        </p:txBody>
      </p:sp>
      <p:sp>
        <p:nvSpPr>
          <p:cNvPr id="20" name="Text 17"/>
          <p:cNvSpPr txBox="1"/>
          <p:nvPr/>
        </p:nvSpPr>
        <p:spPr>
          <a:xfrm>
            <a:off x="6400800" y="3749040"/>
            <a:ext cx="521208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Scope of claims</a:t>
            </a:r>
            <a:endParaRPr lang="en-US" sz="2000" dirty="0"/>
          </a:p>
        </p:txBody>
      </p:sp>
      <p:sp>
        <p:nvSpPr>
          <p:cNvPr id="21" name="Text 18"/>
          <p:cNvSpPr txBox="1"/>
          <p:nvPr/>
        </p:nvSpPr>
        <p:spPr>
          <a:xfrm>
            <a:off x="6400800" y="4160520"/>
            <a:ext cx="521208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Demonstrated: offline regression and classification on a historical dataset</a:t>
            </a:r>
            <a:endParaRPr lang="en-US" sz="1500" dirty="0"/>
          </a:p>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Not demonstrated: real-time sensing, field deployment, replacing laboratory testing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OBJECTIVE AND TARGET</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The target is the CCME Water Quality Index: 100 minus a distance from ideal</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11091672" cy="868680"/>
          </a:xfrm>
          <a:prstGeom prst="rect">
            <a:avLst/>
          </a:prstGeom>
          <a:solidFill>
            <a:srgbClr val="EAF4F6"/>
          </a:solidFill>
          <a:ln w="12700">
            <a:solidFill>
              <a:srgbClr val="EAF4F6"/>
            </a:solidFill>
            <a:prstDash val="solid"/>
          </a:ln>
        </p:spPr>
      </p:sp>
      <p:sp>
        <p:nvSpPr>
          <p:cNvPr id="8" name="Text 5"/>
          <p:cNvSpPr txBox="1"/>
          <p:nvPr/>
        </p:nvSpPr>
        <p:spPr>
          <a:xfrm>
            <a:off x="822960" y="1737360"/>
            <a:ext cx="10515600" cy="86868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CCME WQI = 100 − √(F₁² + F₂² + F₃²) / 1.732</a:t>
            </a:r>
            <a:endParaRPr lang="en-US" sz="2800" dirty="0"/>
          </a:p>
        </p:txBody>
      </p:sp>
      <p:sp>
        <p:nvSpPr>
          <p:cNvPr id="9" name="Shape 6"/>
          <p:cNvSpPr/>
          <p:nvPr/>
        </p:nvSpPr>
        <p:spPr>
          <a:xfrm>
            <a:off x="548640" y="2834640"/>
            <a:ext cx="3611880" cy="1143000"/>
          </a:xfrm>
          <a:prstGeom prst="rect">
            <a:avLst/>
          </a:prstGeom>
          <a:solidFill>
            <a:srgbClr val="F4F8FA"/>
          </a:solidFill>
          <a:ln w="12700">
            <a:solidFill>
              <a:srgbClr val="F4F8FA"/>
            </a:solidFill>
            <a:prstDash val="solid"/>
          </a:ln>
        </p:spPr>
      </p:sp>
      <p:sp>
        <p:nvSpPr>
          <p:cNvPr id="10" name="Text 7"/>
          <p:cNvSpPr txBox="1"/>
          <p:nvPr/>
        </p:nvSpPr>
        <p:spPr>
          <a:xfrm>
            <a:off x="73152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F₁ Scope</a:t>
            </a:r>
            <a:endParaRPr lang="en-US" sz="1800" dirty="0"/>
          </a:p>
        </p:txBody>
      </p:sp>
      <p:sp>
        <p:nvSpPr>
          <p:cNvPr id="11" name="Text 8"/>
          <p:cNvSpPr txBox="1"/>
          <p:nvPr/>
        </p:nvSpPr>
        <p:spPr>
          <a:xfrm>
            <a:off x="73152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variables that fail their guideline</a:t>
            </a:r>
            <a:endParaRPr lang="en-US" sz="1400" dirty="0"/>
          </a:p>
        </p:txBody>
      </p:sp>
      <p:sp>
        <p:nvSpPr>
          <p:cNvPr id="12" name="Shape 9"/>
          <p:cNvSpPr/>
          <p:nvPr/>
        </p:nvSpPr>
        <p:spPr>
          <a:xfrm>
            <a:off x="4297680" y="2834640"/>
            <a:ext cx="3611880" cy="1143000"/>
          </a:xfrm>
          <a:prstGeom prst="rect">
            <a:avLst/>
          </a:prstGeom>
          <a:solidFill>
            <a:srgbClr val="F4F8FA"/>
          </a:solidFill>
          <a:ln w="12700">
            <a:solidFill>
              <a:srgbClr val="F4F8FA"/>
            </a:solidFill>
            <a:prstDash val="solid"/>
          </a:ln>
        </p:spPr>
      </p:sp>
      <p:sp>
        <p:nvSpPr>
          <p:cNvPr id="13" name="Text 10"/>
          <p:cNvSpPr txBox="1"/>
          <p:nvPr/>
        </p:nvSpPr>
        <p:spPr>
          <a:xfrm>
            <a:off x="448056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F₂ Frequency</a:t>
            </a:r>
            <a:endParaRPr lang="en-US" sz="1800" dirty="0"/>
          </a:p>
        </p:txBody>
      </p:sp>
      <p:sp>
        <p:nvSpPr>
          <p:cNvPr id="14" name="Text 11"/>
          <p:cNvSpPr txBox="1"/>
          <p:nvPr/>
        </p:nvSpPr>
        <p:spPr>
          <a:xfrm>
            <a:off x="448056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individual tests that fail</a:t>
            </a:r>
            <a:endParaRPr lang="en-US" sz="1400" dirty="0"/>
          </a:p>
        </p:txBody>
      </p:sp>
      <p:sp>
        <p:nvSpPr>
          <p:cNvPr id="15" name="Shape 12"/>
          <p:cNvSpPr/>
          <p:nvPr/>
        </p:nvSpPr>
        <p:spPr>
          <a:xfrm>
            <a:off x="8046720" y="2834640"/>
            <a:ext cx="3611880" cy="1143000"/>
          </a:xfrm>
          <a:prstGeom prst="rect">
            <a:avLst/>
          </a:prstGeom>
          <a:solidFill>
            <a:srgbClr val="F4F8FA"/>
          </a:solidFill>
          <a:ln w="12700">
            <a:solidFill>
              <a:srgbClr val="F4F8FA"/>
            </a:solidFill>
            <a:prstDash val="solid"/>
          </a:ln>
        </p:spPr>
      </p:sp>
      <p:sp>
        <p:nvSpPr>
          <p:cNvPr id="16" name="Text 13"/>
          <p:cNvSpPr txBox="1"/>
          <p:nvPr/>
        </p:nvSpPr>
        <p:spPr>
          <a:xfrm>
            <a:off x="822960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F₃ Amplitude</a:t>
            </a:r>
            <a:endParaRPr lang="en-US" sz="1800" dirty="0"/>
          </a:p>
        </p:txBody>
      </p:sp>
      <p:sp>
        <p:nvSpPr>
          <p:cNvPr id="17" name="Text 14"/>
          <p:cNvSpPr txBox="1"/>
          <p:nvPr/>
        </p:nvSpPr>
        <p:spPr>
          <a:xfrm>
            <a:off x="822960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Size of excursions: nse / (0.01·nse + 0.01)</a:t>
            </a:r>
            <a:endParaRPr lang="en-US" sz="1400" dirty="0"/>
          </a:p>
        </p:txBody>
      </p:sp>
      <p:sp>
        <p:nvSpPr>
          <p:cNvPr id="18" name="Text 15"/>
          <p:cNvSpPr txBox="1"/>
          <p:nvPr/>
        </p:nvSpPr>
        <p:spPr>
          <a:xfrm>
            <a:off x="548640" y="4206240"/>
            <a:ext cx="73152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Five quality tiers (share of dataset rows)</a:t>
            </a:r>
            <a:endParaRPr lang="en-US" sz="1600" dirty="0"/>
          </a:p>
        </p:txBody>
      </p:sp>
      <p:sp>
        <p:nvSpPr>
          <p:cNvPr id="19" name="Shape 16"/>
          <p:cNvSpPr/>
          <p:nvPr/>
        </p:nvSpPr>
        <p:spPr>
          <a:xfrm>
            <a:off x="548640" y="4572000"/>
            <a:ext cx="1463040" cy="685800"/>
          </a:xfrm>
          <a:prstGeom prst="rect">
            <a:avLst/>
          </a:prstGeom>
          <a:solidFill>
            <a:srgbClr val="B5483A"/>
          </a:solidFill>
          <a:ln w="19050">
            <a:solidFill>
              <a:srgbClr val="FFFFFF"/>
            </a:solidFill>
            <a:prstDash val="solid"/>
          </a:ln>
        </p:spPr>
      </p:sp>
      <p:sp>
        <p:nvSpPr>
          <p:cNvPr id="20" name="Text 17"/>
          <p:cNvSpPr txBox="1"/>
          <p:nvPr/>
        </p:nvSpPr>
        <p:spPr>
          <a:xfrm>
            <a:off x="548640" y="45720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Poor 0–44</a:t>
            </a:r>
            <a:endParaRPr lang="en-US" sz="1200" dirty="0"/>
          </a:p>
        </p:txBody>
      </p:sp>
      <p:sp>
        <p:nvSpPr>
          <p:cNvPr id="21" name="Text 18"/>
          <p:cNvSpPr txBox="1"/>
          <p:nvPr/>
        </p:nvSpPr>
        <p:spPr>
          <a:xfrm>
            <a:off x="548640" y="4919472"/>
            <a:ext cx="146304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4.5%</a:t>
            </a:r>
            <a:endParaRPr lang="en-US" sz="1200" dirty="0"/>
          </a:p>
        </p:txBody>
      </p:sp>
      <p:sp>
        <p:nvSpPr>
          <p:cNvPr id="22" name="Shape 19"/>
          <p:cNvSpPr/>
          <p:nvPr/>
        </p:nvSpPr>
        <p:spPr>
          <a:xfrm>
            <a:off x="2011680" y="4572000"/>
            <a:ext cx="2194560" cy="685800"/>
          </a:xfrm>
          <a:prstGeom prst="rect">
            <a:avLst/>
          </a:prstGeom>
          <a:solidFill>
            <a:srgbClr val="D98A1F"/>
          </a:solidFill>
          <a:ln w="19050">
            <a:solidFill>
              <a:srgbClr val="FFFFFF"/>
            </a:solidFill>
            <a:prstDash val="solid"/>
          </a:ln>
        </p:spPr>
      </p:sp>
      <p:sp>
        <p:nvSpPr>
          <p:cNvPr id="23" name="Text 20"/>
          <p:cNvSpPr txBox="1"/>
          <p:nvPr/>
        </p:nvSpPr>
        <p:spPr>
          <a:xfrm>
            <a:off x="2011680" y="457200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Marginal 45–64</a:t>
            </a:r>
            <a:endParaRPr lang="en-US" sz="1200" dirty="0"/>
          </a:p>
        </p:txBody>
      </p:sp>
      <p:sp>
        <p:nvSpPr>
          <p:cNvPr id="24" name="Text 21"/>
          <p:cNvSpPr txBox="1"/>
          <p:nvPr/>
        </p:nvSpPr>
        <p:spPr>
          <a:xfrm>
            <a:off x="2011680" y="4919472"/>
            <a:ext cx="21945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11.6%</a:t>
            </a:r>
            <a:endParaRPr lang="en-US" sz="1200" dirty="0"/>
          </a:p>
        </p:txBody>
      </p:sp>
      <p:sp>
        <p:nvSpPr>
          <p:cNvPr id="25" name="Shape 22"/>
          <p:cNvSpPr/>
          <p:nvPr/>
        </p:nvSpPr>
        <p:spPr>
          <a:xfrm>
            <a:off x="4206240" y="4572000"/>
            <a:ext cx="2194560" cy="685800"/>
          </a:xfrm>
          <a:prstGeom prst="rect">
            <a:avLst/>
          </a:prstGeom>
          <a:solidFill>
            <a:srgbClr val="E6C34A"/>
          </a:solidFill>
          <a:ln w="19050">
            <a:solidFill>
              <a:srgbClr val="FFFFFF"/>
            </a:solidFill>
            <a:prstDash val="solid"/>
          </a:ln>
        </p:spPr>
      </p:sp>
      <p:sp>
        <p:nvSpPr>
          <p:cNvPr id="26" name="Text 23"/>
          <p:cNvSpPr txBox="1"/>
          <p:nvPr/>
        </p:nvSpPr>
        <p:spPr>
          <a:xfrm>
            <a:off x="4206240" y="4572000"/>
            <a:ext cx="2194560" cy="384048"/>
          </a:xfrm>
          <a:prstGeom prst="rect">
            <a:avLst/>
          </a:prstGeom>
          <a:noFill/>
          <a:ln/>
        </p:spPr>
        <p:txBody>
          <a:bodyPr wrap="square" lIns="0" tIns="0" rIns="0" bIns="0" rtlCol="0" anchor="ctr"/>
          <a:lstStyle/>
          <a:p>
            <a:pPr algn="ctr" indent="0" marL="0">
              <a:buNone/>
            </a:pPr>
            <a:r>
              <a:rPr lang="en-US" sz="1200" b="1" dirty="0">
                <a:solidFill>
                  <a:srgbClr val="12202E"/>
                </a:solidFill>
                <a:latin typeface="Calibri" pitchFamily="34" charset="0"/>
                <a:ea typeface="Calibri" pitchFamily="34" charset="-122"/>
                <a:cs typeface="Calibri" pitchFamily="34" charset="-120"/>
              </a:rPr>
              <a:t>Fair 65–79</a:t>
            </a:r>
            <a:endParaRPr lang="en-US" sz="1200" dirty="0"/>
          </a:p>
        </p:txBody>
      </p:sp>
      <p:sp>
        <p:nvSpPr>
          <p:cNvPr id="27" name="Text 24"/>
          <p:cNvSpPr txBox="1"/>
          <p:nvPr/>
        </p:nvSpPr>
        <p:spPr>
          <a:xfrm>
            <a:off x="4206240" y="4919472"/>
            <a:ext cx="2194560" cy="320040"/>
          </a:xfrm>
          <a:prstGeom prst="rect">
            <a:avLst/>
          </a:prstGeom>
          <a:noFill/>
          <a:ln/>
        </p:spPr>
        <p:txBody>
          <a:bodyPr wrap="square" lIns="0" tIns="0" rIns="0" bIns="0" rtlCol="0" anchor="ctr"/>
          <a:lstStyle/>
          <a:p>
            <a:pPr algn="ctr" indent="0" marL="0">
              <a:buNone/>
            </a:pPr>
            <a:r>
              <a:rPr lang="en-US" sz="1200" dirty="0">
                <a:solidFill>
                  <a:srgbClr val="12202E"/>
                </a:solidFill>
                <a:latin typeface="Calibri" pitchFamily="34" charset="0"/>
                <a:ea typeface="Calibri" pitchFamily="34" charset="-122"/>
                <a:cs typeface="Calibri" pitchFamily="34" charset="-120"/>
              </a:rPr>
              <a:t>11.3%</a:t>
            </a:r>
            <a:endParaRPr lang="en-US" sz="1200" dirty="0"/>
          </a:p>
        </p:txBody>
      </p:sp>
      <p:sp>
        <p:nvSpPr>
          <p:cNvPr id="28" name="Shape 25"/>
          <p:cNvSpPr/>
          <p:nvPr/>
        </p:nvSpPr>
        <p:spPr>
          <a:xfrm>
            <a:off x="6400800" y="4572000"/>
            <a:ext cx="2651760" cy="685800"/>
          </a:xfrm>
          <a:prstGeom prst="rect">
            <a:avLst/>
          </a:prstGeom>
          <a:solidFill>
            <a:srgbClr val="2EC4B6"/>
          </a:solidFill>
          <a:ln w="19050">
            <a:solidFill>
              <a:srgbClr val="FFFFFF"/>
            </a:solidFill>
            <a:prstDash val="solid"/>
          </a:ln>
        </p:spPr>
      </p:sp>
      <p:sp>
        <p:nvSpPr>
          <p:cNvPr id="29" name="Text 26"/>
          <p:cNvSpPr txBox="1"/>
          <p:nvPr/>
        </p:nvSpPr>
        <p:spPr>
          <a:xfrm>
            <a:off x="6400800" y="4572000"/>
            <a:ext cx="26517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Good 80–94</a:t>
            </a:r>
            <a:endParaRPr lang="en-US" sz="1200" dirty="0"/>
          </a:p>
        </p:txBody>
      </p:sp>
      <p:sp>
        <p:nvSpPr>
          <p:cNvPr id="30" name="Text 27"/>
          <p:cNvSpPr txBox="1"/>
          <p:nvPr/>
        </p:nvSpPr>
        <p:spPr>
          <a:xfrm>
            <a:off x="6400800" y="4919472"/>
            <a:ext cx="26517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36.4%</a:t>
            </a:r>
            <a:endParaRPr lang="en-US" sz="1200" dirty="0"/>
          </a:p>
        </p:txBody>
      </p:sp>
      <p:sp>
        <p:nvSpPr>
          <p:cNvPr id="31" name="Shape 28"/>
          <p:cNvSpPr/>
          <p:nvPr/>
        </p:nvSpPr>
        <p:spPr>
          <a:xfrm>
            <a:off x="9052560" y="4572000"/>
            <a:ext cx="2587752" cy="685800"/>
          </a:xfrm>
          <a:prstGeom prst="rect">
            <a:avLst/>
          </a:prstGeom>
          <a:solidFill>
            <a:srgbClr val="0E7C86"/>
          </a:solidFill>
          <a:ln w="19050">
            <a:solidFill>
              <a:srgbClr val="FFFFFF"/>
            </a:solidFill>
            <a:prstDash val="solid"/>
          </a:ln>
        </p:spPr>
      </p:sp>
      <p:sp>
        <p:nvSpPr>
          <p:cNvPr id="32" name="Text 29"/>
          <p:cNvSpPr txBox="1"/>
          <p:nvPr/>
        </p:nvSpPr>
        <p:spPr>
          <a:xfrm>
            <a:off x="9052560" y="4572000"/>
            <a:ext cx="2587752"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Excellent 95–100</a:t>
            </a:r>
            <a:endParaRPr lang="en-US" sz="1200" dirty="0"/>
          </a:p>
        </p:txBody>
      </p:sp>
      <p:sp>
        <p:nvSpPr>
          <p:cNvPr id="33" name="Text 30"/>
          <p:cNvSpPr txBox="1"/>
          <p:nvPr/>
        </p:nvSpPr>
        <p:spPr>
          <a:xfrm>
            <a:off x="9052560" y="4919472"/>
            <a:ext cx="2587752"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36.2%</a:t>
            </a:r>
            <a:endParaRPr lang="en-US" sz="1200" dirty="0"/>
          </a:p>
        </p:txBody>
      </p:sp>
      <p:sp>
        <p:nvSpPr>
          <p:cNvPr id="34" name="Text 31"/>
          <p:cNvSpPr txBox="1"/>
          <p:nvPr/>
        </p:nvSpPr>
        <p:spPr>
          <a:xfrm>
            <a:off x="548640" y="5486400"/>
            <a:ext cx="11064240" cy="54864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Index values in the data: mean 85.05, median 90.64, range 32.15–100 (strongly left-skewed). Tier shares from the technical report; they sum to ≈100%.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DATASET SCALE AND COMPOSITION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2.82 million observations, but 75% of them come from England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
        <p:nvSpPr>
          <p:cNvPr id="7" name="Text 4"/>
          <p:cNvSpPr txBox="1"/>
          <p:nvPr/>
        </p:nvSpPr>
        <p:spPr>
          <a:xfrm>
            <a:off x="54864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2,827,977</a:t>
            </a:r>
            <a:endParaRPr lang="en-US" sz="2800" dirty="0"/>
          </a:p>
        </p:txBody>
      </p:sp>
      <p:sp>
        <p:nvSpPr>
          <p:cNvPr id="8" name="Text 5"/>
          <p:cNvSpPr txBox="1"/>
          <p:nvPr/>
        </p:nvSpPr>
        <p:spPr>
          <a:xfrm>
            <a:off x="54864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2788920" y="1691640"/>
            <a:ext cx="2103120" cy="640080"/>
          </a:xfrm>
          <a:prstGeom prst="rect">
            <a:avLst/>
          </a:prstGeom>
          <a:noFill/>
          <a:ln/>
        </p:spPr>
        <p:txBody>
          <a:bodyPr wrap="square" lIns="0" tIns="0" rIns="0" bIns="0" rtlCol="0" anchor="t"/>
          <a:lstStyle/>
          <a:p>
            <a:pPr indent="0" marL="0">
              <a:buNone/>
            </a:pPr>
            <a:r>
              <a:rPr lang="en-US" sz="2800" b="1" dirty="0">
                <a:solidFill>
                  <a:srgbClr val="0E7C86"/>
                </a:solidFill>
                <a:latin typeface="Cambria" pitchFamily="34" charset="0"/>
                <a:ea typeface="Cambria" pitchFamily="34" charset="-122"/>
                <a:cs typeface="Cambria" pitchFamily="34" charset="-120"/>
              </a:rPr>
              <a:t>2,819,617</a:t>
            </a:r>
            <a:endParaRPr lang="en-US" sz="2800" dirty="0"/>
          </a:p>
        </p:txBody>
      </p:sp>
      <p:sp>
        <p:nvSpPr>
          <p:cNvPr id="10" name="Text 7"/>
          <p:cNvSpPr txBox="1"/>
          <p:nvPr/>
        </p:nvSpPr>
        <p:spPr>
          <a:xfrm>
            <a:off x="278892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1" name="Text 8"/>
          <p:cNvSpPr txBox="1"/>
          <p:nvPr/>
        </p:nvSpPr>
        <p:spPr>
          <a:xfrm>
            <a:off x="502920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5</a:t>
            </a:r>
            <a:endParaRPr lang="en-US" sz="2800" dirty="0"/>
          </a:p>
        </p:txBody>
      </p:sp>
      <p:sp>
        <p:nvSpPr>
          <p:cNvPr id="12" name="Text 9"/>
          <p:cNvSpPr txBox="1"/>
          <p:nvPr/>
        </p:nvSpPr>
        <p:spPr>
          <a:xfrm>
            <a:off x="502920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countries</a:t>
            </a:r>
            <a:endParaRPr lang="en-US" sz="1200" dirty="0"/>
          </a:p>
        </p:txBody>
      </p:sp>
      <p:sp>
        <p:nvSpPr>
          <p:cNvPr id="13" name="Text 10"/>
          <p:cNvSpPr txBox="1"/>
          <p:nvPr/>
        </p:nvSpPr>
        <p:spPr>
          <a:xfrm>
            <a:off x="726948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1940–2023</a:t>
            </a:r>
            <a:endParaRPr lang="en-US" sz="2800" dirty="0"/>
          </a:p>
        </p:txBody>
      </p:sp>
      <p:sp>
        <p:nvSpPr>
          <p:cNvPr id="14" name="Text 11"/>
          <p:cNvSpPr txBox="1"/>
          <p:nvPr/>
        </p:nvSpPr>
        <p:spPr>
          <a:xfrm>
            <a:off x="726948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83 years</a:t>
            </a:r>
            <a:endParaRPr lang="en-US" sz="1200" dirty="0"/>
          </a:p>
        </p:txBody>
      </p:sp>
      <p:sp>
        <p:nvSpPr>
          <p:cNvPr id="15" name="Text 12"/>
          <p:cNvSpPr txBox="1"/>
          <p:nvPr/>
        </p:nvSpPr>
        <p:spPr>
          <a:xfrm>
            <a:off x="950976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38</a:t>
            </a:r>
            <a:endParaRPr lang="en-US" sz="2800" dirty="0"/>
          </a:p>
        </p:txBody>
      </p:sp>
      <p:sp>
        <p:nvSpPr>
          <p:cNvPr id="16" name="Text 13"/>
          <p:cNvSpPr txBox="1"/>
          <p:nvPr/>
        </p:nvSpPr>
        <p:spPr>
          <a:xfrm>
            <a:off x="950976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model input features</a:t>
            </a:r>
            <a:endParaRPr lang="en-US" sz="1200" dirty="0"/>
          </a:p>
        </p:txBody>
      </p:sp>
      <p:graphicFrame>
        <p:nvGraphicFramePr>
          <p:cNvPr id="17" name="Chart 0" descr=""/>
          <p:cNvGraphicFramePr/>
          <p:nvPr/>
        </p:nvGraphicFramePr>
        <p:xfrm>
          <a:off x="548640" y="2926080"/>
          <a:ext cx="6766560" cy="3291840"/>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7680960" y="3017520"/>
            <a:ext cx="3959352" cy="3063240"/>
          </a:xfrm>
          <a:prstGeom prst="rect">
            <a:avLst/>
          </a:prstGeom>
          <a:solidFill>
            <a:srgbClr val="EAF4F6"/>
          </a:solidFill>
          <a:ln w="12700">
            <a:solidFill>
              <a:srgbClr val="EAF4F6"/>
            </a:solidFill>
            <a:prstDash val="solid"/>
          </a:ln>
        </p:spPr>
      </p:sp>
      <p:sp>
        <p:nvSpPr>
          <p:cNvPr id="19" name="Text 15"/>
          <p:cNvSpPr txBox="1"/>
          <p:nvPr/>
        </p:nvSpPr>
        <p:spPr>
          <a:xfrm>
            <a:off x="7909560" y="3154680"/>
            <a:ext cx="356616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Clean row counts</a:t>
            </a:r>
            <a:endParaRPr lang="en-US" sz="1600" dirty="0"/>
          </a:p>
        </p:txBody>
      </p:sp>
      <p:sp>
        <p:nvSpPr>
          <p:cNvPr id="20" name="Text 16"/>
          <p:cNvSpPr txBox="1"/>
          <p:nvPr/>
        </p:nvSpPr>
        <p:spPr>
          <a:xfrm>
            <a:off x="7909560" y="3520440"/>
            <a:ext cx="3566160" cy="1554480"/>
          </a:xfrm>
          <a:prstGeom prst="rect">
            <a:avLst/>
          </a:prstGeom>
          <a:noFill/>
          <a:ln/>
        </p:spPr>
        <p:txBody>
          <a:bodyPr wrap="square" lIns="0" tIns="0" rIns="0" bIns="0" rtlCol="0" anchor="t"/>
          <a:lstStyle/>
          <a:p>
            <a:pPr indent="0" marL="0">
              <a:spcAft>
                <a:spcPts val="200"/>
              </a:spcAft>
              <a:buNone/>
            </a:pPr>
            <a:r>
              <a:rPr lang="en-US" sz="1400" dirty="0">
                <a:solidFill>
                  <a:srgbClr val="12202E"/>
                </a:solidFill>
                <a:latin typeface="Calibri" pitchFamily="34" charset="0"/>
                <a:ea typeface="Calibri" pitchFamily="34" charset="-122"/>
                <a:cs typeface="Calibri" pitchFamily="34" charset="-120"/>
              </a:rPr>
              <a:t>England 2,128,128</a:t>
            </a:r>
            <a:endParaRPr lang="en-US" sz="1400" dirty="0"/>
          </a:p>
          <a:p>
            <a:pPr indent="0" marL="0">
              <a:spcAft>
                <a:spcPts val="200"/>
              </a:spcAft>
              <a:buNone/>
            </a:pPr>
            <a:r>
              <a:rPr lang="en-US" sz="1400" dirty="0">
                <a:solidFill>
                  <a:srgbClr val="12202E"/>
                </a:solidFill>
                <a:latin typeface="Calibri" pitchFamily="34" charset="0"/>
                <a:ea typeface="Calibri" pitchFamily="34" charset="-122"/>
                <a:cs typeface="Calibri" pitchFamily="34" charset="-120"/>
              </a:rPr>
              <a:t>USA 407,138</a:t>
            </a:r>
            <a:endParaRPr lang="en-US" sz="1400" dirty="0"/>
          </a:p>
          <a:p>
            <a:pPr indent="0" marL="0">
              <a:spcAft>
                <a:spcPts val="200"/>
              </a:spcAft>
              <a:buNone/>
            </a:pPr>
            <a:r>
              <a:rPr lang="en-US" sz="1400" dirty="0">
                <a:solidFill>
                  <a:srgbClr val="12202E"/>
                </a:solidFill>
                <a:latin typeface="Calibri" pitchFamily="34" charset="0"/>
                <a:ea typeface="Calibri" pitchFamily="34" charset="-122"/>
                <a:cs typeface="Calibri" pitchFamily="34" charset="-120"/>
              </a:rPr>
              <a:t>Ireland 234,409</a:t>
            </a:r>
            <a:endParaRPr lang="en-US" sz="1400" dirty="0"/>
          </a:p>
          <a:p>
            <a:pPr indent="0" marL="0">
              <a:spcAft>
                <a:spcPts val="200"/>
              </a:spcAft>
              <a:buNone/>
            </a:pPr>
            <a:r>
              <a:rPr lang="en-US" sz="1400" dirty="0">
                <a:solidFill>
                  <a:srgbClr val="12202E"/>
                </a:solidFill>
                <a:latin typeface="Calibri" pitchFamily="34" charset="0"/>
                <a:ea typeface="Calibri" pitchFamily="34" charset="-122"/>
                <a:cs typeface="Calibri" pitchFamily="34" charset="-120"/>
              </a:rPr>
              <a:t>China 45,996</a:t>
            </a:r>
            <a:endParaRPr lang="en-US" sz="1400" dirty="0"/>
          </a:p>
          <a:p>
            <a:pPr indent="0" marL="0">
              <a:spcAft>
                <a:spcPts val="200"/>
              </a:spcAft>
              <a:buNone/>
            </a:pPr>
            <a:r>
              <a:rPr lang="en-US" sz="1400" dirty="0">
                <a:solidFill>
                  <a:srgbClr val="12202E"/>
                </a:solidFill>
                <a:latin typeface="Calibri" pitchFamily="34" charset="0"/>
                <a:ea typeface="Calibri" pitchFamily="34" charset="-122"/>
                <a:cs typeface="Calibri" pitchFamily="34" charset="-120"/>
              </a:rPr>
              <a:t>Canada 3,946</a:t>
            </a:r>
            <a:endParaRPr lang="en-US" sz="1400" dirty="0"/>
          </a:p>
        </p:txBody>
      </p:sp>
      <p:sp>
        <p:nvSpPr>
          <p:cNvPr id="21" name="Text 17"/>
          <p:cNvSpPr txBox="1"/>
          <p:nvPr/>
        </p:nvSpPr>
        <p:spPr>
          <a:xfrm>
            <a:off x="7909560" y="5029200"/>
            <a:ext cx="3566160" cy="100584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Rivers are 65% of waterbodies. Results mainly reflect English rivers; Canada and China are too small to support country-level claims.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 AUDIT AND PHYSICAL-BOUND SCREENING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Zero nulls — but 8,360 physically impossible readings were removed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783080"/>
            <a:ext cx="4206240" cy="566928"/>
          </a:xfrm>
          <a:prstGeom prst="rect">
            <a:avLst/>
          </a:prstGeom>
          <a:solidFill>
            <a:srgbClr val="0B1F33"/>
          </a:solidFill>
          <a:ln w="12700">
            <a:solidFill>
              <a:srgbClr val="0B1F33"/>
            </a:solidFill>
            <a:prstDash val="solid"/>
          </a:ln>
        </p:spPr>
      </p:sp>
      <p:sp>
        <p:nvSpPr>
          <p:cNvPr id="8" name="Text 5"/>
          <p:cNvSpPr txBox="1"/>
          <p:nvPr/>
        </p:nvSpPr>
        <p:spPr>
          <a:xfrm>
            <a:off x="548640" y="236829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4937760" y="178308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2,827,977</a:t>
            </a:r>
            <a:endParaRPr lang="en-US" sz="1600" dirty="0"/>
          </a:p>
        </p:txBody>
      </p:sp>
      <p:sp>
        <p:nvSpPr>
          <p:cNvPr id="10" name="Shape 7"/>
          <p:cNvSpPr/>
          <p:nvPr/>
        </p:nvSpPr>
        <p:spPr>
          <a:xfrm>
            <a:off x="548640" y="2651760"/>
            <a:ext cx="274320" cy="566928"/>
          </a:xfrm>
          <a:prstGeom prst="rect">
            <a:avLst/>
          </a:prstGeom>
          <a:solidFill>
            <a:srgbClr val="B5483A"/>
          </a:solidFill>
          <a:ln w="12700">
            <a:solidFill>
              <a:srgbClr val="B5483A"/>
            </a:solidFill>
            <a:prstDash val="solid"/>
          </a:ln>
        </p:spPr>
      </p:sp>
      <p:sp>
        <p:nvSpPr>
          <p:cNvPr id="11" name="Text 8"/>
          <p:cNvSpPr txBox="1"/>
          <p:nvPr/>
        </p:nvSpPr>
        <p:spPr>
          <a:xfrm>
            <a:off x="548640" y="323697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Removed by physical bounds</a:t>
            </a:r>
            <a:endParaRPr lang="en-US" sz="1200" dirty="0"/>
          </a:p>
        </p:txBody>
      </p:sp>
      <p:sp>
        <p:nvSpPr>
          <p:cNvPr id="12" name="Text 9"/>
          <p:cNvSpPr txBox="1"/>
          <p:nvPr/>
        </p:nvSpPr>
        <p:spPr>
          <a:xfrm>
            <a:off x="1005840" y="2651760"/>
            <a:ext cx="2377440" cy="566928"/>
          </a:xfrm>
          <a:prstGeom prst="rect">
            <a:avLst/>
          </a:prstGeom>
          <a:noFill/>
          <a:ln/>
        </p:spPr>
        <p:txBody>
          <a:bodyPr wrap="square" lIns="0" tIns="0" rIns="0" bIns="0" rtlCol="0" anchor="ctr"/>
          <a:lstStyle/>
          <a:p>
            <a:pPr indent="0" marL="0">
              <a:buNone/>
            </a:pPr>
            <a:r>
              <a:rPr lang="en-US" sz="1600" b="1" dirty="0">
                <a:solidFill>
                  <a:srgbClr val="B5483A"/>
                </a:solidFill>
                <a:latin typeface="Calibri" pitchFamily="34" charset="0"/>
                <a:ea typeface="Calibri" pitchFamily="34" charset="-122"/>
                <a:cs typeface="Calibri" pitchFamily="34" charset="-120"/>
              </a:rPr>
              <a:t>−8,360 (0.296%)</a:t>
            </a:r>
            <a:endParaRPr lang="en-US" sz="1600" dirty="0"/>
          </a:p>
        </p:txBody>
      </p:sp>
      <p:sp>
        <p:nvSpPr>
          <p:cNvPr id="13" name="Shape 10"/>
          <p:cNvSpPr/>
          <p:nvPr/>
        </p:nvSpPr>
        <p:spPr>
          <a:xfrm>
            <a:off x="548640" y="3520440"/>
            <a:ext cx="4160520" cy="566928"/>
          </a:xfrm>
          <a:prstGeom prst="rect">
            <a:avLst/>
          </a:prstGeom>
          <a:solidFill>
            <a:srgbClr val="0E7C86"/>
          </a:solidFill>
          <a:ln w="12700">
            <a:solidFill>
              <a:srgbClr val="0E7C86"/>
            </a:solidFill>
            <a:prstDash val="solid"/>
          </a:ln>
        </p:spPr>
      </p:sp>
      <p:sp>
        <p:nvSpPr>
          <p:cNvPr id="14" name="Text 11"/>
          <p:cNvSpPr txBox="1"/>
          <p:nvPr/>
        </p:nvSpPr>
        <p:spPr>
          <a:xfrm>
            <a:off x="548640" y="410565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5" name="Text 12"/>
          <p:cNvSpPr txBox="1"/>
          <p:nvPr/>
        </p:nvSpPr>
        <p:spPr>
          <a:xfrm>
            <a:off x="4892040" y="352044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2,819,617 (99.704%)</a:t>
            </a:r>
            <a:endParaRPr lang="en-US" sz="1600" dirty="0"/>
          </a:p>
        </p:txBody>
      </p:sp>
      <p:sp>
        <p:nvSpPr>
          <p:cNvPr id="16" name="Shape 13"/>
          <p:cNvSpPr/>
          <p:nvPr/>
        </p:nvSpPr>
        <p:spPr>
          <a:xfrm>
            <a:off x="548640" y="4526280"/>
            <a:ext cx="6675120" cy="1554480"/>
          </a:xfrm>
          <a:prstGeom prst="rect">
            <a:avLst/>
          </a:prstGeom>
          <a:solidFill>
            <a:srgbClr val="EAF4F6"/>
          </a:solidFill>
          <a:ln w="12700">
            <a:solidFill>
              <a:srgbClr val="EAF4F6"/>
            </a:solidFill>
            <a:prstDash val="solid"/>
          </a:ln>
        </p:spPr>
      </p:sp>
      <p:sp>
        <p:nvSpPr>
          <p:cNvPr id="17" name="Text 14"/>
          <p:cNvSpPr txBox="1"/>
          <p:nvPr/>
        </p:nvSpPr>
        <p:spPr>
          <a:xfrm>
            <a:off x="777240" y="4663440"/>
            <a:ext cx="6217920" cy="1280160"/>
          </a:xfrm>
          <a:prstGeom prst="rect">
            <a:avLst/>
          </a:prstGeom>
          <a:noFill/>
          <a:ln/>
        </p:spPr>
        <p:txBody>
          <a:bodyPr wrap="square" lIns="0" tIns="0" rIns="0" bIns="0" rtlCol="0" anchor="t"/>
          <a:lstStyle/>
          <a:p>
            <a:pPr indent="0" marL="0">
              <a:buNone/>
            </a:pPr>
            <a:r>
              <a:rPr lang="en-US" sz="1400" b="1" dirty="0">
                <a:solidFill>
                  <a:srgbClr val="0E7C86"/>
                </a:solidFill>
                <a:latin typeface="Calibri" pitchFamily="34" charset="0"/>
                <a:ea typeface="Calibri" pitchFamily="34" charset="-122"/>
                <a:cs typeface="Calibri" pitchFamily="34" charset="-120"/>
              </a:rPr>
              <a:t>Missing vs implausible. </a:t>
            </a:r>
            <a:pPr indent="0" marL="0">
              <a:buNone/>
            </a:pPr>
            <a:r>
              <a:rPr lang="en-US" sz="1400" dirty="0">
                <a:solidFill>
                  <a:srgbClr val="12202E"/>
                </a:solidFill>
                <a:latin typeface="Calibri" pitchFamily="34" charset="0"/>
                <a:ea typeface="Calibri" pitchFamily="34" charset="-122"/>
                <a:cs typeface="Calibri" pitchFamily="34" charset="-120"/>
              </a:rPr>
              <a:t>The legacy claim of ~35% missing values was disproved: 0 nulls across the 14 source columns, so no imputation was used. Screening removes sensor artefacts (e.g. negative concentrations), not gaps.</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783080"/>
          <a:ext cx="4050792" cy="914400"/>
        </p:xfrm>
        <a:graphic>
          <a:graphicData uri="http://schemas.openxmlformats.org/drawingml/2006/table">
            <a:tbl>
              <a:tblPr/>
              <a:tblGrid>
                <a:gridCol w="1828800"/>
                <a:gridCol w="1170432"/>
                <a:gridCol w="1051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Valid range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Violations</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pH</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3.0 – 12.0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1,581</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Temperature (°C)</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45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6,850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Dissolved O₂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25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Ammonia / BOD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2 / 2</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Orthophosphate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Nitrogen / nitrate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bl>
          </a:graphicData>
        </a:graphic>
      </p:graphicFrame>
      <p:sp>
        <p:nvSpPr>
          <p:cNvPr id="19" name="Text 15"/>
          <p:cNvSpPr txBox="1"/>
          <p:nvPr/>
        </p:nvSpPr>
        <p:spPr>
          <a:xfrm>
            <a:off x="7589520" y="4617720"/>
            <a:ext cx="4050792" cy="54864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Counts overlap; the 8,360 is the de-duplicated union of violating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EXPLORATORY FINDINGS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Oxygen follows temperature; nutrients are heavily skewed, and log(1+x) straightens them</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pic>
        <p:nvPicPr>
          <p:cNvPr id="7" name="Image 0" descr="/home/claude/w/img/r-001.png">    </p:cNvPr>
          <p:cNvPicPr>
            <a:picLocks noChangeAspect="1"/>
          </p:cNvPicPr>
          <p:nvPr/>
        </p:nvPicPr>
        <p:blipFill>
          <a:blip r:embed="rId1"/>
          <a:stretch>
            <a:fillRect/>
          </a:stretch>
        </p:blipFill>
        <p:spPr>
          <a:xfrm>
            <a:off x="548640" y="1737360"/>
            <a:ext cx="5394960" cy="3364992"/>
          </a:xfrm>
          <a:prstGeom prst="rect">
            <a:avLst/>
          </a:prstGeom>
        </p:spPr>
      </p:pic>
      <p:sp>
        <p:nvSpPr>
          <p:cNvPr id="8" name="Text 4"/>
          <p:cNvSpPr txBox="1"/>
          <p:nvPr/>
        </p:nvSpPr>
        <p:spPr>
          <a:xfrm>
            <a:off x="548640" y="5166360"/>
            <a:ext cx="5394960" cy="54864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DO vs temperature (80k sample): saturation falls as water warms (Henry’s law, Benson–Krause). Source: project report Fig. 2.</a:t>
            </a:r>
            <a:endParaRPr lang="en-US" sz="1200" dirty="0"/>
          </a:p>
        </p:txBody>
      </p:sp>
      <p:graphicFrame>
        <p:nvGraphicFramePr>
          <p:cNvPr id="9" name="Chart 0" descr=""/>
          <p:cNvGraphicFramePr/>
          <p:nvPr/>
        </p:nvGraphicFramePr>
        <p:xfrm>
          <a:off x="6217920" y="1691640"/>
          <a:ext cx="5422392" cy="3429000"/>
        </p:xfrm>
        <a:graphic xmlns:a="http://schemas.openxmlformats.org/drawingml/2006/main">
          <a:graphicData uri="http://schemas.openxmlformats.org/drawingml/2006/chart">
            <c:chart xmlns:c="http://schemas.openxmlformats.org/drawingml/2006/chart" r:id="rId2"/>
          </a:graphicData>
        </a:graphic>
      </p:graphicFrame>
      <p:sp>
        <p:nvSpPr>
          <p:cNvPr id="10" name="Shape 5"/>
          <p:cNvSpPr/>
          <p:nvPr/>
        </p:nvSpPr>
        <p:spPr>
          <a:xfrm>
            <a:off x="548640" y="5669280"/>
            <a:ext cx="11091672" cy="594360"/>
          </a:xfrm>
          <a:prstGeom prst="rect">
            <a:avLst/>
          </a:prstGeom>
          <a:solidFill>
            <a:srgbClr val="FFF3DC"/>
          </a:solidFill>
          <a:ln w="12700">
            <a:solidFill>
              <a:srgbClr val="FFF3DC"/>
            </a:solidFill>
            <a:prstDash val="solid"/>
          </a:ln>
        </p:spPr>
      </p:sp>
      <p:sp>
        <p:nvSpPr>
          <p:cNvPr id="11" name="Text 6"/>
          <p:cNvSpPr txBox="1"/>
          <p:nvPr/>
        </p:nvSpPr>
        <p:spPr>
          <a:xfrm>
            <a:off x="777240" y="5669280"/>
            <a:ext cx="10698480" cy="59436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A better Pearson r is not better out-of-sample prediction. log(1+x) is monotonic: rank correlation is unchanged and tree splits are invariant to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DOMAIN-INFORMED FEATURE ENGINEERING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Eight measurements become 38 features, grouped by the chemistry they encode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783080"/>
            <a:ext cx="2651760" cy="1920240"/>
          </a:xfrm>
          <a:prstGeom prst="rect">
            <a:avLst/>
          </a:prstGeom>
          <a:solidFill>
            <a:srgbClr val="F4F8FA"/>
          </a:solidFill>
          <a:ln w="12700">
            <a:solidFill>
              <a:srgbClr val="F4F8FA"/>
            </a:solidFill>
            <a:prstDash val="solid"/>
          </a:ln>
        </p:spPr>
      </p:sp>
      <p:sp>
        <p:nvSpPr>
          <p:cNvPr id="8" name="Text 5"/>
          <p:cNvSpPr txBox="1"/>
          <p:nvPr/>
        </p:nvSpPr>
        <p:spPr>
          <a:xfrm>
            <a:off x="731520"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8</a:t>
            </a:r>
            <a:endParaRPr lang="en-US" sz="3200" dirty="0"/>
          </a:p>
        </p:txBody>
      </p:sp>
      <p:sp>
        <p:nvSpPr>
          <p:cNvPr id="9" name="Text 6"/>
          <p:cNvSpPr txBox="1"/>
          <p:nvPr/>
        </p:nvSpPr>
        <p:spPr>
          <a:xfrm>
            <a:off x="731520"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Base sensors</a:t>
            </a:r>
            <a:endParaRPr lang="en-US" sz="1500" dirty="0"/>
          </a:p>
        </p:txBody>
      </p:sp>
      <p:sp>
        <p:nvSpPr>
          <p:cNvPr id="10" name="Text 7"/>
          <p:cNvSpPr txBox="1"/>
          <p:nvPr/>
        </p:nvSpPr>
        <p:spPr>
          <a:xfrm>
            <a:off x="731520"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pH, temperature, DO, BOD, ammonia, orthophosphate, nitrogen, nitrate</a:t>
            </a:r>
            <a:endParaRPr lang="en-US" sz="1200" dirty="0"/>
          </a:p>
        </p:txBody>
      </p:sp>
      <p:sp>
        <p:nvSpPr>
          <p:cNvPr id="11" name="Shape 8"/>
          <p:cNvSpPr/>
          <p:nvPr/>
        </p:nvSpPr>
        <p:spPr>
          <a:xfrm>
            <a:off x="3355848" y="1783080"/>
            <a:ext cx="2651760" cy="1920240"/>
          </a:xfrm>
          <a:prstGeom prst="rect">
            <a:avLst/>
          </a:prstGeom>
          <a:solidFill>
            <a:srgbClr val="F4F8FA"/>
          </a:solidFill>
          <a:ln w="12700">
            <a:solidFill>
              <a:srgbClr val="F4F8FA"/>
            </a:solidFill>
            <a:prstDash val="solid"/>
          </a:ln>
        </p:spPr>
      </p:sp>
      <p:sp>
        <p:nvSpPr>
          <p:cNvPr id="12" name="Text 9"/>
          <p:cNvSpPr txBox="1"/>
          <p:nvPr/>
        </p:nvSpPr>
        <p:spPr>
          <a:xfrm>
            <a:off x="3538728"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3" name="Text 10"/>
          <p:cNvSpPr txBox="1"/>
          <p:nvPr/>
        </p:nvSpPr>
        <p:spPr>
          <a:xfrm>
            <a:off x="3538728"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Aquatic stoichiometry</a:t>
            </a:r>
            <a:endParaRPr lang="en-US" sz="1500" dirty="0"/>
          </a:p>
        </p:txBody>
      </p:sp>
      <p:sp>
        <p:nvSpPr>
          <p:cNvPr id="14" name="Text 11"/>
          <p:cNvSpPr txBox="1"/>
          <p:nvPr/>
        </p:nvSpPr>
        <p:spPr>
          <a:xfrm>
            <a:off x="3538728"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Benson–Krause DO saturation/deficit, Redfield N:P, Emerson un-ionized NH₃, BOD:DO</a:t>
            </a:r>
            <a:endParaRPr lang="en-US" sz="1200" dirty="0"/>
          </a:p>
        </p:txBody>
      </p:sp>
      <p:sp>
        <p:nvSpPr>
          <p:cNvPr id="15" name="Shape 12"/>
          <p:cNvSpPr/>
          <p:nvPr/>
        </p:nvSpPr>
        <p:spPr>
          <a:xfrm>
            <a:off x="6163056" y="1783080"/>
            <a:ext cx="2651760" cy="1920240"/>
          </a:xfrm>
          <a:prstGeom prst="rect">
            <a:avLst/>
          </a:prstGeom>
          <a:solidFill>
            <a:srgbClr val="F4F8FA"/>
          </a:solidFill>
          <a:ln w="12700">
            <a:solidFill>
              <a:srgbClr val="F4F8FA"/>
            </a:solidFill>
            <a:prstDash val="solid"/>
          </a:ln>
        </p:spPr>
      </p:sp>
      <p:sp>
        <p:nvSpPr>
          <p:cNvPr id="16" name="Text 13"/>
          <p:cNvSpPr txBox="1"/>
          <p:nvPr/>
        </p:nvSpPr>
        <p:spPr>
          <a:xfrm>
            <a:off x="6345936"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7" name="Text 14"/>
          <p:cNvSpPr txBox="1"/>
          <p:nvPr/>
        </p:nvSpPr>
        <p:spPr>
          <a:xfrm>
            <a:off x="6345936"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log(1+x) variants</a:t>
            </a:r>
            <a:endParaRPr lang="en-US" sz="1500" dirty="0"/>
          </a:p>
        </p:txBody>
      </p:sp>
      <p:sp>
        <p:nvSpPr>
          <p:cNvPr id="18" name="Text 15"/>
          <p:cNvSpPr txBox="1"/>
          <p:nvPr/>
        </p:nvSpPr>
        <p:spPr>
          <a:xfrm>
            <a:off x="6345936"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Compress nutrient skew spanning orders of magnitude</a:t>
            </a:r>
            <a:endParaRPr lang="en-US" sz="1200" dirty="0"/>
          </a:p>
        </p:txBody>
      </p:sp>
      <p:sp>
        <p:nvSpPr>
          <p:cNvPr id="19" name="Shape 16"/>
          <p:cNvSpPr/>
          <p:nvPr/>
        </p:nvSpPr>
        <p:spPr>
          <a:xfrm>
            <a:off x="8970264" y="1783080"/>
            <a:ext cx="2651760" cy="1920240"/>
          </a:xfrm>
          <a:prstGeom prst="rect">
            <a:avLst/>
          </a:prstGeom>
          <a:solidFill>
            <a:srgbClr val="F4F8FA"/>
          </a:solidFill>
          <a:ln w="12700">
            <a:solidFill>
              <a:srgbClr val="F4F8FA"/>
            </a:solidFill>
            <a:prstDash val="solid"/>
          </a:ln>
        </p:spPr>
      </p:sp>
      <p:sp>
        <p:nvSpPr>
          <p:cNvPr id="20" name="Text 17"/>
          <p:cNvSpPr txBox="1"/>
          <p:nvPr/>
        </p:nvSpPr>
        <p:spPr>
          <a:xfrm>
            <a:off x="9153144"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6</a:t>
            </a:r>
            <a:endParaRPr lang="en-US" sz="3200" dirty="0"/>
          </a:p>
        </p:txBody>
      </p:sp>
      <p:sp>
        <p:nvSpPr>
          <p:cNvPr id="21" name="Text 18"/>
          <p:cNvSpPr txBox="1"/>
          <p:nvPr/>
        </p:nvSpPr>
        <p:spPr>
          <a:xfrm>
            <a:off x="9153144"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Station memory</a:t>
            </a:r>
            <a:endParaRPr lang="en-US" sz="1500" dirty="0"/>
          </a:p>
        </p:txBody>
      </p:sp>
      <p:sp>
        <p:nvSpPr>
          <p:cNvPr id="22" name="Text 19"/>
          <p:cNvSpPr txBox="1"/>
          <p:nvPr/>
        </p:nvSpPr>
        <p:spPr>
          <a:xfrm>
            <a:off x="9153144"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Shift-1 lags and rolling-3 means, sorted by Area and Date; backward-looking only</a:t>
            </a:r>
            <a:endParaRPr lang="en-US" sz="1200" dirty="0"/>
          </a:p>
        </p:txBody>
      </p:sp>
      <p:sp>
        <p:nvSpPr>
          <p:cNvPr id="23" name="Shape 20"/>
          <p:cNvSpPr/>
          <p:nvPr/>
        </p:nvSpPr>
        <p:spPr>
          <a:xfrm>
            <a:off x="548640" y="3886200"/>
            <a:ext cx="2651760" cy="1920240"/>
          </a:xfrm>
          <a:prstGeom prst="rect">
            <a:avLst/>
          </a:prstGeom>
          <a:solidFill>
            <a:srgbClr val="F4F8FA"/>
          </a:solidFill>
          <a:ln w="12700">
            <a:solidFill>
              <a:srgbClr val="F4F8FA"/>
            </a:solidFill>
            <a:prstDash val="solid"/>
          </a:ln>
        </p:spPr>
      </p:sp>
      <p:sp>
        <p:nvSpPr>
          <p:cNvPr id="24" name="Text 21"/>
          <p:cNvSpPr txBox="1"/>
          <p:nvPr/>
        </p:nvSpPr>
        <p:spPr>
          <a:xfrm>
            <a:off x="731520"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25" name="Text 22"/>
          <p:cNvSpPr txBox="1"/>
          <p:nvPr/>
        </p:nvSpPr>
        <p:spPr>
          <a:xfrm>
            <a:off x="731520"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Temporal</a:t>
            </a:r>
            <a:endParaRPr lang="en-US" sz="1500" dirty="0"/>
          </a:p>
        </p:txBody>
      </p:sp>
      <p:sp>
        <p:nvSpPr>
          <p:cNvPr id="26" name="Text 23"/>
          <p:cNvSpPr txBox="1"/>
          <p:nvPr/>
        </p:nvSpPr>
        <p:spPr>
          <a:xfrm>
            <a:off x="731520"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year, month, quarter, sin/cos of month and day-of-year</a:t>
            </a:r>
            <a:endParaRPr lang="en-US" sz="1200" dirty="0"/>
          </a:p>
        </p:txBody>
      </p:sp>
      <p:sp>
        <p:nvSpPr>
          <p:cNvPr id="27" name="Shape 24"/>
          <p:cNvSpPr/>
          <p:nvPr/>
        </p:nvSpPr>
        <p:spPr>
          <a:xfrm>
            <a:off x="3355848" y="3886200"/>
            <a:ext cx="2651760" cy="1920240"/>
          </a:xfrm>
          <a:prstGeom prst="rect">
            <a:avLst/>
          </a:prstGeom>
          <a:solidFill>
            <a:srgbClr val="F4F8FA"/>
          </a:solidFill>
          <a:ln w="12700">
            <a:solidFill>
              <a:srgbClr val="F4F8FA"/>
            </a:solidFill>
            <a:prstDash val="solid"/>
          </a:ln>
        </p:spPr>
      </p:sp>
      <p:sp>
        <p:nvSpPr>
          <p:cNvPr id="28" name="Text 25"/>
          <p:cNvSpPr txBox="1"/>
          <p:nvPr/>
        </p:nvSpPr>
        <p:spPr>
          <a:xfrm>
            <a:off x="3538728"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2</a:t>
            </a:r>
            <a:endParaRPr lang="en-US" sz="3200" dirty="0"/>
          </a:p>
        </p:txBody>
      </p:sp>
      <p:sp>
        <p:nvSpPr>
          <p:cNvPr id="29" name="Text 26"/>
          <p:cNvSpPr txBox="1"/>
          <p:nvPr/>
        </p:nvSpPr>
        <p:spPr>
          <a:xfrm>
            <a:off x="3538728"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Context</a:t>
            </a:r>
            <a:endParaRPr lang="en-US" sz="1500" dirty="0"/>
          </a:p>
        </p:txBody>
      </p:sp>
      <p:sp>
        <p:nvSpPr>
          <p:cNvPr id="30" name="Text 27"/>
          <p:cNvSpPr txBox="1"/>
          <p:nvPr/>
        </p:nvSpPr>
        <p:spPr>
          <a:xfrm>
            <a:off x="3538728"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country code, waterbody-type code</a:t>
            </a:r>
            <a:endParaRPr lang="en-US" sz="1200" dirty="0"/>
          </a:p>
        </p:txBody>
      </p:sp>
      <p:sp>
        <p:nvSpPr>
          <p:cNvPr id="31" name="Shape 28"/>
          <p:cNvSpPr/>
          <p:nvPr/>
        </p:nvSpPr>
        <p:spPr>
          <a:xfrm>
            <a:off x="6163056" y="3886200"/>
            <a:ext cx="2651760" cy="1920240"/>
          </a:xfrm>
          <a:prstGeom prst="rect">
            <a:avLst/>
          </a:prstGeom>
          <a:solidFill>
            <a:srgbClr val="FFF3DC"/>
          </a:solidFill>
          <a:ln w="12700">
            <a:solidFill>
              <a:srgbClr val="FFF3DC"/>
            </a:solidFill>
            <a:prstDash val="solid"/>
          </a:ln>
        </p:spPr>
      </p:sp>
      <p:sp>
        <p:nvSpPr>
          <p:cNvPr id="32" name="Text 29"/>
          <p:cNvSpPr txBox="1"/>
          <p:nvPr/>
        </p:nvSpPr>
        <p:spPr>
          <a:xfrm>
            <a:off x="6345936" y="3995928"/>
            <a:ext cx="914400" cy="548640"/>
          </a:xfrm>
          <a:prstGeom prst="rect">
            <a:avLst/>
          </a:prstGeom>
          <a:noFill/>
          <a:ln/>
        </p:spPr>
        <p:txBody>
          <a:bodyPr wrap="square" lIns="0" tIns="0" rIns="0" bIns="0" rtlCol="0" anchor="t"/>
          <a:lstStyle/>
          <a:p>
            <a:pPr indent="0" marL="0">
              <a:buNone/>
            </a:pPr>
            <a:r>
              <a:rPr lang="en-US" sz="3200" b="1" dirty="0">
                <a:solidFill>
                  <a:srgbClr val="D98A1F"/>
                </a:solidFill>
                <a:latin typeface="Cambria" pitchFamily="34" charset="0"/>
                <a:ea typeface="Cambria" pitchFamily="34" charset="-122"/>
                <a:cs typeface="Cambria" pitchFamily="34" charset="-120"/>
              </a:rPr>
              <a:t>1</a:t>
            </a:r>
            <a:endParaRPr lang="en-US" sz="3200" dirty="0"/>
          </a:p>
        </p:txBody>
      </p:sp>
      <p:sp>
        <p:nvSpPr>
          <p:cNvPr id="33" name="Text 30"/>
          <p:cNvSpPr txBox="1"/>
          <p:nvPr/>
        </p:nvSpPr>
        <p:spPr>
          <a:xfrm>
            <a:off x="6345936"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exceedance_counter</a:t>
            </a:r>
            <a:endParaRPr lang="en-US" sz="1500" dirty="0"/>
          </a:p>
        </p:txBody>
      </p:sp>
      <p:sp>
        <p:nvSpPr>
          <p:cNvPr id="34" name="Text 31"/>
          <p:cNvSpPr txBox="1"/>
          <p:nvPr/>
        </p:nvSpPr>
        <p:spPr>
          <a:xfrm>
            <a:off x="6345936"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 of guideline violations across parameters</a:t>
            </a:r>
            <a:endParaRPr lang="en-US" sz="1200" dirty="0"/>
          </a:p>
        </p:txBody>
      </p:sp>
      <p:sp>
        <p:nvSpPr>
          <p:cNvPr id="35" name="Shape 32"/>
          <p:cNvSpPr/>
          <p:nvPr/>
        </p:nvSpPr>
        <p:spPr>
          <a:xfrm>
            <a:off x="8970264" y="3886200"/>
            <a:ext cx="2651760" cy="1920240"/>
          </a:xfrm>
          <a:prstGeom prst="rect">
            <a:avLst/>
          </a:prstGeom>
          <a:solidFill>
            <a:srgbClr val="EAF4F6"/>
          </a:solidFill>
          <a:ln w="12700">
            <a:solidFill>
              <a:srgbClr val="EAF4F6"/>
            </a:solidFill>
            <a:prstDash val="solid"/>
          </a:ln>
        </p:spPr>
      </p:sp>
      <p:sp>
        <p:nvSpPr>
          <p:cNvPr id="36" name="Text 33"/>
          <p:cNvSpPr txBox="1"/>
          <p:nvPr/>
        </p:nvSpPr>
        <p:spPr>
          <a:xfrm>
            <a:off x="9153144" y="4160520"/>
            <a:ext cx="2331720" cy="82296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Total: 8+7+7+6+7+2+1 = 38 features</a:t>
            </a:r>
            <a:endParaRPr lang="en-US" sz="1400" dirty="0"/>
          </a:p>
        </p:txBody>
      </p:sp>
      <p:sp>
        <p:nvSpPr>
          <p:cNvPr id="37" name="Text 34"/>
          <p:cNvSpPr txBox="1"/>
          <p:nvPr/>
        </p:nvSpPr>
        <p:spPr>
          <a:xfrm>
            <a:off x="9153144" y="5029200"/>
            <a:ext cx="233172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Station lag Spearman ρ(hist_ortho_lag1, WQI) = −0.78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PIPELINE ARCHITECTURE AND TESTING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Features are built before the split; scaling is fitted on training data only</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783080"/>
            <a:ext cx="2606040" cy="1051560"/>
          </a:xfrm>
          <a:prstGeom prst="rect">
            <a:avLst/>
          </a:prstGeom>
          <a:solidFill>
            <a:srgbClr val="0B1F33"/>
          </a:solidFill>
          <a:ln w="12700">
            <a:solidFill>
              <a:srgbClr val="0B1F33"/>
            </a:solidFill>
            <a:prstDash val="solid"/>
          </a:ln>
        </p:spPr>
      </p:sp>
      <p:sp>
        <p:nvSpPr>
          <p:cNvPr id="8" name="Text 5"/>
          <p:cNvSpPr txBox="1"/>
          <p:nvPr/>
        </p:nvSpPr>
        <p:spPr>
          <a:xfrm>
            <a:off x="685800"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1  Ingest &amp; audit</a:t>
            </a:r>
            <a:endParaRPr lang="en-US" sz="1500" dirty="0"/>
          </a:p>
        </p:txBody>
      </p:sp>
      <p:sp>
        <p:nvSpPr>
          <p:cNvPr id="9" name="Text 6"/>
          <p:cNvSpPr txBox="1"/>
          <p:nvPr/>
        </p:nvSpPr>
        <p:spPr>
          <a:xfrm>
            <a:off x="685800"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5 countries, 0 nulls</a:t>
            </a:r>
            <a:endParaRPr lang="en-US" sz="1200" dirty="0"/>
          </a:p>
        </p:txBody>
      </p:sp>
      <p:sp>
        <p:nvSpPr>
          <p:cNvPr id="10" name="Shape 7"/>
          <p:cNvSpPr/>
          <p:nvPr/>
        </p:nvSpPr>
        <p:spPr>
          <a:xfrm>
            <a:off x="3355848" y="1783080"/>
            <a:ext cx="2606040" cy="1051560"/>
          </a:xfrm>
          <a:prstGeom prst="rect">
            <a:avLst/>
          </a:prstGeom>
          <a:solidFill>
            <a:srgbClr val="0B1F33"/>
          </a:solidFill>
          <a:ln w="12700">
            <a:solidFill>
              <a:srgbClr val="0B1F33"/>
            </a:solidFill>
            <a:prstDash val="solid"/>
          </a:ln>
        </p:spPr>
      </p:sp>
      <p:sp>
        <p:nvSpPr>
          <p:cNvPr id="11" name="Text 8"/>
          <p:cNvSpPr txBox="1"/>
          <p:nvPr/>
        </p:nvSpPr>
        <p:spPr>
          <a:xfrm>
            <a:off x="3493008"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2  Physical bounds</a:t>
            </a:r>
            <a:endParaRPr lang="en-US" sz="1500" dirty="0"/>
          </a:p>
        </p:txBody>
      </p:sp>
      <p:sp>
        <p:nvSpPr>
          <p:cNvPr id="12" name="Text 9"/>
          <p:cNvSpPr txBox="1"/>
          <p:nvPr/>
        </p:nvSpPr>
        <p:spPr>
          <a:xfrm>
            <a:off x="3493008"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−8,360 rows</a:t>
            </a:r>
            <a:endParaRPr lang="en-US" sz="1200" dirty="0"/>
          </a:p>
        </p:txBody>
      </p:sp>
      <p:sp>
        <p:nvSpPr>
          <p:cNvPr id="13" name="Shape 10"/>
          <p:cNvSpPr/>
          <p:nvPr/>
        </p:nvSpPr>
        <p:spPr>
          <a:xfrm>
            <a:off x="6163056" y="1783080"/>
            <a:ext cx="2606040" cy="1051560"/>
          </a:xfrm>
          <a:prstGeom prst="rect">
            <a:avLst/>
          </a:prstGeom>
          <a:solidFill>
            <a:srgbClr val="0B1F33"/>
          </a:solidFill>
          <a:ln w="12700">
            <a:solidFill>
              <a:srgbClr val="0B1F33"/>
            </a:solidFill>
            <a:prstDash val="solid"/>
          </a:ln>
        </p:spPr>
      </p:sp>
      <p:sp>
        <p:nvSpPr>
          <p:cNvPr id="14" name="Text 11"/>
          <p:cNvSpPr txBox="1"/>
          <p:nvPr/>
        </p:nvSpPr>
        <p:spPr>
          <a:xfrm>
            <a:off x="6300216"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3  38 features</a:t>
            </a:r>
            <a:endParaRPr lang="en-US" sz="1500" dirty="0"/>
          </a:p>
        </p:txBody>
      </p:sp>
      <p:sp>
        <p:nvSpPr>
          <p:cNvPr id="15" name="Text 12"/>
          <p:cNvSpPr txBox="1"/>
          <p:nvPr/>
        </p:nvSpPr>
        <p:spPr>
          <a:xfrm>
            <a:off x="6300216"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incl. station lags</a:t>
            </a:r>
            <a:endParaRPr lang="en-US" sz="1200" dirty="0"/>
          </a:p>
        </p:txBody>
      </p:sp>
      <p:sp>
        <p:nvSpPr>
          <p:cNvPr id="16" name="Shape 13"/>
          <p:cNvSpPr/>
          <p:nvPr/>
        </p:nvSpPr>
        <p:spPr>
          <a:xfrm>
            <a:off x="8970264" y="1783080"/>
            <a:ext cx="2606040" cy="1051560"/>
          </a:xfrm>
          <a:prstGeom prst="rect">
            <a:avLst/>
          </a:prstGeom>
          <a:solidFill>
            <a:srgbClr val="D98A1F"/>
          </a:solidFill>
          <a:ln w="12700">
            <a:solidFill>
              <a:srgbClr val="D98A1F"/>
            </a:solidFill>
            <a:prstDash val="solid"/>
          </a:ln>
        </p:spPr>
      </p:sp>
      <p:sp>
        <p:nvSpPr>
          <p:cNvPr id="17" name="Text 14"/>
          <p:cNvSpPr txBox="1"/>
          <p:nvPr/>
        </p:nvSpPr>
        <p:spPr>
          <a:xfrm>
            <a:off x="9107424"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4  Target quarantine</a:t>
            </a:r>
            <a:endParaRPr lang="en-US" sz="1500" dirty="0"/>
          </a:p>
        </p:txBody>
      </p:sp>
      <p:sp>
        <p:nvSpPr>
          <p:cNvPr id="18" name="Text 15"/>
          <p:cNvSpPr txBox="1"/>
          <p:nvPr/>
        </p:nvSpPr>
        <p:spPr>
          <a:xfrm>
            <a:off x="9107424"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3 columns named in tests</a:t>
            </a:r>
            <a:endParaRPr lang="en-US" sz="1200" dirty="0"/>
          </a:p>
        </p:txBody>
      </p:sp>
      <p:sp>
        <p:nvSpPr>
          <p:cNvPr id="19" name="Shape 16"/>
          <p:cNvSpPr/>
          <p:nvPr/>
        </p:nvSpPr>
        <p:spPr>
          <a:xfrm>
            <a:off x="548640" y="3017520"/>
            <a:ext cx="2606040" cy="1051560"/>
          </a:xfrm>
          <a:prstGeom prst="rect">
            <a:avLst/>
          </a:prstGeom>
          <a:solidFill>
            <a:srgbClr val="D98A1F"/>
          </a:solidFill>
          <a:ln w="12700">
            <a:solidFill>
              <a:srgbClr val="D98A1F"/>
            </a:solidFill>
            <a:prstDash val="solid"/>
          </a:ln>
        </p:spPr>
      </p:sp>
      <p:sp>
        <p:nvSpPr>
          <p:cNvPr id="20" name="Text 17"/>
          <p:cNvSpPr txBox="1"/>
          <p:nvPr/>
        </p:nvSpPr>
        <p:spPr>
          <a:xfrm>
            <a:off x="685800"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5  Stratified 70/15/15</a:t>
            </a:r>
            <a:endParaRPr lang="en-US" sz="1500" dirty="0"/>
          </a:p>
        </p:txBody>
      </p:sp>
      <p:sp>
        <p:nvSpPr>
          <p:cNvPr id="21" name="Text 18"/>
          <p:cNvSpPr txBox="1"/>
          <p:nvPr/>
        </p:nvSpPr>
        <p:spPr>
          <a:xfrm>
            <a:off x="685800"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random, by WQI tier</a:t>
            </a:r>
            <a:endParaRPr lang="en-US" sz="1200" dirty="0"/>
          </a:p>
        </p:txBody>
      </p:sp>
      <p:sp>
        <p:nvSpPr>
          <p:cNvPr id="22" name="Shape 19"/>
          <p:cNvSpPr/>
          <p:nvPr/>
        </p:nvSpPr>
        <p:spPr>
          <a:xfrm>
            <a:off x="3355848" y="3017520"/>
            <a:ext cx="2606040" cy="1051560"/>
          </a:xfrm>
          <a:prstGeom prst="rect">
            <a:avLst/>
          </a:prstGeom>
          <a:solidFill>
            <a:srgbClr val="0E7C86"/>
          </a:solidFill>
          <a:ln w="12700">
            <a:solidFill>
              <a:srgbClr val="0E7C86"/>
            </a:solidFill>
            <a:prstDash val="solid"/>
          </a:ln>
        </p:spPr>
      </p:sp>
      <p:sp>
        <p:nvSpPr>
          <p:cNvPr id="23" name="Text 20"/>
          <p:cNvSpPr txBox="1"/>
          <p:nvPr/>
        </p:nvSpPr>
        <p:spPr>
          <a:xfrm>
            <a:off x="3493008"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6  Scale on train</a:t>
            </a:r>
            <a:endParaRPr lang="en-US" sz="1500" dirty="0"/>
          </a:p>
        </p:txBody>
      </p:sp>
      <p:sp>
        <p:nvSpPr>
          <p:cNvPr id="24" name="Text 21"/>
          <p:cNvSpPr txBox="1"/>
          <p:nvPr/>
        </p:nvSpPr>
        <p:spPr>
          <a:xfrm>
            <a:off x="3493008"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StandardScaler (MLP)</a:t>
            </a:r>
            <a:endParaRPr lang="en-US" sz="1200" dirty="0"/>
          </a:p>
        </p:txBody>
      </p:sp>
      <p:sp>
        <p:nvSpPr>
          <p:cNvPr id="25" name="Shape 22"/>
          <p:cNvSpPr/>
          <p:nvPr/>
        </p:nvSpPr>
        <p:spPr>
          <a:xfrm>
            <a:off x="6163056" y="3017520"/>
            <a:ext cx="2606040" cy="1051560"/>
          </a:xfrm>
          <a:prstGeom prst="rect">
            <a:avLst/>
          </a:prstGeom>
          <a:solidFill>
            <a:srgbClr val="0E7C86"/>
          </a:solidFill>
          <a:ln w="12700">
            <a:solidFill>
              <a:srgbClr val="0E7C86"/>
            </a:solidFill>
            <a:prstDash val="solid"/>
          </a:ln>
        </p:spPr>
      </p:sp>
      <p:sp>
        <p:nvSpPr>
          <p:cNvPr id="26" name="Text 23"/>
          <p:cNvSpPr txBox="1"/>
          <p:nvPr/>
        </p:nvSpPr>
        <p:spPr>
          <a:xfrm>
            <a:off x="6300216"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7  Train &amp; evaluate</a:t>
            </a:r>
            <a:endParaRPr lang="en-US" sz="1500" dirty="0"/>
          </a:p>
        </p:txBody>
      </p:sp>
      <p:sp>
        <p:nvSpPr>
          <p:cNvPr id="27" name="Text 24"/>
          <p:cNvSpPr txBox="1"/>
          <p:nvPr/>
        </p:nvSpPr>
        <p:spPr>
          <a:xfrm>
            <a:off x="6300216"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RF · XGB · MLP</a:t>
            </a:r>
            <a:endParaRPr lang="en-US" sz="1200" dirty="0"/>
          </a:p>
        </p:txBody>
      </p:sp>
      <p:sp>
        <p:nvSpPr>
          <p:cNvPr id="28" name="Shape 25"/>
          <p:cNvSpPr/>
          <p:nvPr/>
        </p:nvSpPr>
        <p:spPr>
          <a:xfrm>
            <a:off x="8970264" y="3017520"/>
            <a:ext cx="2606040" cy="1051560"/>
          </a:xfrm>
          <a:prstGeom prst="rect">
            <a:avLst/>
          </a:prstGeom>
          <a:solidFill>
            <a:srgbClr val="0E7C86"/>
          </a:solidFill>
          <a:ln w="12700">
            <a:solidFill>
              <a:srgbClr val="0E7C86"/>
            </a:solidFill>
            <a:prstDash val="solid"/>
          </a:ln>
        </p:spPr>
      </p:sp>
      <p:sp>
        <p:nvSpPr>
          <p:cNvPr id="29" name="Text 26"/>
          <p:cNvSpPr txBox="1"/>
          <p:nvPr/>
        </p:nvSpPr>
        <p:spPr>
          <a:xfrm>
            <a:off x="9107424"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8  TreeSHAP</a:t>
            </a:r>
            <a:endParaRPr lang="en-US" sz="1500" dirty="0"/>
          </a:p>
        </p:txBody>
      </p:sp>
      <p:sp>
        <p:nvSpPr>
          <p:cNvPr id="30" name="Text 27"/>
          <p:cNvSpPr txBox="1"/>
          <p:nvPr/>
        </p:nvSpPr>
        <p:spPr>
          <a:xfrm>
            <a:off x="9107424"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XGBoost, validation</a:t>
            </a:r>
            <a:endParaRPr lang="en-US" sz="1200" dirty="0"/>
          </a:p>
        </p:txBody>
      </p:sp>
      <p:sp>
        <p:nvSpPr>
          <p:cNvPr id="31" name="Text 28"/>
          <p:cNvSpPr txBox="1"/>
          <p:nvPr/>
        </p:nvSpPr>
        <p:spPr>
          <a:xfrm>
            <a:off x="548640" y="4251960"/>
            <a:ext cx="1097280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Navy = before split · Amber = split/leakage-sensitive · Teal = fitted or evaluated after split</a:t>
            </a:r>
            <a:endParaRPr lang="en-US" sz="1100" dirty="0"/>
          </a:p>
        </p:txBody>
      </p:sp>
      <p:sp>
        <p:nvSpPr>
          <p:cNvPr id="32" name="Shape 29"/>
          <p:cNvSpPr/>
          <p:nvPr/>
        </p:nvSpPr>
        <p:spPr>
          <a:xfrm>
            <a:off x="548640" y="4663440"/>
            <a:ext cx="11091672" cy="1417320"/>
          </a:xfrm>
          <a:prstGeom prst="rect">
            <a:avLst/>
          </a:prstGeom>
          <a:solidFill>
            <a:srgbClr val="EAF4F6"/>
          </a:solidFill>
          <a:ln w="12700">
            <a:solidFill>
              <a:srgbClr val="EAF4F6"/>
            </a:solidFill>
            <a:prstDash val="solid"/>
          </a:ln>
        </p:spPr>
      </p:sp>
      <p:sp>
        <p:nvSpPr>
          <p:cNvPr id="33" name="Text 30"/>
          <p:cNvSpPr txBox="1"/>
          <p:nvPr/>
        </p:nvSpPr>
        <p:spPr>
          <a:xfrm>
            <a:off x="777240" y="4754880"/>
            <a:ext cx="36576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Automated tests (pytest)</a:t>
            </a:r>
            <a:endParaRPr lang="en-US" sz="1600" dirty="0"/>
          </a:p>
        </p:txBody>
      </p:sp>
      <p:sp>
        <p:nvSpPr>
          <p:cNvPr id="34" name="Text 31"/>
          <p:cNvSpPr txBox="1"/>
          <p:nvPr/>
        </p:nvSpPr>
        <p:spPr>
          <a:xfrm>
            <a:off x="777240" y="5120640"/>
            <a:ext cx="5029200" cy="8686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12 tests in 4 modules: features 4 · models 3 · leakage 2 · metrics 3. Reported 100% pass in 1.65 s (not re-run in this review).</a:t>
            </a:r>
            <a:endParaRPr lang="en-US" sz="1300" dirty="0"/>
          </a:p>
        </p:txBody>
      </p:sp>
      <p:sp>
        <p:nvSpPr>
          <p:cNvPr id="35" name="Text 32"/>
          <p:cNvSpPr txBox="1"/>
          <p:nvPr/>
        </p:nvSpPr>
        <p:spPr>
          <a:xfrm>
            <a:off x="6126480" y="4754880"/>
            <a:ext cx="5349240" cy="128016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They check: </a:t>
            </a:r>
            <a:pPr indent="0" marL="0">
              <a:buNone/>
            </a:pPr>
            <a:r>
              <a:rPr lang="en-US" sz="1300" dirty="0">
                <a:solidFill>
                  <a:srgbClr val="12202E"/>
                </a:solidFill>
                <a:latin typeface="Calibri" pitchFamily="34" charset="0"/>
                <a:ea typeface="Calibri" pitchFamily="34" charset="-122"/>
                <a:cs typeface="Calibri" pitchFamily="34" charset="-120"/>
              </a:rPr>
              <a:t>bound filtering, no look-ahead in lags, named target columns absent from X, metric maths, checkpoint loading.</a:t>
            </a:r>
            <a:endParaRPr lang="en-US" sz="1300" dirty="0"/>
          </a:p>
          <a:p>
            <a:pPr indent="0" marL="0">
              <a:buNone/>
            </a:pPr>
            <a:r>
              <a:rPr lang="en-US" sz="1300" b="1" dirty="0">
                <a:solidFill>
                  <a:srgbClr val="D98A1F"/>
                </a:solidFill>
                <a:latin typeface="Calibri" pitchFamily="34" charset="0"/>
                <a:ea typeface="Calibri" pitchFamily="34" charset="-122"/>
                <a:cs typeface="Calibri" pitchFamily="34" charset="-120"/>
              </a:rPr>
              <a:t>They do not show: </a:t>
            </a:r>
            <a:pPr indent="0" marL="0">
              <a:buNone/>
            </a:pPr>
            <a:r>
              <a:rPr lang="en-US" sz="1300" dirty="0">
                <a:solidFill>
                  <a:srgbClr val="12202E"/>
                </a:solidFill>
                <a:latin typeface="Calibri" pitchFamily="34" charset="0"/>
                <a:ea typeface="Calibri" pitchFamily="34" charset="-122"/>
                <a:cs typeface="Calibri" pitchFamily="34" charset="-120"/>
              </a:rPr>
              <a:t>that features are free of target-derived information or that scores generalise.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MODELING STRATEGY AND EVALUATION DESIGN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Four regressors, one random stratified split, and conflicting hyper-parameter records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783080"/>
            <a:ext cx="7680960" cy="640080"/>
          </a:xfrm>
          <a:prstGeom prst="rect">
            <a:avLst/>
          </a:prstGeom>
          <a:solidFill>
            <a:srgbClr val="0B1F33"/>
          </a:solidFill>
          <a:ln w="19050">
            <a:solidFill>
              <a:srgbClr val="FFFFFF"/>
            </a:solidFill>
            <a:prstDash val="solid"/>
          </a:ln>
        </p:spPr>
      </p:sp>
      <p:sp>
        <p:nvSpPr>
          <p:cNvPr id="8" name="Text 5"/>
          <p:cNvSpPr txBox="1"/>
          <p:nvPr/>
        </p:nvSpPr>
        <p:spPr>
          <a:xfrm>
            <a:off x="548640" y="1783080"/>
            <a:ext cx="76809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 1,973,731 (70%)</a:t>
            </a:r>
            <a:endParaRPr lang="en-US" sz="1400" dirty="0"/>
          </a:p>
        </p:txBody>
      </p:sp>
      <p:sp>
        <p:nvSpPr>
          <p:cNvPr id="9" name="Shape 6"/>
          <p:cNvSpPr/>
          <p:nvPr/>
        </p:nvSpPr>
        <p:spPr>
          <a:xfrm>
            <a:off x="8229600" y="1783080"/>
            <a:ext cx="1705356" cy="640080"/>
          </a:xfrm>
          <a:prstGeom prst="rect">
            <a:avLst/>
          </a:prstGeom>
          <a:solidFill>
            <a:srgbClr val="0E7C86"/>
          </a:solidFill>
          <a:ln w="19050">
            <a:solidFill>
              <a:srgbClr val="FFFFFF"/>
            </a:solidFill>
            <a:prstDash val="solid"/>
          </a:ln>
        </p:spPr>
      </p:sp>
      <p:sp>
        <p:nvSpPr>
          <p:cNvPr id="10" name="Text 7"/>
          <p:cNvSpPr txBox="1"/>
          <p:nvPr/>
        </p:nvSpPr>
        <p:spPr>
          <a:xfrm>
            <a:off x="8229600" y="1783080"/>
            <a:ext cx="1705356"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 422,943 (15%)</a:t>
            </a:r>
            <a:endParaRPr lang="en-US" sz="1100" dirty="0"/>
          </a:p>
        </p:txBody>
      </p:sp>
      <p:sp>
        <p:nvSpPr>
          <p:cNvPr id="11" name="Shape 8"/>
          <p:cNvSpPr/>
          <p:nvPr/>
        </p:nvSpPr>
        <p:spPr>
          <a:xfrm>
            <a:off x="9934956" y="1783080"/>
            <a:ext cx="1705356" cy="640080"/>
          </a:xfrm>
          <a:prstGeom prst="rect">
            <a:avLst/>
          </a:prstGeom>
          <a:solidFill>
            <a:srgbClr val="2EC4B6"/>
          </a:solidFill>
          <a:ln w="19050">
            <a:solidFill>
              <a:srgbClr val="FFFFFF"/>
            </a:solidFill>
            <a:prstDash val="solid"/>
          </a:ln>
        </p:spPr>
      </p:sp>
      <p:sp>
        <p:nvSpPr>
          <p:cNvPr id="12" name="Text 9"/>
          <p:cNvSpPr txBox="1"/>
          <p:nvPr/>
        </p:nvSpPr>
        <p:spPr>
          <a:xfrm>
            <a:off x="9934956" y="1783080"/>
            <a:ext cx="1705356" cy="640080"/>
          </a:xfrm>
          <a:prstGeom prst="rect">
            <a:avLst/>
          </a:prstGeom>
          <a:noFill/>
          <a:ln/>
        </p:spPr>
        <p:txBody>
          <a:bodyPr wrap="square" lIns="0" tIns="0" rIns="0" bIns="0" rtlCol="0" anchor="ctr"/>
          <a:lstStyle/>
          <a:p>
            <a:pPr algn="ctr" indent="0" marL="0">
              <a:buNone/>
            </a:pPr>
            <a:r>
              <a:rPr lang="en-US" sz="1100" b="1" dirty="0">
                <a:solidFill>
                  <a:srgbClr val="12202E"/>
                </a:solidFill>
                <a:latin typeface="Calibri" pitchFamily="34" charset="0"/>
                <a:ea typeface="Calibri" pitchFamily="34" charset="-122"/>
                <a:cs typeface="Calibri" pitchFamily="34" charset="-120"/>
              </a:rPr>
              <a:t>Test 422,943 (15%)</a:t>
            </a:r>
            <a:endParaRPr lang="en-US" sz="1100" dirty="0"/>
          </a:p>
        </p:txBody>
      </p:sp>
      <p:sp>
        <p:nvSpPr>
          <p:cNvPr id="13" name="Text 10"/>
          <p:cNvSpPr txBox="1"/>
          <p:nvPr/>
        </p:nvSpPr>
        <p:spPr>
          <a:xfrm>
            <a:off x="548640" y="2514600"/>
            <a:ext cx="11064240" cy="27432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Random, class-stratified by WQI tier · no station or time hold-out · reported metrics are on validation; test results are not reported</a:t>
            </a:r>
            <a:endParaRPr lang="en-US" sz="1200" dirty="0"/>
          </a:p>
        </p:txBody>
      </p:sp>
      <p:sp>
        <p:nvSpPr>
          <p:cNvPr id="14" name="Shape 11"/>
          <p:cNvSpPr/>
          <p:nvPr/>
        </p:nvSpPr>
        <p:spPr>
          <a:xfrm>
            <a:off x="548640" y="3017520"/>
            <a:ext cx="2651760" cy="3017520"/>
          </a:xfrm>
          <a:prstGeom prst="rect">
            <a:avLst/>
          </a:prstGeom>
          <a:solidFill>
            <a:srgbClr val="F4F8FA"/>
          </a:solidFill>
          <a:ln w="12700">
            <a:solidFill>
              <a:srgbClr val="F4F8FA"/>
            </a:solidFill>
            <a:prstDash val="solid"/>
          </a:ln>
        </p:spPr>
      </p:sp>
      <p:sp>
        <p:nvSpPr>
          <p:cNvPr id="15" name="Text 12"/>
          <p:cNvSpPr txBox="1"/>
          <p:nvPr/>
        </p:nvSpPr>
        <p:spPr>
          <a:xfrm>
            <a:off x="731520" y="3154680"/>
            <a:ext cx="233172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Mean baseline</a:t>
            </a:r>
            <a:endParaRPr lang="en-US" sz="1800" dirty="0"/>
          </a:p>
        </p:txBody>
      </p:sp>
      <p:sp>
        <p:nvSpPr>
          <p:cNvPr id="16" name="Text 13"/>
          <p:cNvSpPr txBox="1"/>
          <p:nvPr/>
        </p:nvSpPr>
        <p:spPr>
          <a:xfrm>
            <a:off x="731520" y="3611880"/>
            <a:ext cx="2331720" cy="13716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Predicts the training mean (85.05). The floor any model must beat.</a:t>
            </a:r>
            <a:endParaRPr lang="en-US" sz="1300" dirty="0"/>
          </a:p>
        </p:txBody>
      </p:sp>
      <p:sp>
        <p:nvSpPr>
          <p:cNvPr id="17" name="Shape 14"/>
          <p:cNvSpPr/>
          <p:nvPr/>
        </p:nvSpPr>
        <p:spPr>
          <a:xfrm>
            <a:off x="3355848" y="3017520"/>
            <a:ext cx="2651760" cy="3017520"/>
          </a:xfrm>
          <a:prstGeom prst="rect">
            <a:avLst/>
          </a:prstGeom>
          <a:solidFill>
            <a:srgbClr val="F4F8FA"/>
          </a:solidFill>
          <a:ln w="12700">
            <a:solidFill>
              <a:srgbClr val="F4F8FA"/>
            </a:solidFill>
            <a:prstDash val="solid"/>
          </a:ln>
        </p:spPr>
      </p:sp>
      <p:sp>
        <p:nvSpPr>
          <p:cNvPr id="18" name="Text 15"/>
          <p:cNvSpPr txBox="1"/>
          <p:nvPr/>
        </p:nvSpPr>
        <p:spPr>
          <a:xfrm>
            <a:off x="3538728" y="3154680"/>
            <a:ext cx="233172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Random Forest</a:t>
            </a:r>
            <a:endParaRPr lang="en-US" sz="1800" dirty="0"/>
          </a:p>
        </p:txBody>
      </p:sp>
      <p:sp>
        <p:nvSpPr>
          <p:cNvPr id="19" name="Text 16"/>
          <p:cNvSpPr txBox="1"/>
          <p:nvPr/>
        </p:nvSpPr>
        <p:spPr>
          <a:xfrm>
            <a:off x="3538728" y="3611880"/>
            <a:ext cx="2331720" cy="13716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Bagged, de-correlated trees; max_features = √p.</a:t>
            </a:r>
            <a:endParaRPr lang="en-US" sz="1300" dirty="0"/>
          </a:p>
        </p:txBody>
      </p:sp>
      <p:sp>
        <p:nvSpPr>
          <p:cNvPr id="20" name="Text 17"/>
          <p:cNvSpPr txBox="1"/>
          <p:nvPr/>
        </p:nvSpPr>
        <p:spPr>
          <a:xfrm>
            <a:off x="3538728" y="5074920"/>
            <a:ext cx="2331720" cy="868680"/>
          </a:xfrm>
          <a:prstGeom prst="rect">
            <a:avLst/>
          </a:prstGeom>
          <a:noFill/>
          <a:ln/>
        </p:spPr>
        <p:txBody>
          <a:bodyPr wrap="square" lIns="0" tIns="0" rIns="0" bIns="0" rtlCol="0" anchor="t"/>
          <a:lstStyle/>
          <a:p>
            <a:pPr indent="0" marL="0">
              <a:buNone/>
            </a:pPr>
            <a:r>
              <a:rPr lang="en-US" sz="1200" b="1" dirty="0">
                <a:solidFill>
                  <a:srgbClr val="D98A1F"/>
                </a:solidFill>
                <a:latin typeface="Calibri" pitchFamily="34" charset="0"/>
                <a:ea typeface="Calibri" pitchFamily="34" charset="-122"/>
                <a:cs typeface="Calibri" pitchFamily="34" charset="-120"/>
              </a:rPr>
              <a:t>Config conflict: 100 trees/depth 20 vs 30 trees/depth 14</a:t>
            </a:r>
            <a:endParaRPr lang="en-US" sz="1200" dirty="0"/>
          </a:p>
        </p:txBody>
      </p:sp>
      <p:sp>
        <p:nvSpPr>
          <p:cNvPr id="21" name="Shape 18"/>
          <p:cNvSpPr/>
          <p:nvPr/>
        </p:nvSpPr>
        <p:spPr>
          <a:xfrm>
            <a:off x="6163056" y="3017520"/>
            <a:ext cx="2651760" cy="3017520"/>
          </a:xfrm>
          <a:prstGeom prst="rect">
            <a:avLst/>
          </a:prstGeom>
          <a:solidFill>
            <a:srgbClr val="F4F8FA"/>
          </a:solidFill>
          <a:ln w="12700">
            <a:solidFill>
              <a:srgbClr val="F4F8FA"/>
            </a:solidFill>
            <a:prstDash val="solid"/>
          </a:ln>
        </p:spPr>
      </p:sp>
      <p:sp>
        <p:nvSpPr>
          <p:cNvPr id="22" name="Text 19"/>
          <p:cNvSpPr txBox="1"/>
          <p:nvPr/>
        </p:nvSpPr>
        <p:spPr>
          <a:xfrm>
            <a:off x="6345936" y="3154680"/>
            <a:ext cx="233172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XGBoost</a:t>
            </a:r>
            <a:endParaRPr lang="en-US" sz="1800" dirty="0"/>
          </a:p>
        </p:txBody>
      </p:sp>
      <p:sp>
        <p:nvSpPr>
          <p:cNvPr id="23" name="Text 20"/>
          <p:cNvSpPr txBox="1"/>
          <p:nvPr/>
        </p:nvSpPr>
        <p:spPr>
          <a:xfrm>
            <a:off x="6345936" y="3611880"/>
            <a:ext cx="2331720" cy="13716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Boosted trees, squared-error objective.</a:t>
            </a:r>
            <a:endParaRPr lang="en-US" sz="1300" dirty="0"/>
          </a:p>
        </p:txBody>
      </p:sp>
      <p:sp>
        <p:nvSpPr>
          <p:cNvPr id="24" name="Text 21"/>
          <p:cNvSpPr txBox="1"/>
          <p:nvPr/>
        </p:nvSpPr>
        <p:spPr>
          <a:xfrm>
            <a:off x="6345936" y="5074920"/>
            <a:ext cx="2331720" cy="868680"/>
          </a:xfrm>
          <a:prstGeom prst="rect">
            <a:avLst/>
          </a:prstGeom>
          <a:noFill/>
          <a:ln/>
        </p:spPr>
        <p:txBody>
          <a:bodyPr wrap="square" lIns="0" tIns="0" rIns="0" bIns="0" rtlCol="0" anchor="t"/>
          <a:lstStyle/>
          <a:p>
            <a:pPr indent="0" marL="0">
              <a:buNone/>
            </a:pPr>
            <a:r>
              <a:rPr lang="en-US" sz="1200" b="1" dirty="0">
                <a:solidFill>
                  <a:srgbClr val="D98A1F"/>
                </a:solidFill>
                <a:latin typeface="Calibri" pitchFamily="34" charset="0"/>
                <a:ea typeface="Calibri" pitchFamily="34" charset="-122"/>
                <a:cs typeface="Calibri" pitchFamily="34" charset="-120"/>
              </a:rPr>
              <a:t>Config conflict: 300 rounds/η 0.05/depth 8 vs 150/η 0.08/depth 6</a:t>
            </a:r>
            <a:endParaRPr lang="en-US" sz="1200" dirty="0"/>
          </a:p>
        </p:txBody>
      </p:sp>
      <p:sp>
        <p:nvSpPr>
          <p:cNvPr id="25" name="Shape 22"/>
          <p:cNvSpPr/>
          <p:nvPr/>
        </p:nvSpPr>
        <p:spPr>
          <a:xfrm>
            <a:off x="8970264" y="3017520"/>
            <a:ext cx="2651760" cy="3017520"/>
          </a:xfrm>
          <a:prstGeom prst="rect">
            <a:avLst/>
          </a:prstGeom>
          <a:solidFill>
            <a:srgbClr val="EAF4F6"/>
          </a:solidFill>
          <a:ln w="12700">
            <a:solidFill>
              <a:srgbClr val="EAF4F6"/>
            </a:solidFill>
            <a:prstDash val="solid"/>
          </a:ln>
        </p:spPr>
      </p:sp>
      <p:sp>
        <p:nvSpPr>
          <p:cNvPr id="26" name="Text 23"/>
          <p:cNvSpPr txBox="1"/>
          <p:nvPr/>
        </p:nvSpPr>
        <p:spPr>
          <a:xfrm>
            <a:off x="9153144" y="3154680"/>
            <a:ext cx="233172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Dual-head MLP</a:t>
            </a:r>
            <a:endParaRPr lang="en-US" sz="1800" dirty="0"/>
          </a:p>
        </p:txBody>
      </p:sp>
      <p:sp>
        <p:nvSpPr>
          <p:cNvPr id="27" name="Text 24"/>
          <p:cNvSpPr txBox="1"/>
          <p:nvPr/>
        </p:nvSpPr>
        <p:spPr>
          <a:xfrm>
            <a:off x="9153144" y="3611880"/>
            <a:ext cx="2331720" cy="13716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38→256→128→64, then regression head (Smooth-L1) and 5-class head (weighted CE); AdamW, 8 epochs.</a:t>
            </a:r>
            <a:endParaRPr lang="en-US" sz="1300" dirty="0"/>
          </a:p>
        </p:txBody>
      </p:sp>
      <p:sp>
        <p:nvSpPr>
          <p:cNvPr id="28" name="Text 25"/>
          <p:cNvSpPr txBox="1"/>
          <p:nvPr/>
        </p:nvSpPr>
        <p:spPr>
          <a:xfrm>
            <a:off x="9153144" y="5074920"/>
            <a:ext cx="2331720" cy="868680"/>
          </a:xfrm>
          <a:prstGeom prst="rect">
            <a:avLst/>
          </a:prstGeom>
          <a:noFill/>
          <a:ln/>
        </p:spPr>
        <p:txBody>
          <a:bodyPr wrap="square" lIns="0" tIns="0" rIns="0" bIns="0" rtlCol="0" anchor="t"/>
          <a:lstStyle/>
          <a:p>
            <a:pPr indent="0" marL="0">
              <a:buNone/>
            </a:pPr>
            <a:r>
              <a:rPr lang="en-US" sz="1200" b="1" dirty="0">
                <a:solidFill>
                  <a:srgbClr val="D98A1F"/>
                </a:solidFill>
                <a:latin typeface="Calibri" pitchFamily="34" charset="0"/>
                <a:ea typeface="Calibri" pitchFamily="34" charset="-122"/>
                <a:cs typeface="Calibri" pitchFamily="34" charset="-120"/>
              </a:rPr>
              <a:t>Reported in repo technical report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 BENCHMARKING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Tree ensembles reproduce the index almost exactly; the MLP is close but less precise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2103120"/>
                <a:gridCol w="1188720"/>
                <a:gridCol w="1188720"/>
                <a:gridCol w="1188720"/>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MAE</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RMSE</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R²</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457200">
                <a:tc>
                  <a:txBody>
                    <a:bodyPr/>
                    <a:lstStyle/>
                    <a:p>
                      <a:pPr algn="l" indent="0" marL="0">
                        <a:buNone/>
                      </a:pPr>
                      <a:r>
                        <a:rPr lang="en-US" sz="1500" dirty="0">
                          <a:solidFill>
                            <a:srgbClr val="12202E"/>
                          </a:solidFill>
                          <a:latin typeface="Calibri" pitchFamily="34" charset="0"/>
                          <a:ea typeface="Calibri" pitchFamily="34" charset="-122"/>
                          <a:cs typeface="Calibri" pitchFamily="34" charset="-120"/>
                        </a:rPr>
                        <a:t>Mean baseline</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14.130</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17.656</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0.0000</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12202E"/>
                          </a:solidFill>
                          <a:latin typeface="Calibri" pitchFamily="34" charset="0"/>
                          <a:ea typeface="Calibri" pitchFamily="34" charset="-122"/>
                          <a:cs typeface="Calibri" pitchFamily="34" charset="-120"/>
                        </a:rPr>
                        <a:t>Random Forest</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0.052</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0.208</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500" b="1" dirty="0">
                          <a:solidFill>
                            <a:srgbClr val="12202E"/>
                          </a:solidFill>
                          <a:latin typeface="Calibri" pitchFamily="34" charset="0"/>
                          <a:ea typeface="Calibri" pitchFamily="34" charset="-122"/>
                          <a:cs typeface="Calibri" pitchFamily="34" charset="-120"/>
                        </a:rPr>
                        <a:t>0.9999</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r>
              <a:tr h="457200">
                <a:tc>
                  <a:txBody>
                    <a:bodyPr/>
                    <a:lstStyle/>
                    <a:p>
                      <a:pPr algn="l" indent="0" marL="0">
                        <a:buNone/>
                      </a:pPr>
                      <a:r>
                        <a:rPr lang="en-US" sz="1500" dirty="0">
                          <a:solidFill>
                            <a:srgbClr val="12202E"/>
                          </a:solidFill>
                          <a:latin typeface="Calibri" pitchFamily="34" charset="0"/>
                          <a:ea typeface="Calibri" pitchFamily="34" charset="-122"/>
                          <a:cs typeface="Calibri" pitchFamily="34" charset="-120"/>
                        </a:rPr>
                        <a:t>XGBoost</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0.137</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0.374</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0.9996</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12202E"/>
                          </a:solidFill>
                          <a:latin typeface="Calibri" pitchFamily="34" charset="0"/>
                          <a:ea typeface="Calibri" pitchFamily="34" charset="-122"/>
                          <a:cs typeface="Calibri" pitchFamily="34" charset="-120"/>
                        </a:rPr>
                        <a:t>Dual-head MLP</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0.706</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1.156</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2202E"/>
                          </a:solidFill>
                          <a:latin typeface="Calibri" pitchFamily="34" charset="0"/>
                          <a:ea typeface="Calibri" pitchFamily="34" charset="-122"/>
                          <a:cs typeface="Calibri" pitchFamily="34" charset="-120"/>
                        </a:rPr>
                        <a:t>0.9957</a:t>
                      </a:r>
                      <a:endParaRPr lang="en-US" sz="15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4251960"/>
            <a:ext cx="5669280" cy="64008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MLP also classifies the 5 tiers: accuracy 96.09%, macro-F1 0.9485, Brier 0.0533, ECE 1.27% (validation).</a:t>
            </a:r>
            <a:endParaRPr lang="en-US" sz="1300" dirty="0"/>
          </a:p>
        </p:txBody>
      </p:sp>
      <p:graphicFrame>
        <p:nvGraphicFramePr>
          <p:cNvPr id="9" name="Chart 0" descr=""/>
          <p:cNvGraphicFramePr/>
          <p:nvPr/>
        </p:nvGraphicFramePr>
        <p:xfrm>
          <a:off x="6583680" y="1691640"/>
          <a:ext cx="5056632" cy="3200400"/>
        </p:xfrm>
        <a:graphic xmlns:a="http://schemas.openxmlformats.org/drawingml/2006/main">
          <a:graphicData uri="http://schemas.openxmlformats.org/drawingml/2006/chart">
            <c:chart xmlns:c="http://schemas.openxmlformats.org/drawingml/2006/chart" r:id="rId1"/>
          </a:graphicData>
        </a:graphic>
      </p:graphicFrame>
      <p:sp>
        <p:nvSpPr>
          <p:cNvPr id="10" name="Shape 5"/>
          <p:cNvSpPr/>
          <p:nvPr/>
        </p:nvSpPr>
        <p:spPr>
          <a:xfrm>
            <a:off x="548640" y="5166360"/>
            <a:ext cx="11091672" cy="868680"/>
          </a:xfrm>
          <a:prstGeom prst="rect">
            <a:avLst/>
          </a:prstGeom>
          <a:solidFill>
            <a:srgbClr val="FFF3DC"/>
          </a:solidFill>
          <a:ln w="12700">
            <a:solidFill>
              <a:srgbClr val="FFF3DC"/>
            </a:solidFill>
            <a:prstDash val="solid"/>
          </a:ln>
        </p:spPr>
      </p:sp>
      <p:sp>
        <p:nvSpPr>
          <p:cNvPr id="11" name="Text 6"/>
          <p:cNvSpPr txBox="1"/>
          <p:nvPr/>
        </p:nvSpPr>
        <p:spPr>
          <a:xfrm>
            <a:off x="777240" y="5166360"/>
            <a:ext cx="10698480" cy="86868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These scores measure how well each model re-computes a deterministic formula on randomly held-out rows. They are not evidence of independent forecasting skill (slide 11). Latency claims omitted: provenance unverified.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RELIABILITY AND VALIDITY</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Why R² ≈ 0.9999 needs careful reading: three open audit findings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737360"/>
            <a:ext cx="3611880" cy="3063240"/>
          </a:xfrm>
          <a:prstGeom prst="rect">
            <a:avLst/>
          </a:prstGeom>
          <a:solidFill>
            <a:srgbClr val="F4F8FA"/>
          </a:solidFill>
          <a:ln w="12700">
            <a:solidFill>
              <a:srgbClr val="F4F8FA"/>
            </a:solidFill>
            <a:prstDash val="solid"/>
          </a:ln>
        </p:spPr>
      </p:sp>
      <p:sp>
        <p:nvSpPr>
          <p:cNvPr id="8" name="Text 5"/>
          <p:cNvSpPr txBox="1"/>
          <p:nvPr/>
        </p:nvSpPr>
        <p:spPr>
          <a:xfrm>
            <a:off x="731520" y="1847088"/>
            <a:ext cx="3291840" cy="365760"/>
          </a:xfrm>
          <a:prstGeom prst="rect">
            <a:avLst/>
          </a:prstGeom>
          <a:noFill/>
          <a:ln/>
        </p:spPr>
        <p:txBody>
          <a:bodyPr wrap="square" lIns="0" tIns="0" rIns="0" bIns="0" rtlCol="0" anchor="t"/>
          <a:lstStyle/>
          <a:p>
            <a:pPr indent="0" marL="0">
              <a:buNone/>
            </a:pPr>
            <a:r>
              <a:rPr lang="en-US" sz="1700" b="1" dirty="0">
                <a:solidFill>
                  <a:srgbClr val="0E7C86"/>
                </a:solidFill>
                <a:latin typeface="Cambria" pitchFamily="34" charset="0"/>
                <a:ea typeface="Cambria" pitchFamily="34" charset="-122"/>
                <a:cs typeface="Cambria" pitchFamily="34" charset="-120"/>
              </a:rPr>
              <a:t>1  Deterministic target</a:t>
            </a:r>
            <a:endParaRPr lang="en-US" sz="1700" dirty="0"/>
          </a:p>
        </p:txBody>
      </p:sp>
      <p:sp>
        <p:nvSpPr>
          <p:cNvPr id="9" name="Text 6"/>
          <p:cNvSpPr txBox="1"/>
          <p:nvPr/>
        </p:nvSpPr>
        <p:spPr>
          <a:xfrm>
            <a:off x="731520" y="2286000"/>
            <a:ext cx="3291840" cy="20116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The index is computed from the same eight measurements used as inputs, against fixed guideline limits. The team’s viva guide calls it an “exact deterministic mathematical aggregation”. High R² = the model learned the formula.</a:t>
            </a:r>
            <a:endParaRPr lang="en-US" sz="1300" dirty="0"/>
          </a:p>
        </p:txBody>
      </p:sp>
      <p:sp>
        <p:nvSpPr>
          <p:cNvPr id="10" name="Text 7"/>
          <p:cNvSpPr txBox="1"/>
          <p:nvPr/>
        </p:nvSpPr>
        <p:spPr>
          <a:xfrm>
            <a:off x="73152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from docs</a:t>
            </a:r>
            <a:endParaRPr lang="en-US" sz="1200" dirty="0"/>
          </a:p>
        </p:txBody>
      </p:sp>
      <p:sp>
        <p:nvSpPr>
          <p:cNvPr id="11" name="Shape 8"/>
          <p:cNvSpPr/>
          <p:nvPr/>
        </p:nvSpPr>
        <p:spPr>
          <a:xfrm>
            <a:off x="4297680" y="1737360"/>
            <a:ext cx="3611880" cy="3063240"/>
          </a:xfrm>
          <a:prstGeom prst="rect">
            <a:avLst/>
          </a:prstGeom>
          <a:solidFill>
            <a:srgbClr val="FFF3DC"/>
          </a:solidFill>
          <a:ln w="12700">
            <a:solidFill>
              <a:srgbClr val="FFF3DC"/>
            </a:solidFill>
            <a:prstDash val="solid"/>
          </a:ln>
        </p:spPr>
      </p:sp>
      <p:sp>
        <p:nvSpPr>
          <p:cNvPr id="12" name="Text 9"/>
          <p:cNvSpPr txBox="1"/>
          <p:nvPr/>
        </p:nvSpPr>
        <p:spPr>
          <a:xfrm>
            <a:off x="4480560" y="1847088"/>
            <a:ext cx="3291840" cy="365760"/>
          </a:xfrm>
          <a:prstGeom prst="rect">
            <a:avLst/>
          </a:prstGeom>
          <a:noFill/>
          <a:ln/>
        </p:spPr>
        <p:txBody>
          <a:bodyPr wrap="square" lIns="0" tIns="0" rIns="0" bIns="0" rtlCol="0" anchor="t"/>
          <a:lstStyle/>
          <a:p>
            <a:pPr indent="0" marL="0">
              <a:buNone/>
            </a:pPr>
            <a:r>
              <a:rPr lang="en-US" sz="1700" b="1" dirty="0">
                <a:solidFill>
                  <a:srgbClr val="D98A1F"/>
                </a:solidFill>
                <a:latin typeface="Cambria" pitchFamily="34" charset="0"/>
                <a:ea typeface="Cambria" pitchFamily="34" charset="-122"/>
                <a:cs typeface="Cambria" pitchFamily="34" charset="-120"/>
              </a:rPr>
              <a:t>2  exceedance_counter</a:t>
            </a:r>
            <a:endParaRPr lang="en-US" sz="1700" dirty="0"/>
          </a:p>
        </p:txBody>
      </p:sp>
      <p:sp>
        <p:nvSpPr>
          <p:cNvPr id="13" name="Text 10"/>
          <p:cNvSpPr txBox="1"/>
          <p:nvPr/>
        </p:nvSpPr>
        <p:spPr>
          <a:xfrm>
            <a:off x="4480560" y="2286000"/>
            <a:ext cx="3291840" cy="20116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A guideline-violation count sits in the 38 inputs. It uses the same exceedance information that builds F₁. Tests name only 3 quarantined target columns. Source code could not be read.</a:t>
            </a:r>
            <a:endParaRPr lang="en-US" sz="1300" dirty="0"/>
          </a:p>
        </p:txBody>
      </p:sp>
      <p:sp>
        <p:nvSpPr>
          <p:cNvPr id="14" name="Text 11"/>
          <p:cNvSpPr txBox="1"/>
          <p:nvPr/>
        </p:nvSpPr>
        <p:spPr>
          <a:xfrm>
            <a:off x="448056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Unresolved risk</a:t>
            </a:r>
            <a:endParaRPr lang="en-US" sz="1200" dirty="0"/>
          </a:p>
        </p:txBody>
      </p:sp>
      <p:sp>
        <p:nvSpPr>
          <p:cNvPr id="15" name="Shape 12"/>
          <p:cNvSpPr/>
          <p:nvPr/>
        </p:nvSpPr>
        <p:spPr>
          <a:xfrm>
            <a:off x="8046720" y="1737360"/>
            <a:ext cx="3611880" cy="3063240"/>
          </a:xfrm>
          <a:prstGeom prst="rect">
            <a:avLst/>
          </a:prstGeom>
          <a:solidFill>
            <a:srgbClr val="F4F8FA"/>
          </a:solidFill>
          <a:ln w="12700">
            <a:solidFill>
              <a:srgbClr val="F4F8FA"/>
            </a:solidFill>
            <a:prstDash val="solid"/>
          </a:ln>
        </p:spPr>
      </p:sp>
      <p:sp>
        <p:nvSpPr>
          <p:cNvPr id="16" name="Text 13"/>
          <p:cNvSpPr txBox="1"/>
          <p:nvPr/>
        </p:nvSpPr>
        <p:spPr>
          <a:xfrm>
            <a:off x="8229600" y="1847088"/>
            <a:ext cx="3291840" cy="365760"/>
          </a:xfrm>
          <a:prstGeom prst="rect">
            <a:avLst/>
          </a:prstGeom>
          <a:noFill/>
          <a:ln/>
        </p:spPr>
        <p:txBody>
          <a:bodyPr wrap="square" lIns="0" tIns="0" rIns="0" bIns="0" rtlCol="0" anchor="t"/>
          <a:lstStyle/>
          <a:p>
            <a:pPr indent="0" marL="0">
              <a:buNone/>
            </a:pPr>
            <a:r>
              <a:rPr lang="en-US" sz="1700" b="1" dirty="0">
                <a:solidFill>
                  <a:srgbClr val="0E7C86"/>
                </a:solidFill>
                <a:latin typeface="Cambria" pitchFamily="34" charset="0"/>
                <a:ea typeface="Cambria" pitchFamily="34" charset="-122"/>
                <a:cs typeface="Cambria" pitchFamily="34" charset="-120"/>
              </a:rPr>
              <a:t>3  Random split</a:t>
            </a:r>
            <a:endParaRPr lang="en-US" sz="1700" dirty="0"/>
          </a:p>
        </p:txBody>
      </p:sp>
      <p:sp>
        <p:nvSpPr>
          <p:cNvPr id="17" name="Text 14"/>
          <p:cNvSpPr txBox="1"/>
          <p:nvPr/>
        </p:nvSpPr>
        <p:spPr>
          <a:xfrm>
            <a:off x="8229600" y="2286000"/>
            <a:ext cx="3291840" cy="20116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Rows are split at random within WQI tiers. Station lags are built before splitting, so a row’s neighbours can sit in training. No station-held-out or time-forward check; test set unreported.</a:t>
            </a:r>
            <a:endParaRPr lang="en-US" sz="1300" dirty="0"/>
          </a:p>
        </p:txBody>
      </p:sp>
      <p:sp>
        <p:nvSpPr>
          <p:cNvPr id="18" name="Text 15"/>
          <p:cNvSpPr txBox="1"/>
          <p:nvPr/>
        </p:nvSpPr>
        <p:spPr>
          <a:xfrm>
            <a:off x="822960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from docs</a:t>
            </a:r>
            <a:endParaRPr lang="en-US" sz="1200" dirty="0"/>
          </a:p>
        </p:txBody>
      </p:sp>
      <p:sp>
        <p:nvSpPr>
          <p:cNvPr id="19" name="Shape 16"/>
          <p:cNvSpPr/>
          <p:nvPr/>
        </p:nvSpPr>
        <p:spPr>
          <a:xfrm>
            <a:off x="548640" y="4983480"/>
            <a:ext cx="5440680" cy="1234440"/>
          </a:xfrm>
          <a:prstGeom prst="rect">
            <a:avLst/>
          </a:prstGeom>
          <a:solidFill>
            <a:srgbClr val="EAF4F6"/>
          </a:solidFill>
          <a:ln w="12700">
            <a:solidFill>
              <a:srgbClr val="EAF4F6"/>
            </a:solidFill>
            <a:prstDash val="solid"/>
          </a:ln>
        </p:spPr>
      </p:sp>
      <p:sp>
        <p:nvSpPr>
          <p:cNvPr id="20" name="Text 17"/>
          <p:cNvSpPr txBox="1"/>
          <p:nvPr/>
        </p:nvSpPr>
        <p:spPr>
          <a:xfrm>
            <a:off x="731520" y="5074920"/>
            <a:ext cx="5120640" cy="109728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Can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Fast, accurate surrogate of the CCME computation on this dataset (validation).</a:t>
            </a:r>
            <a:endParaRPr lang="en-US" sz="1300" dirty="0"/>
          </a:p>
        </p:txBody>
      </p:sp>
      <p:sp>
        <p:nvSpPr>
          <p:cNvPr id="21" name="Shape 18"/>
          <p:cNvSpPr/>
          <p:nvPr/>
        </p:nvSpPr>
        <p:spPr>
          <a:xfrm>
            <a:off x="6199632" y="4983480"/>
            <a:ext cx="5440680" cy="1234440"/>
          </a:xfrm>
          <a:prstGeom prst="rect">
            <a:avLst/>
          </a:prstGeom>
          <a:solidFill>
            <a:srgbClr val="FFF3DC"/>
          </a:solidFill>
          <a:ln w="12700">
            <a:solidFill>
              <a:srgbClr val="FFF3DC"/>
            </a:solidFill>
            <a:prstDash val="solid"/>
          </a:ln>
        </p:spPr>
      </p:sp>
      <p:sp>
        <p:nvSpPr>
          <p:cNvPr id="22" name="Text 19"/>
          <p:cNvSpPr txBox="1"/>
          <p:nvPr/>
        </p:nvSpPr>
        <p:spPr>
          <a:xfrm>
            <a:off x="6382512" y="5074920"/>
            <a:ext cx="5120640" cy="1097280"/>
          </a:xfrm>
          <a:prstGeom prst="rect">
            <a:avLst/>
          </a:prstGeom>
          <a:noFill/>
          <a:ln/>
        </p:spPr>
        <p:txBody>
          <a:bodyPr wrap="square" lIns="0" tIns="0" rIns="0" bIns="0" rtlCol="0" anchor="t"/>
          <a:lstStyle/>
          <a:p>
            <a:pPr indent="0" marL="0">
              <a:buNone/>
            </a:pPr>
            <a:r>
              <a:rPr lang="en-US" sz="1300" b="1" dirty="0">
                <a:solidFill>
                  <a:srgbClr val="D98A1F"/>
                </a:solidFill>
                <a:latin typeface="Calibri" pitchFamily="34" charset="0"/>
                <a:ea typeface="Calibri" pitchFamily="34" charset="-122"/>
                <a:cs typeface="Calibri" pitchFamily="34" charset="-120"/>
              </a:rPr>
              <a:t>Cannot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Leakage-free generalisation to new stations or future years; independent water-quality forecasting.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WHAT DRIVES THE PREDICTIONS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Orthophosphate dominates the model — a property of the index and data, not a causal finding</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a:t>
            </a:r>
            <a:endParaRPr lang="en-US" sz="1000" dirty="0"/>
          </a:p>
        </p:txBody>
      </p:sp>
      <p:graphicFrame>
        <p:nvGraphicFramePr>
          <p:cNvPr id="7" name="Chart 0" descr=""/>
          <p:cNvGraphicFramePr/>
          <p:nvPr/>
        </p:nvGraphicFramePr>
        <p:xfrm>
          <a:off x="548640" y="1691640"/>
          <a:ext cx="6309360" cy="3657600"/>
        </p:xfrm>
        <a:graphic xmlns:a="http://schemas.openxmlformats.org/drawingml/2006/main">
          <a:graphicData uri="http://schemas.openxmlformats.org/drawingml/2006/chart">
            <c:chart xmlns:c="http://schemas.openxmlformats.org/drawingml/2006/chart" r:id="rId1"/>
          </a:graphicData>
        </a:graphic>
      </p:graphicFrame>
      <p:pic>
        <p:nvPicPr>
          <p:cNvPr id="8" name="Image 0" descr="/home/claude/w/img/r-004.png">    </p:cNvPr>
          <p:cNvPicPr>
            <a:picLocks noChangeAspect="1"/>
          </p:cNvPicPr>
          <p:nvPr/>
        </p:nvPicPr>
        <p:blipFill>
          <a:blip r:embed="rId2"/>
          <a:stretch>
            <a:fillRect/>
          </a:stretch>
        </p:blipFill>
        <p:spPr>
          <a:xfrm>
            <a:off x="7178040" y="1691640"/>
            <a:ext cx="3657600" cy="3493008"/>
          </a:xfrm>
          <a:prstGeom prst="rect">
            <a:avLst/>
          </a:prstGeom>
        </p:spPr>
      </p:pic>
      <p:sp>
        <p:nvSpPr>
          <p:cNvPr id="9" name="Text 4"/>
          <p:cNvSpPr txBox="1"/>
          <p:nvPr/>
        </p:nvSpPr>
        <p:spPr>
          <a:xfrm>
            <a:off x="7178040" y="5212080"/>
            <a:ext cx="448056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TreeSHAP beeswarm, XGBoost (project report Fig. 5)</a:t>
            </a:r>
            <a:endParaRPr lang="en-US" sz="1100" dirty="0"/>
          </a:p>
        </p:txBody>
      </p:sp>
      <p:sp>
        <p:nvSpPr>
          <p:cNvPr id="10" name="Shape 5"/>
          <p:cNvSpPr/>
          <p:nvPr/>
        </p:nvSpPr>
        <p:spPr>
          <a:xfrm>
            <a:off x="548640" y="5577840"/>
            <a:ext cx="11091672" cy="685800"/>
          </a:xfrm>
          <a:prstGeom prst="rect">
            <a:avLst/>
          </a:prstGeom>
          <a:solidFill>
            <a:srgbClr val="FFF3DC"/>
          </a:solidFill>
          <a:ln w="12700">
            <a:solidFill>
              <a:srgbClr val="FFF3DC"/>
            </a:solidFill>
            <a:prstDash val="solid"/>
          </a:ln>
        </p:spPr>
      </p:sp>
      <p:sp>
        <p:nvSpPr>
          <p:cNvPr id="11" name="Text 6"/>
          <p:cNvSpPr txBox="1"/>
          <p:nvPr/>
        </p:nvSpPr>
        <p:spPr>
          <a:xfrm>
            <a:off x="777240" y="5577840"/>
            <a:ext cx="10698480" cy="68580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Importance describes the model, not the river. Orthophosphate’s share is 88% (RF) / 86% (XGB) of gain/impurity importance, not “88% of splits”.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LIMITATIONS, STATUS AND NEXT STEPS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Phase 1 is complete; the deep-learning model exists, and stricter validation comes next</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737360"/>
            <a:ext cx="3611880" cy="3429000"/>
          </a:xfrm>
          <a:prstGeom prst="rect">
            <a:avLst/>
          </a:prstGeom>
          <a:solidFill>
            <a:srgbClr val="F4F8FA"/>
          </a:solidFill>
          <a:ln w="12700">
            <a:solidFill>
              <a:srgbClr val="F4F8FA"/>
            </a:solidFill>
            <a:prstDash val="solid"/>
          </a:ln>
        </p:spPr>
      </p:sp>
      <p:sp>
        <p:nvSpPr>
          <p:cNvPr id="8" name="Text 5"/>
          <p:cNvSpPr txBox="1"/>
          <p:nvPr/>
        </p:nvSpPr>
        <p:spPr>
          <a:xfrm>
            <a:off x="731520" y="1874520"/>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Confirmed from documents</a:t>
            </a:r>
            <a:endParaRPr lang="en-US" sz="1800" dirty="0"/>
          </a:p>
        </p:txBody>
      </p:sp>
      <p:sp>
        <p:nvSpPr>
          <p:cNvPr id="9" name="Text 6"/>
          <p:cNvSpPr txBox="1"/>
          <p:nvPr/>
        </p:nvSpPr>
        <p:spPr>
          <a:xfrm>
            <a:off x="731520" y="2377440"/>
            <a:ext cx="32918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Country imbalance: England ≈75% of rows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Random split; no station/time hold-out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Validation metrics only; test set unreported</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Report and repo disagree on tree settings, country counts, importance wording</a:t>
            </a:r>
            <a:endParaRPr lang="en-US" sz="1400" dirty="0"/>
          </a:p>
        </p:txBody>
      </p:sp>
      <p:sp>
        <p:nvSpPr>
          <p:cNvPr id="10" name="Shape 7"/>
          <p:cNvSpPr/>
          <p:nvPr/>
        </p:nvSpPr>
        <p:spPr>
          <a:xfrm>
            <a:off x="4297680" y="1737360"/>
            <a:ext cx="3611880" cy="3429000"/>
          </a:xfrm>
          <a:prstGeom prst="rect">
            <a:avLst/>
          </a:prstGeom>
          <a:solidFill>
            <a:srgbClr val="FFF3DC"/>
          </a:solidFill>
          <a:ln w="12700">
            <a:solidFill>
              <a:srgbClr val="FFF3DC"/>
            </a:solidFill>
            <a:prstDash val="solid"/>
          </a:ln>
        </p:spPr>
      </p:sp>
      <p:sp>
        <p:nvSpPr>
          <p:cNvPr id="11" name="Text 8"/>
          <p:cNvSpPr txBox="1"/>
          <p:nvPr/>
        </p:nvSpPr>
        <p:spPr>
          <a:xfrm>
            <a:off x="4480560" y="1874520"/>
            <a:ext cx="3291840" cy="365760"/>
          </a:xfrm>
          <a:prstGeom prst="rect">
            <a:avLst/>
          </a:prstGeom>
          <a:noFill/>
          <a:ln/>
        </p:spPr>
        <p:txBody>
          <a:bodyPr wrap="square" lIns="0" tIns="0" rIns="0" bIns="0" rtlCol="0" anchor="t"/>
          <a:lstStyle/>
          <a:p>
            <a:pPr indent="0" marL="0">
              <a:buNone/>
            </a:pPr>
            <a:r>
              <a:rPr lang="en-US" sz="1800" b="1" dirty="0">
                <a:solidFill>
                  <a:srgbClr val="D98A1F"/>
                </a:solidFill>
                <a:latin typeface="Cambria" pitchFamily="34" charset="0"/>
                <a:ea typeface="Cambria" pitchFamily="34" charset="-122"/>
                <a:cs typeface="Cambria" pitchFamily="34" charset="-120"/>
              </a:rPr>
              <a:t>Open / not verified</a:t>
            </a:r>
            <a:endParaRPr lang="en-US" sz="1800" dirty="0"/>
          </a:p>
        </p:txBody>
      </p:sp>
      <p:sp>
        <p:nvSpPr>
          <p:cNvPr id="12" name="Text 9"/>
          <p:cNvSpPr txBox="1"/>
          <p:nvPr/>
        </p:nvSpPr>
        <p:spPr>
          <a:xfrm>
            <a:off x="4480560" y="2377440"/>
            <a:ext cx="32918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Whether exceedance_counter inflates scores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Latency figures (hardware, batch size)</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Duplicates and cross-partition near-duplicates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Source code and notebooks not reviewed</a:t>
            </a:r>
            <a:endParaRPr lang="en-US" sz="1400" dirty="0"/>
          </a:p>
        </p:txBody>
      </p:sp>
      <p:sp>
        <p:nvSpPr>
          <p:cNvPr id="13" name="Shape 10"/>
          <p:cNvSpPr/>
          <p:nvPr/>
        </p:nvSpPr>
        <p:spPr>
          <a:xfrm>
            <a:off x="8046720" y="1737360"/>
            <a:ext cx="3611880" cy="3429000"/>
          </a:xfrm>
          <a:prstGeom prst="rect">
            <a:avLst/>
          </a:prstGeom>
          <a:solidFill>
            <a:srgbClr val="F4F8FA"/>
          </a:solidFill>
          <a:ln w="12700">
            <a:solidFill>
              <a:srgbClr val="F4F8FA"/>
            </a:solidFill>
            <a:prstDash val="solid"/>
          </a:ln>
        </p:spPr>
      </p:sp>
      <p:sp>
        <p:nvSpPr>
          <p:cNvPr id="14" name="Text 11"/>
          <p:cNvSpPr txBox="1"/>
          <p:nvPr/>
        </p:nvSpPr>
        <p:spPr>
          <a:xfrm>
            <a:off x="8229600" y="1874520"/>
            <a:ext cx="3291840" cy="365760"/>
          </a:xfrm>
          <a:prstGeom prst="rect">
            <a:avLst/>
          </a:prstGeom>
          <a:noFill/>
          <a:ln/>
        </p:spPr>
        <p:txBody>
          <a:bodyPr wrap="square" lIns="0" tIns="0" rIns="0" bIns="0" rtlCol="0" anchor="t"/>
          <a:lstStyle/>
          <a:p>
            <a:pPr indent="0" marL="0">
              <a:buNone/>
            </a:pPr>
            <a:r>
              <a:rPr lang="en-US" sz="1800" b="1" dirty="0">
                <a:solidFill>
                  <a:srgbClr val="0B1F33"/>
                </a:solidFill>
                <a:latin typeface="Cambria" pitchFamily="34" charset="0"/>
                <a:ea typeface="Cambria" pitchFamily="34" charset="-122"/>
                <a:cs typeface="Cambria" pitchFamily="34" charset="-120"/>
              </a:rPr>
              <a:t>Planned (not done)</a:t>
            </a:r>
            <a:endParaRPr lang="en-US" sz="1800" dirty="0"/>
          </a:p>
        </p:txBody>
      </p:sp>
      <p:sp>
        <p:nvSpPr>
          <p:cNvPr id="15" name="Text 12"/>
          <p:cNvSpPr txBox="1"/>
          <p:nvPr/>
        </p:nvSpPr>
        <p:spPr>
          <a:xfrm>
            <a:off x="8229600" y="2377440"/>
            <a:ext cx="32918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Ablation without exceedance_counter</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Station-held-out and time-forward splits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Report held-out test scores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External validation; uncertainty beyond MLP calibration</a:t>
            </a:r>
            <a:endParaRPr lang="en-US" sz="1400" dirty="0"/>
          </a:p>
        </p:txBody>
      </p:sp>
      <p:sp>
        <p:nvSpPr>
          <p:cNvPr id="16" name="Text 13"/>
          <p:cNvSpPr txBox="1"/>
          <p:nvPr/>
        </p:nvSpPr>
        <p:spPr>
          <a:xfrm>
            <a:off x="548640" y="5440680"/>
            <a:ext cx="11064240" cy="5486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Implemented (validation only): dual-head MLP — R² 0.9957, MAE 0.706, accuracy 96.09%, ECE 1.27% — per the repository technical report.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CONCLUSION, TEAM AND REFERENCES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reproducible, well-tested baseline — with a clear route to a stricter evaluation</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14</a:t>
            </a:r>
            <a:endParaRPr lang="en-US" sz="1000" dirty="0"/>
          </a:p>
        </p:txBody>
      </p:sp>
      <p:sp>
        <p:nvSpPr>
          <p:cNvPr id="7" name="Text 4"/>
          <p:cNvSpPr txBox="1"/>
          <p:nvPr/>
        </p:nvSpPr>
        <p:spPr>
          <a:xfrm>
            <a:off x="548640" y="1691640"/>
            <a:ext cx="5577840" cy="2377440"/>
          </a:xfrm>
          <a:prstGeom prst="rect">
            <a:avLst/>
          </a:prstGeom>
          <a:noFill/>
          <a:ln/>
        </p:spPr>
        <p:txBody>
          <a:bodyPr wrap="square" lIns="0" tIns="0" rIns="0" bIns="0" rtlCol="0" anchor="t"/>
          <a:lstStyle/>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Built: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audited 2.82 M-row dataset, 38 chemistry-driven features, RF/XGBoost/MLP benchmarks, SHAP, 12 tests.</a:t>
            </a:r>
            <a:endParaRPr lang="en-US" sz="1500" dirty="0"/>
          </a:p>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Strongest finding: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models re-compute the CCME index with validation MAE ≤ 0.14 (trees).</a:t>
            </a:r>
            <a:endParaRPr lang="en-US" sz="1500" dirty="0"/>
          </a:p>
          <a:p>
            <a:pPr indent="0" marL="0">
              <a:spcAft>
                <a:spcPts val="1000"/>
              </a:spcAft>
              <a:buNone/>
            </a:pPr>
            <a:r>
              <a:rPr lang="en-US" sz="1500" b="1" dirty="0">
                <a:solidFill>
                  <a:srgbClr val="F2B45A"/>
                </a:solidFill>
                <a:latin typeface="Calibri" pitchFamily="34" charset="0"/>
                <a:ea typeface="Calibri" pitchFamily="34" charset="-122"/>
                <a:cs typeface="Calibri" pitchFamily="34" charset="-120"/>
              </a:rPr>
              <a:t>Key caveat: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the target is a formula of the inputs and the split is random, so run leakage-free ablations next.</a:t>
            </a:r>
            <a:endParaRPr lang="en-US" sz="1500" dirty="0"/>
          </a:p>
        </p:txBody>
      </p:sp>
      <p:sp>
        <p:nvSpPr>
          <p:cNvPr id="8" name="Text 5"/>
          <p:cNvSpPr txBox="1"/>
          <p:nvPr/>
        </p:nvSpPr>
        <p:spPr>
          <a:xfrm>
            <a:off x="548640" y="4160520"/>
            <a:ext cx="54864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Team and roles</a:t>
            </a:r>
            <a:endParaRPr lang="en-US" sz="1600" dirty="0"/>
          </a:p>
        </p:txBody>
      </p:sp>
      <p:sp>
        <p:nvSpPr>
          <p:cNvPr id="9" name="Text 6"/>
          <p:cNvSpPr txBox="1"/>
          <p:nvPr/>
        </p:nvSpPr>
        <p:spPr>
          <a:xfrm>
            <a:off x="548640" y="4526280"/>
            <a:ext cx="5577840" cy="1463040"/>
          </a:xfrm>
          <a:prstGeom prst="rect">
            <a:avLst/>
          </a:prstGeom>
          <a:noFill/>
          <a:ln/>
        </p:spPr>
        <p:txBody>
          <a:bodyPr wrap="square" lIns="0" tIns="0" rIns="0" bIns="0" rtlCol="0" anchor="t"/>
          <a:lstStyle/>
          <a:p>
            <a:pPr indent="0" marL="0">
              <a:buNone/>
            </a:pPr>
            <a:r>
              <a:rPr lang="en-US" sz="1200" dirty="0" b="1">
                <a:solidFill>
                  <a:srgbClr val="BFD6E2"/>
                </a:solidFill>
                <a:latin typeface="Calibri" pitchFamily="34" charset="0"/>
                <a:ea typeface="Calibri" pitchFamily="34" charset="-122"/>
                <a:cs typeface="Calibri" pitchFamily="34" charset="-120"/>
              </a:rPr>
              <a:t>Mayank Sharma</a:t>
            </a:r>
            <a:r>
              <a:rPr lang="en-US" sz="1200" dirty="0">
                <a:solidFill>
                  <a:srgbClr val="BFD6E2"/>
                </a:solidFill>
                <a:latin typeface="Calibri" pitchFamily="34" charset="0"/>
                <a:ea typeface="Calibri" pitchFamily="34" charset="-122"/>
                <a:cs typeface="Calibri" pitchFamily="34" charset="-120"/>
              </a:rPr>
              <a:t> – EDA &amp; repository management lead</a:t>
            </a:r>
            <a:endParaRPr lang="en-US" sz="1200" dirty="0"/>
          </a:p>
          <a:p>
            <a:pPr indent="0" marL="0">
              <a:buNone/>
            </a:pPr>
            <a:r>
              <a:rPr lang="en-US" sz="1200" dirty="0" b="1">
                <a:solidFill>
                  <a:srgbClr val="BFD6E2"/>
                </a:solidFill>
                <a:latin typeface="Calibri" pitchFamily="34" charset="0"/>
                <a:ea typeface="Calibri" pitchFamily="34" charset="-122"/>
                <a:cs typeface="Calibri" pitchFamily="34" charset="-120"/>
              </a:rPr>
              <a:t>Aman Soni</a:t>
            </a:r>
            <a:r>
              <a:rPr lang="en-US" sz="1200" dirty="0">
                <a:solidFill>
                  <a:srgbClr val="BFD6E2"/>
                </a:solidFill>
                <a:latin typeface="Calibri" pitchFamily="34" charset="0"/>
                <a:ea typeface="Calibri" pitchFamily="34" charset="-122"/>
                <a:cs typeface="Calibri" pitchFamily="34" charset="-120"/>
              </a:rPr>
              <a:t> – model training lead (baseline, RF, XGBoost)</a:t>
            </a:r>
            <a:endParaRPr lang="en-US" sz="1200" dirty="0"/>
          </a:p>
          <a:p>
            <a:pPr indent="0" marL="0">
              <a:buNone/>
            </a:pPr>
            <a:r>
              <a:rPr lang="en-US" sz="1200" dirty="0" b="1">
                <a:solidFill>
                  <a:srgbClr val="BFD6E2"/>
                </a:solidFill>
                <a:latin typeface="Calibri" pitchFamily="34" charset="0"/>
                <a:ea typeface="Calibri" pitchFamily="34" charset="-122"/>
                <a:cs typeface="Calibri" pitchFamily="34" charset="-120"/>
              </a:rPr>
              <a:t>Aaryan Gera</a:t>
            </a:r>
            <a:r>
              <a:rPr lang="en-US" sz="1200" dirty="0">
                <a:solidFill>
                  <a:srgbClr val="BFD6E2"/>
                </a:solidFill>
                <a:latin typeface="Calibri" pitchFamily="34" charset="0"/>
                <a:ea typeface="Calibri" pitchFamily="34" charset="-122"/>
                <a:cs typeface="Calibri" pitchFamily="34" charset="-120"/>
              </a:rPr>
              <a:t> – data preprocessing (cleaning, dataset preparation)</a:t>
            </a:r>
            <a:endParaRPr lang="en-US" sz="1200" dirty="0"/>
          </a:p>
          <a:p>
            <a:pPr indent="0" marL="0">
              <a:buNone/>
            </a:pPr>
            <a:r>
              <a:rPr lang="en-US" sz="1200" dirty="0" b="1">
                <a:solidFill>
                  <a:srgbClr val="BFD6E2"/>
                </a:solidFill>
                <a:latin typeface="Calibri" pitchFamily="34" charset="0"/>
                <a:ea typeface="Calibri" pitchFamily="34" charset="-122"/>
                <a:cs typeface="Calibri" pitchFamily="34" charset="-120"/>
              </a:rPr>
              <a:t>Chaitanya Kumar</a:t>
            </a:r>
            <a:r>
              <a:rPr lang="en-US" sz="1200" dirty="0">
                <a:solidFill>
                  <a:srgbClr val="BFD6E2"/>
                </a:solidFill>
                <a:latin typeface="Calibri" pitchFamily="34" charset="0"/>
                <a:ea typeface="Calibri" pitchFamily="34" charset="-122"/>
                <a:cs typeface="Calibri" pitchFamily="34" charset="-120"/>
              </a:rPr>
              <a:t> – feature engineering &amp; pipeline</a:t>
            </a:r>
            <a:endParaRPr lang="en-US" sz="1200" dirty="0"/>
          </a:p>
          <a:p>
            <a:pPr indent="0" marL="0">
              <a:buNone/>
            </a:pPr>
            <a:r>
              <a:rPr lang="en-US" sz="1200" dirty="0" b="1">
                <a:solidFill>
                  <a:srgbClr val="BFD6E2"/>
                </a:solidFill>
                <a:latin typeface="Calibri" pitchFamily="34" charset="0"/>
                <a:ea typeface="Calibri" pitchFamily="34" charset="-122"/>
                <a:cs typeface="Calibri" pitchFamily="34" charset="-120"/>
              </a:rPr>
              <a:t>Ankit Kumar Pandey</a:t>
            </a:r>
            <a:r>
              <a:rPr lang="en-US" sz="1200" dirty="0">
                <a:solidFill>
                  <a:srgbClr val="BFD6E2"/>
                </a:solidFill>
                <a:latin typeface="Calibri" pitchFamily="34" charset="0"/>
                <a:ea typeface="Calibri" pitchFamily="34" charset="-122"/>
                <a:cs typeface="Calibri" pitchFamily="34" charset="-120"/>
              </a:rPr>
              <a:t> – model evaluation &amp; validation (MAE, RMSE, R²)</a:t>
            </a:r>
            <a:endParaRPr lang="en-US" sz="1200" dirty="0"/>
          </a:p>
          <a:p>
            <a:pPr indent="0" marL="0">
              <a:buNone/>
            </a:pPr>
            <a:r>
              <a:rPr lang="en-US" sz="1200" dirty="0" b="1">
                <a:solidFill>
                  <a:srgbClr val="BFD6E2"/>
                </a:solidFill>
                <a:latin typeface="Calibri" pitchFamily="34" charset="0"/>
                <a:ea typeface="Calibri" pitchFamily="34" charset="-122"/>
                <a:cs typeface="Calibri" pitchFamily="34" charset="-120"/>
              </a:rPr>
              <a:t>Pranav</a:t>
            </a:r>
            <a:r>
              <a:rPr lang="en-US" sz="1200" dirty="0">
                <a:solidFill>
                  <a:srgbClr val="BFD6E2"/>
                </a:solidFill>
                <a:latin typeface="Calibri" pitchFamily="34" charset="0"/>
                <a:ea typeface="Calibri" pitchFamily="34" charset="-122"/>
                <a:cs typeface="Calibri" pitchFamily="34" charset="-120"/>
              </a:rPr>
              <a:t> – research, documentation &amp; presentation</a:t>
            </a:r>
            <a:endParaRPr lang="en-US" sz="1200" dirty="0"/>
          </a:p>
        </p:txBody>
      </p:sp>
      <p:sp>
        <p:nvSpPr>
          <p:cNvPr id="10" name="Text 7"/>
          <p:cNvSpPr txBox="1"/>
          <p:nvPr/>
        </p:nvSpPr>
        <p:spPr>
          <a:xfrm>
            <a:off x="6583680" y="1691640"/>
            <a:ext cx="50292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Key references</a:t>
            </a:r>
            <a:endParaRPr lang="en-US" sz="1600" dirty="0"/>
          </a:p>
        </p:txBody>
      </p:sp>
      <p:sp>
        <p:nvSpPr>
          <p:cNvPr id="11" name="Text 8"/>
          <p:cNvSpPr txBox="1"/>
          <p:nvPr/>
        </p:nvSpPr>
        <p:spPr>
          <a:xfrm>
            <a:off x="6583680" y="2057400"/>
            <a:ext cx="5029200" cy="2743200"/>
          </a:xfrm>
          <a:prstGeom prst="rect">
            <a:avLst/>
          </a:prstGeom>
          <a:noFill/>
          <a:ln/>
        </p:spPr>
        <p:txBody>
          <a:bodyPr wrap="square" lIns="0" tIns="0" rIns="0" bIns="0" rtlCol="0" anchor="t"/>
          <a:lstStyle/>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Breiman (2001) Random Forests. Machine Learning 45(1)</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Chen &amp; Guestrin (2016) XGBoost. KDD</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Lundberg &amp; Lee (2017) SHAP. NeurIPS</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CCME (2001) Water Quality Index 1.0 Technical Report</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Benson &amp; Krause (1984) Limnol. Oceanogr. 29(3)</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Redfield (1958) Am. Scientist 46(3)</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Emerson et al. (1975) J. Fish. Res. Board Can. 32(12)</a:t>
            </a:r>
            <a:endParaRPr lang="en-US" sz="1200" dirty="0"/>
          </a:p>
        </p:txBody>
      </p:sp>
      <p:sp>
        <p:nvSpPr>
          <p:cNvPr id="12" name="Text 9"/>
          <p:cNvSpPr txBox="1"/>
          <p:nvPr/>
        </p:nvSpPr>
        <p:spPr>
          <a:xfrm>
            <a:off x="6583680" y="5120640"/>
            <a:ext cx="5029200" cy="822960"/>
          </a:xfrm>
          <a:prstGeom prst="rect">
            <a:avLst/>
          </a:prstGeom>
          <a:noFill/>
          <a:ln/>
        </p:spPr>
        <p:txBody>
          <a:bodyPr wrap="square" lIns="0" tIns="0" rIns="0" bIns="0" rtlCol="0" anchor="t"/>
          <a:lstStyle/>
          <a:p>
            <a:pPr indent="0" marL="0">
              <a:buNone/>
            </a:pPr>
            <a:r>
              <a:rPr lang="en-US" sz="1100" dirty="0">
                <a:solidFill>
                  <a:srgbClr val="9FB6C6"/>
                </a:solidFill>
                <a:latin typeface="Calibri" pitchFamily="34" charset="0"/>
                <a:ea typeface="Calibri" pitchFamily="34" charset="-122"/>
                <a:cs typeface="Calibri" pitchFamily="34" charset="-120"/>
              </a:rPr>
              <a:t>Data: national agencies as named in the project report (England EA, USGS, EPA Ireland, MEE China, ECCC). Code: github.com/MAYANKSHARMA01010/Semester_5_AML_DL</a:t>
            </a:r>
            <a:endParaRPr lang="en-US" sz="1100" dirty="0"/>
          </a:p>
        </p:txBody>
      </p:sp>
    </p:spTree>
  </p:cSld>
  <p:clrMapOvr>
    <a:masterClrMapping/>
  </p:clrMapOvr>
</p:sld>
</file>

<file path=ppt/theme/theme1.xml><?xml version="1.0" encoding="utf-8"?>
<a:theme xmlns:a="http://schemas.openxmlformats.org/drawingml/2006/main" name="AquaAudit">
  <a:themeElements>
    <a:clrScheme name="AquaAudit">
      <a:dk1>
        <a:srgbClr val="12202E"/>
      </a:dk1>
      <a:lt1>
        <a:srgbClr val="FFFFFF"/>
      </a:lt1>
      <a:dk2>
        <a:srgbClr val="0B1F33"/>
      </a:dk2>
      <a:lt2>
        <a:srgbClr val="F4F8FA"/>
      </a:lt2>
      <a:accent1>
        <a:srgbClr val="0E7C86"/>
      </a:accent1>
      <a:accent2>
        <a:srgbClr val="2EC4B6"/>
      </a:accent2>
      <a:accent3>
        <a:srgbClr val="D98A1F"/>
      </a:accent3>
      <a:accent4>
        <a:srgbClr val="B5483A"/>
      </a:accent4>
      <a:accent5>
        <a:srgbClr val="3E6FA3"/>
      </a:accent5>
      <a:accent6>
        <a:srgbClr val="5B6B7A"/>
      </a:accent6>
      <a:hlink>
        <a:srgbClr val="0E7C86"/>
      </a:hlink>
      <a:folHlink>
        <a:srgbClr val="5B6B7A"/>
      </a:folHlink>
    </a:clrScheme>
    <a:fontScheme name="AquaAud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Surface Water Quality Prediction — Project 18</dc:title>
  <dc:subject>PptxGenJS Presentation</dc:subject>
  <dc:creator>Project 18 team</dc:creator>
  <cp:lastModifiedBy>Project 18 team</cp:lastModifiedBy>
  <cp:revision>1</cp:revision>
  <dcterms:created xsi:type="dcterms:W3CDTF">2026-10-27T11:10:04Z</dcterms:created>
  <dcterms:modified xsi:type="dcterms:W3CDTF">2026-10-27T11:10:04Z</dcterms:modified>
</cp:coreProperties>
</file>