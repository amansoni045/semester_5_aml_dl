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2.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3.xml" ContentType="application/vnd.openxmlformats-officedocument.drawingml.chart+xml"/>
  <Override PartName="/ppt/notesSlides/notesSlide11.xml" ContentType="application/vnd.openxmlformats-officedocument.presentationml.notesSlide+xml"/>
  <Override PartName="/ppt/charts/chart4.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7" r:id="rId12"/>
    <p:sldId id="268" r:id="rId13"/>
    <p:sldId id="269"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647"/>
    <p:restoredTop sz="94610"/>
  </p:normalViewPr>
  <p:slideViewPr>
    <p:cSldViewPr snapToGrid="0" snapToObjects="1">
      <p:cViewPr varScale="1">
        <p:scale>
          <a:sx n="95" d="100"/>
          <a:sy n="95" d="100"/>
        </p:scale>
        <p:origin x="200" y="8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0B1F33"/>
                </a:solidFill>
                <a:latin typeface="Calibri"/>
              </a:defRPr>
            </a:pPr>
            <a:r>
              <a:rPr sz="1400" b="0" i="0" u="none" strike="noStrike">
                <a:solidFill>
                  <a:srgbClr val="0B1F33"/>
                </a:solidFill>
                <a:latin typeface="Calibri"/>
              </a:rPr>
              <a:t>Share of clean observations (%)</a:t>
            </a:r>
          </a:p>
        </c:rich>
      </c:tx>
      <c:overlay val="0"/>
    </c:title>
    <c:autoTitleDeleted val="0"/>
    <c:plotArea>
      <c:layout/>
      <c:barChart>
        <c:barDir val="bar"/>
        <c:grouping val="clustered"/>
        <c:varyColors val="0"/>
        <c:ser>
          <c:idx val="0"/>
          <c:order val="0"/>
          <c:tx>
            <c:strRef>
              <c:f>Sheet1!$B$1</c:f>
              <c:strCache>
                <c:ptCount val="1"/>
                <c:pt idx="0">
                  <c:v>Share of clean rows (%)</c:v>
                </c:pt>
              </c:strCache>
            </c:strRef>
          </c:tx>
          <c:spPr>
            <a:solidFill>
              <a:srgbClr val="0E7C86"/>
            </a:solidFill>
            <a:effectLst/>
          </c:spPr>
          <c:invertIfNegative val="0"/>
          <c:dLbls>
            <c:numFmt formatCode="0.00" sourceLinked="0"/>
            <c:spPr>
              <a:noFill/>
              <a:ln>
                <a:noFill/>
              </a:ln>
              <a:effectLst/>
            </c:spPr>
            <c:txPr>
              <a:bodyPr/>
              <a:lstStyle/>
              <a:p>
                <a:pPr>
                  <a:defRPr sz="1200" b="0" i="0" u="none" strike="noStrike">
                    <a:solidFill>
                      <a:srgbClr val="12202E"/>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England 2.13 M</c:v>
                </c:pt>
                <c:pt idx="1">
                  <c:v>USA 407 k</c:v>
                </c:pt>
                <c:pt idx="2">
                  <c:v>Ireland 234 k</c:v>
                </c:pt>
                <c:pt idx="3">
                  <c:v>China 46 k</c:v>
                </c:pt>
                <c:pt idx="4">
                  <c:v>Canada 3.9 k</c:v>
                </c:pt>
              </c:strCache>
            </c:strRef>
          </c:cat>
          <c:val>
            <c:numRef>
              <c:f>Sheet1!$B$2:$B$6</c:f>
              <c:numCache>
                <c:formatCode>General</c:formatCode>
                <c:ptCount val="5"/>
                <c:pt idx="0">
                  <c:v>75.48</c:v>
                </c:pt>
                <c:pt idx="1">
                  <c:v>14.44</c:v>
                </c:pt>
                <c:pt idx="2">
                  <c:v>8.31</c:v>
                </c:pt>
                <c:pt idx="3">
                  <c:v>1.63</c:v>
                </c:pt>
                <c:pt idx="4">
                  <c:v>0.14000000000000001</c:v>
                </c:pt>
              </c:numCache>
            </c:numRef>
          </c:val>
          <c:extLst>
            <c:ext xmlns:c16="http://schemas.microsoft.com/office/drawing/2014/chart" uri="{C3380CC4-5D6E-409C-BE32-E72D297353CC}">
              <c16:uniqueId val="{00000000-9851-CB47-99DD-1A202C7D5A4D}"/>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2202E"/>
                </a:solidFill>
                <a:latin typeface="Calibri"/>
              </a:defRPr>
            </a:pPr>
            <a:endParaRPr lang="en-US"/>
          </a:p>
        </c:txPr>
        <c:crossAx val="2094734552"/>
        <c:crosses val="autoZero"/>
        <c:auto val="1"/>
        <c:lblAlgn val="ctr"/>
        <c:lblOffset val="100"/>
        <c:noMultiLvlLbl val="1"/>
      </c:catAx>
      <c:valAx>
        <c:axId val="2094734552"/>
        <c:scaling>
          <c:orientation val="minMax"/>
          <c:max val="100"/>
        </c:scaling>
        <c:delete val="0"/>
        <c:axPos val="t"/>
        <c:majorGridlines>
          <c:spPr>
            <a:ln w="6350" cap="flat">
              <a:solidFill>
                <a:srgbClr val="DDE6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7A"/>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0B1F33"/>
                </a:solidFill>
                <a:latin typeface="Calibri"/>
              </a:defRPr>
            </a:pPr>
            <a:r>
              <a:rPr sz="1400" b="0" i="0" u="none" strike="noStrike">
                <a:solidFill>
                  <a:srgbClr val="0B1F33"/>
                </a:solidFill>
                <a:latin typeface="Calibri"/>
              </a:rPr>
              <a:t>Pearson r with WQI, raw vs log(1+x)</a:t>
            </a:r>
          </a:p>
        </c:rich>
      </c:tx>
      <c:overlay val="0"/>
    </c:title>
    <c:autoTitleDeleted val="0"/>
    <c:plotArea>
      <c:layout/>
      <c:barChart>
        <c:barDir val="col"/>
        <c:grouping val="clustered"/>
        <c:varyColors val="0"/>
        <c:ser>
          <c:idx val="0"/>
          <c:order val="0"/>
          <c:tx>
            <c:strRef>
              <c:f>Sheet1!$B$1</c:f>
              <c:strCache>
                <c:ptCount val="1"/>
                <c:pt idx="0">
                  <c:v>Raw</c:v>
                </c:pt>
              </c:strCache>
            </c:strRef>
          </c:tx>
          <c:spPr>
            <a:solidFill>
              <a:srgbClr val="9DB4C0"/>
            </a:solidFill>
            <a:effectLst/>
          </c:spPr>
          <c:invertIfNegative val="0"/>
          <c:dLbls>
            <c:numFmt formatCode="0.00" sourceLinked="0"/>
            <c:spPr>
              <a:noFill/>
              <a:ln>
                <a:noFill/>
              </a:ln>
              <a:effectLst/>
            </c:spPr>
            <c:txPr>
              <a:bodyPr/>
              <a:lstStyle/>
              <a:p>
                <a:pPr>
                  <a:defRPr sz="1200" b="0" i="0" u="none" strike="noStrike">
                    <a:solidFill>
                      <a:srgbClr val="12202E"/>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Orthophosphate</c:v>
                </c:pt>
                <c:pt idx="1">
                  <c:v>Ammonia</c:v>
                </c:pt>
                <c:pt idx="2">
                  <c:v>BOD</c:v>
                </c:pt>
              </c:strCache>
            </c:strRef>
          </c:cat>
          <c:val>
            <c:numRef>
              <c:f>Sheet1!$B$2:$B$4</c:f>
              <c:numCache>
                <c:formatCode>General</c:formatCode>
                <c:ptCount val="3"/>
                <c:pt idx="0">
                  <c:v>-0.66</c:v>
                </c:pt>
                <c:pt idx="1">
                  <c:v>-0.39200000000000002</c:v>
                </c:pt>
                <c:pt idx="2">
                  <c:v>-0.32100000000000001</c:v>
                </c:pt>
              </c:numCache>
            </c:numRef>
          </c:val>
          <c:extLst>
            <c:ext xmlns:c16="http://schemas.microsoft.com/office/drawing/2014/chart" uri="{C3380CC4-5D6E-409C-BE32-E72D297353CC}">
              <c16:uniqueId val="{00000000-8173-DA47-89B5-782F68D8A086}"/>
            </c:ext>
          </c:extLst>
        </c:ser>
        <c:ser>
          <c:idx val="1"/>
          <c:order val="1"/>
          <c:tx>
            <c:strRef>
              <c:f>Sheet1!$C$1</c:f>
              <c:strCache>
                <c:ptCount val="1"/>
                <c:pt idx="0">
                  <c:v>log(1+x)</c:v>
                </c:pt>
              </c:strCache>
            </c:strRef>
          </c:tx>
          <c:spPr>
            <a:solidFill>
              <a:srgbClr val="0E7C86"/>
            </a:solidFill>
            <a:effectLst/>
          </c:spPr>
          <c:invertIfNegative val="0"/>
          <c:dLbls>
            <c:numFmt formatCode="0.00" sourceLinked="0"/>
            <c:spPr>
              <a:noFill/>
              <a:ln>
                <a:noFill/>
              </a:ln>
              <a:effectLst/>
            </c:spPr>
            <c:txPr>
              <a:bodyPr/>
              <a:lstStyle/>
              <a:p>
                <a:pPr>
                  <a:defRPr sz="1200" b="0" i="0" u="none" strike="noStrike">
                    <a:solidFill>
                      <a:srgbClr val="12202E"/>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Orthophosphate</c:v>
                </c:pt>
                <c:pt idx="1">
                  <c:v>Ammonia</c:v>
                </c:pt>
                <c:pt idx="2">
                  <c:v>BOD</c:v>
                </c:pt>
              </c:strCache>
            </c:strRef>
          </c:cat>
          <c:val>
            <c:numRef>
              <c:f>Sheet1!$C$2:$C$4</c:f>
              <c:numCache>
                <c:formatCode>General</c:formatCode>
                <c:ptCount val="3"/>
                <c:pt idx="0">
                  <c:v>-0.85299999999999998</c:v>
                </c:pt>
                <c:pt idx="1">
                  <c:v>-0.65900000000000003</c:v>
                </c:pt>
                <c:pt idx="2">
                  <c:v>-0.57799999999999996</c:v>
                </c:pt>
              </c:numCache>
            </c:numRef>
          </c:val>
          <c:extLst>
            <c:ext xmlns:c16="http://schemas.microsoft.com/office/drawing/2014/chart" uri="{C3380CC4-5D6E-409C-BE32-E72D297353CC}">
              <c16:uniqueId val="{00000001-8173-DA47-89B5-782F68D8A086}"/>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2202E"/>
                </a:solidFill>
                <a:latin typeface="Calibri"/>
              </a:defRPr>
            </a:pPr>
            <a:endParaRPr lang="en-US"/>
          </a:p>
        </c:txPr>
        <c:crossAx val="2094734552"/>
        <c:crosses val="autoZero"/>
        <c:auto val="1"/>
        <c:lblAlgn val="ctr"/>
        <c:lblOffset val="100"/>
        <c:noMultiLvlLbl val="1"/>
      </c:catAx>
      <c:valAx>
        <c:axId val="2094734552"/>
        <c:scaling>
          <c:orientation val="minMax"/>
          <c:max val="0"/>
          <c:min val="-1"/>
        </c:scaling>
        <c:delete val="0"/>
        <c:axPos val="l"/>
        <c:majorGridlines>
          <c:spPr>
            <a:ln w="6350" cap="flat">
              <a:solidFill>
                <a:srgbClr val="DDE6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0B1F33"/>
                </a:solidFill>
                <a:latin typeface="Calibri"/>
              </a:defRPr>
            </a:pPr>
            <a:r>
              <a:rPr sz="1400" b="0" i="0" u="none" strike="noStrike">
                <a:solidFill>
                  <a:srgbClr val="0B1F33"/>
                </a:solidFill>
                <a:latin typeface="Calibri"/>
              </a:rPr>
              <a:t>Validation MAE (index points; baseline = 14.13)</a:t>
            </a:r>
          </a:p>
        </c:rich>
      </c:tx>
      <c:overlay val="0"/>
    </c:title>
    <c:autoTitleDeleted val="0"/>
    <c:plotArea>
      <c:layout/>
      <c:barChart>
        <c:barDir val="col"/>
        <c:grouping val="clustered"/>
        <c:varyColors val="0"/>
        <c:ser>
          <c:idx val="0"/>
          <c:order val="0"/>
          <c:tx>
            <c:strRef>
              <c:f>Sheet1!$B$1</c:f>
              <c:strCache>
                <c:ptCount val="1"/>
                <c:pt idx="0">
                  <c:v>Validation MAE (index points)</c:v>
                </c:pt>
              </c:strCache>
            </c:strRef>
          </c:tx>
          <c:spPr>
            <a:solidFill>
              <a:srgbClr val="0E7C86"/>
            </a:solidFill>
            <a:effectLst/>
          </c:spPr>
          <c:invertIfNegative val="0"/>
          <c:dLbls>
            <c:numFmt formatCode="0.000" sourceLinked="0"/>
            <c:spPr>
              <a:noFill/>
              <a:ln>
                <a:noFill/>
              </a:ln>
              <a:effectLst/>
            </c:spPr>
            <c:txPr>
              <a:bodyPr/>
              <a:lstStyle/>
              <a:p>
                <a:pPr>
                  <a:defRPr sz="1200" b="0" i="0" u="none" strike="noStrike">
                    <a:solidFill>
                      <a:srgbClr val="12202E"/>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2"/>
                <c:pt idx="0">
                  <c:v>Random Forest</c:v>
                </c:pt>
                <c:pt idx="1">
                  <c:v>XGBoost</c:v>
                </c:pt>
              </c:strCache>
            </c:strRef>
          </c:cat>
          <c:val>
            <c:numRef>
              <c:f>Sheet1!$B$2:$B$4</c:f>
              <c:numCache>
                <c:formatCode>General</c:formatCode>
                <c:ptCount val="2"/>
                <c:pt idx="0">
                  <c:v>5.1999999999999998E-2</c:v>
                </c:pt>
                <c:pt idx="1">
                  <c:v>0.161</c:v>
                </c:pt>
              </c:numCache>
            </c:numRef>
          </c:val>
          <c:extLst>
            <c:ext xmlns:c16="http://schemas.microsoft.com/office/drawing/2014/chart" uri="{C3380CC4-5D6E-409C-BE32-E72D297353CC}">
              <c16:uniqueId val="{00000000-49AB-964A-AD98-DBC2FDD37241}"/>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2202E"/>
                </a:solidFill>
                <a:latin typeface="Calibri"/>
              </a:defRPr>
            </a:pPr>
            <a:endParaRPr lang="en-US"/>
          </a:p>
        </c:txPr>
        <c:crossAx val="2094734552"/>
        <c:crosses val="autoZero"/>
        <c:auto val="1"/>
        <c:lblAlgn val="ctr"/>
        <c:lblOffset val="100"/>
        <c:noMultiLvlLbl val="1"/>
      </c:catAx>
      <c:valAx>
        <c:axId val="2094734552"/>
        <c:scaling>
          <c:orientation val="minMax"/>
          <c:max val="0.2"/>
        </c:scaling>
        <c:delete val="0"/>
        <c:axPos val="l"/>
        <c:majorGridlines>
          <c:spPr>
            <a:ln w="6350" cap="flat">
              <a:solidFill>
                <a:srgbClr val="DDE6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A"/>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0B1F33"/>
                </a:solidFill>
                <a:latin typeface="Calibri"/>
              </a:defRPr>
            </a:pPr>
            <a:r>
              <a:rPr lang="en-US" sz="1400" b="0" i="0" u="none" strike="noStrike">
                <a:solidFill>
                  <a:srgbClr val="0B1F33"/>
                </a:solidFill>
                <a:latin typeface="Calibri"/>
              </a:rPr>
              <a:t>Built-in importance from the saved models (% of total)</a:t>
            </a:r>
          </a:p>
        </c:rich>
      </c:tx>
      <c:overlay val="0"/>
    </c:title>
    <c:autoTitleDeleted val="0"/>
    <c:plotArea>
      <c:layout/>
      <c:barChart>
        <c:barDir val="bar"/>
        <c:grouping val="clustered"/>
        <c:varyColors val="0"/>
        <c:ser>
          <c:idx val="0"/>
          <c:order val="0"/>
          <c:tx>
            <c:strRef>
              <c:f>Sheet1!$B$1</c:f>
              <c:strCache>
                <c:ptCount val="1"/>
                <c:pt idx="0">
                  <c:v>Random Forest (impurity)</c:v>
                </c:pt>
              </c:strCache>
            </c:strRef>
          </c:tx>
          <c:spPr>
            <a:solidFill>
              <a:srgbClr val="0E7C86"/>
            </a:solidFill>
            <a:effectLst/>
          </c:spPr>
          <c:invertIfNegative val="0"/>
          <c:dLbls>
            <c:numFmt formatCode="0.0" sourceLinked="0"/>
            <c:spPr>
              <a:noFill/>
              <a:ln>
                <a:noFill/>
              </a:ln>
              <a:effectLst/>
            </c:spPr>
            <c:txPr>
              <a:bodyPr/>
              <a:lstStyle/>
              <a:p>
                <a:pPr>
                  <a:defRPr sz="1200" b="0" i="0" u="none" strike="noStrike">
                    <a:solidFill>
                      <a:srgbClr val="12202E"/>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log1p_orthophosphate</c:v>
                </c:pt>
                <c:pt idx="1">
                  <c:v>orthophosphate</c:v>
                </c:pt>
                <c:pt idx="2">
                  <c:v>ammonia</c:v>
                </c:pt>
                <c:pt idx="3">
                  <c:v>log1p_ammonia</c:v>
                </c:pt>
                <c:pt idx="4">
                  <c:v>log1p_bod</c:v>
                </c:pt>
                <c:pt idx="5">
                  <c:v>exceedance_counter</c:v>
                </c:pt>
                <c:pt idx="6">
                  <c:v>hist_ortho_lag1</c:v>
                </c:pt>
              </c:strCache>
            </c:strRef>
          </c:cat>
          <c:val>
            <c:numRef>
              <c:f>Sheet1!$B$2:$B$8</c:f>
              <c:numCache>
                <c:formatCode>General</c:formatCode>
                <c:ptCount val="7"/>
                <c:pt idx="0">
                  <c:v>48.28</c:v>
                </c:pt>
                <c:pt idx="1">
                  <c:v>40.200000000000003</c:v>
                </c:pt>
                <c:pt idx="2">
                  <c:v>5.05</c:v>
                </c:pt>
                <c:pt idx="3">
                  <c:v>4.38</c:v>
                </c:pt>
                <c:pt idx="4">
                  <c:v>0.76</c:v>
                </c:pt>
                <c:pt idx="5">
                  <c:v>0</c:v>
                </c:pt>
                <c:pt idx="6">
                  <c:v>0</c:v>
                </c:pt>
              </c:numCache>
            </c:numRef>
          </c:val>
          <c:extLst>
            <c:ext xmlns:c16="http://schemas.microsoft.com/office/drawing/2014/chart" uri="{C3380CC4-5D6E-409C-BE32-E72D297353CC}">
              <c16:uniqueId val="{00000000-5C69-8240-B562-7138693CDDC3}"/>
            </c:ext>
          </c:extLst>
        </c:ser>
        <c:ser>
          <c:idx val="1"/>
          <c:order val="1"/>
          <c:tx>
            <c:strRef>
              <c:f>Sheet1!$C$1</c:f>
              <c:strCache>
                <c:ptCount val="1"/>
                <c:pt idx="0">
                  <c:v>XGBoost (gain share)</c:v>
                </c:pt>
              </c:strCache>
            </c:strRef>
          </c:tx>
          <c:spPr>
            <a:solidFill>
              <a:srgbClr val="2EC4B6"/>
            </a:solidFill>
            <a:effectLst/>
          </c:spPr>
          <c:invertIfNegative val="0"/>
          <c:dLbls>
            <c:numFmt formatCode="0.0" sourceLinked="0"/>
            <c:spPr>
              <a:noFill/>
              <a:ln>
                <a:noFill/>
              </a:ln>
              <a:effectLst/>
            </c:spPr>
            <c:txPr>
              <a:bodyPr/>
              <a:lstStyle/>
              <a:p>
                <a:pPr>
                  <a:defRPr sz="1200" b="0" i="0" u="none" strike="noStrike">
                    <a:solidFill>
                      <a:srgbClr val="12202E"/>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log1p_orthophosphate</c:v>
                </c:pt>
                <c:pt idx="1">
                  <c:v>orthophosphate</c:v>
                </c:pt>
                <c:pt idx="2">
                  <c:v>ammonia</c:v>
                </c:pt>
                <c:pt idx="3">
                  <c:v>log1p_ammonia</c:v>
                </c:pt>
                <c:pt idx="4">
                  <c:v>log1p_bod</c:v>
                </c:pt>
                <c:pt idx="5">
                  <c:v>exceedance_counter</c:v>
                </c:pt>
                <c:pt idx="6">
                  <c:v>hist_ortho_lag1</c:v>
                </c:pt>
              </c:strCache>
            </c:strRef>
          </c:cat>
          <c:val>
            <c:numRef>
              <c:f>Sheet1!$C$2:$C$8</c:f>
              <c:numCache>
                <c:formatCode>General</c:formatCode>
                <c:ptCount val="7"/>
                <c:pt idx="0">
                  <c:v>12.35</c:v>
                </c:pt>
                <c:pt idx="1">
                  <c:v>64.010000000000005</c:v>
                </c:pt>
                <c:pt idx="2">
                  <c:v>6.86</c:v>
                </c:pt>
                <c:pt idx="3">
                  <c:v>7.78</c:v>
                </c:pt>
                <c:pt idx="4">
                  <c:v>1.26</c:v>
                </c:pt>
                <c:pt idx="5">
                  <c:v>1.9</c:v>
                </c:pt>
                <c:pt idx="6">
                  <c:v>1.53</c:v>
                </c:pt>
              </c:numCache>
            </c:numRef>
          </c:val>
          <c:extLst>
            <c:ext xmlns:c16="http://schemas.microsoft.com/office/drawing/2014/chart" uri="{C3380CC4-5D6E-409C-BE32-E72D297353CC}">
              <c16:uniqueId val="{00000001-5C69-8240-B562-7138693CDDC3}"/>
            </c:ext>
          </c:extLst>
        </c:ser>
        <c:dLbls>
          <c:showLegendKey val="0"/>
          <c:showVal val="1"/>
          <c:showCatName val="0"/>
          <c:showSerName val="0"/>
          <c:showPercent val="0"/>
          <c:showBubbleSize val="0"/>
        </c:dLbls>
        <c:gapWidth val="4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2202E"/>
                </a:solidFill>
                <a:latin typeface="Calibri"/>
              </a:defRPr>
            </a:pPr>
            <a:endParaRPr lang="en-US"/>
          </a:p>
        </c:txPr>
        <c:crossAx val="2094734552"/>
        <c:crosses val="autoZero"/>
        <c:auto val="1"/>
        <c:lblAlgn val="ctr"/>
        <c:lblOffset val="100"/>
        <c:noMultiLvlLbl val="1"/>
      </c:catAx>
      <c:valAx>
        <c:axId val="2094734552"/>
        <c:scaling>
          <c:orientation val="minMax"/>
          <c:max val="80"/>
        </c:scaling>
        <c:delete val="0"/>
        <c:axPos val="t"/>
        <c:majorGridlines>
          <c:spPr>
            <a:ln w="6350" cap="flat">
              <a:solidFill>
                <a:srgbClr val="DDE6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7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646877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estimating CCME WQI from eight measured parameters plus engineered features. Say up front that the deck includes an audit of the very high scores; that is deliberate.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BOD5 needs a five-day incubation (120 h). The model is a surrogate mapping already-measured parameters to an index. Do not claim real-time deployment or lab replacement: nothing like that was built or tested.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F1 scope, F2 frequency, F3 amplitude. Tier thresholds are the standard CCME bands. Tier shares come from the repo's graph 11. The dataset's index values are supplied with the data and are a function of the same eight parameters used as inputs; this matters on slide 11.</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KPIs are the audited figures from the executed EDA notebook. Stress the imbalance: Canada contributes under 4,000 rows, and almost all records are from after about 2000 (graph 03). The notebook counts sum exactly to 2,819,617 (England 75.48%).</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Executed notebook output: 2,827,977 rows x 14 columns, 0 nulls, so no imputation was needed; 8,360 unique impossible rows (union). Per-parameter counts overlap.</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repo graph 07, dissolved oxygen against temperature with the Benson-Krause saturation envelope. Right: Pearson correlation with the WQI before and after log(1+x), from the executed preprocessing notebook (orthophosphate -0.6603 to -0.8531; ammonia -0.3922 to -0.6594; BOD -0.3212 to -0.5775; N:P log 0.5169). Nuance, verified in the same notebook table: orthophosphate Spearman is -0.9172 both raw and log, because rank correlation ignores monotone transforms; trees are invariant to them too.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 check: 8+7+7+6+1+2+7 = 38 (from preprocessing_metadata.json). exceedance_counter is computed in the preprocessing notebook from six input columns with its own thresholds (pH outside 6.5-8.5, DO &lt; 6.5, ammonia &gt; 0.5, BOD &gt; 4, nitrate &gt; 10, orthophosphate &gt; 0.1). It is not a target column and uses only inputs available at prediction time, so it is not target leakage by data flow, but it is redundant with the raw inputs. Lags: preceding record within the same Area (sorted by date); the first record of each Area is filled with the global median.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 taken from the preprocessing notebook: load EDA-cleaned data, engineer 38 features (including per-Area lags over the whole dataset), assert targets are not in the feature list, then a stratified random split by WQI tier (seed 42). A StandardScaler is fitted on train, but scaled partitions are not saved or used in Phase 1; trees use raw units. XGBoost early stopping watches the validation set. Tests: 12 test functions (features 4, leakage 2, metrics 3, models 3). We could not execute them here (xgboost missing offline), so pass status is as reported.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Settings are from the executed training notebook and confirmed on the saved artifacts (the RF joblib has 30 trees, depth 14, min leaf 5, all 38 features per split; the XGBoost JSON has 150 trees). XGBoost early stopping used the validation set, so its validation score is slightly optimistic.</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RF numbers are identical in model_comparison.csv and training_history.csv (MAE 0.0521, RMSE 0.2081, R2 0.99986; train MAE 0.047, so a small train-val gap). XGBoost has two sets of numbers in the repo: model_comparison.csv (from tree_val_predictions.parquet) gives MAE 0.1375, RMSE 0.3740, R2 0.99955, which is what the written report used; the training notebook and the saved model's recorded best_score give MAE 0.1611, RMSE 0.4372, R2 0.99939. The saved predictions file therefore does not match the saved model; re-run notebooks 03 and 04 to settle this. Conclusions are unchanged. Latency numbers are omitted: no timing code or hardware is documented.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 Forest values: built-in impurity importance read from the saved joblib. XGBoost values: average-gain share computed from the saved xgboost_model.json trees. Orthophosphate plus its log variant: 88.5% (RF) and 76.4% (XGBoost). hist_ortho_lag1 is about 0 in RF and 1.5% (rank 6) in XGBoost, so the claim that it ranks second is not supported. country_code is about 0 in both. The SHAP beeswarm (repo graph 16) was computed on 250 validation rows; mean |SHAP| for orthophosphate is about 8.3 index points. A plausible, unverified reason for orthophosphate's weight: the guideline sits close to its median value.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about status. Deep learning: the repo has no neural-network code, notebook or results. Some markdown reports quote an MLP table, but it cannot be reproduced from this repo, so it is excluded. </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strongest verified result, then the main caveat. Names and roles are from the team table.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3"/>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marL="0" indent="0">
              <a:buNone/>
            </a:pPr>
            <a:r>
              <a:rPr lang="en-US" sz="1200" b="1" kern="0" spc="300" dirty="0">
                <a:solidFill>
                  <a:srgbClr val="2EC4B6"/>
                </a:solidFill>
                <a:latin typeface="Calibri" pitchFamily="34" charset="0"/>
                <a:ea typeface="Calibri" pitchFamily="34" charset="-122"/>
                <a:cs typeface="Calibri" pitchFamily="34" charset="-120"/>
              </a:rPr>
              <a:t>PROJECT 18 · SEMESTER 5 APPLIED ML &amp; DEEP LEARNING</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marL="0" indent="0">
              <a:buNone/>
            </a:pP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marL="0" indent="0">
              <a:buNone/>
            </a:pPr>
            <a:r>
              <a:rPr lang="en-US" sz="1000" dirty="0">
                <a:solidFill>
                  <a:srgbClr val="9FB6C6"/>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marL="0" indent="0" algn="r">
              <a:buNone/>
            </a:pPr>
            <a:r>
              <a:rPr lang="en-US" sz="1000" dirty="0">
                <a:solidFill>
                  <a:srgbClr val="9FB6C6"/>
                </a:solidFill>
                <a:latin typeface="Calibri" pitchFamily="34" charset="0"/>
                <a:ea typeface="Calibri" pitchFamily="34" charset="-122"/>
                <a:cs typeface="Calibri" pitchFamily="34" charset="-120"/>
              </a:rPr>
              <a:t>1</a:t>
            </a:r>
            <a:endParaRPr lang="en-US" sz="1000" dirty="0"/>
          </a:p>
        </p:txBody>
      </p:sp>
      <p:sp>
        <p:nvSpPr>
          <p:cNvPr id="6" name="Text 4"/>
          <p:cNvSpPr txBox="1"/>
          <p:nvPr/>
        </p:nvSpPr>
        <p:spPr>
          <a:xfrm>
            <a:off x="548640" y="1371600"/>
            <a:ext cx="7315200" cy="1737360"/>
          </a:xfrm>
          <a:prstGeom prst="rect">
            <a:avLst/>
          </a:prstGeom>
          <a:noFill/>
          <a:ln/>
        </p:spPr>
        <p:txBody>
          <a:bodyPr wrap="square" lIns="0" tIns="0" rIns="0" bIns="0" rtlCol="0" anchor="t"/>
          <a:lstStyle/>
          <a:p>
            <a:pPr marL="0" indent="0">
              <a:buNone/>
            </a:pPr>
            <a:r>
              <a:rPr lang="en-US" sz="4800" b="1" dirty="0">
                <a:solidFill>
                  <a:srgbClr val="FFFFFF"/>
                </a:solidFill>
                <a:latin typeface="Cambria" pitchFamily="34" charset="0"/>
                <a:ea typeface="Cambria" pitchFamily="34" charset="-122"/>
                <a:cs typeface="Cambria" pitchFamily="34" charset="-120"/>
              </a:rPr>
              <a:t>Surface Water Quality</a:t>
            </a:r>
            <a:endParaRPr lang="en-US" sz="4800" dirty="0"/>
          </a:p>
          <a:p>
            <a:pPr marL="0" indent="0">
              <a:buNone/>
            </a:pPr>
            <a:r>
              <a:rPr lang="en-US" sz="4800" b="1" dirty="0">
                <a:solidFill>
                  <a:srgbClr val="FFFFFF"/>
                </a:solidFill>
                <a:latin typeface="Cambria" pitchFamily="34" charset="0"/>
                <a:ea typeface="Cambria" pitchFamily="34" charset="-122"/>
                <a:cs typeface="Cambria" pitchFamily="34" charset="-120"/>
              </a:rPr>
              <a:t>Prediction</a:t>
            </a:r>
            <a:endParaRPr lang="en-US" sz="4800" dirty="0"/>
          </a:p>
        </p:txBody>
      </p:sp>
      <p:sp>
        <p:nvSpPr>
          <p:cNvPr id="7" name="Text 5"/>
          <p:cNvSpPr txBox="1"/>
          <p:nvPr/>
        </p:nvSpPr>
        <p:spPr>
          <a:xfrm>
            <a:off x="548640" y="3337560"/>
            <a:ext cx="6766560" cy="1188720"/>
          </a:xfrm>
          <a:prstGeom prst="rect">
            <a:avLst/>
          </a:prstGeom>
          <a:noFill/>
          <a:ln/>
        </p:spPr>
        <p:txBody>
          <a:bodyPr wrap="square" lIns="0" tIns="0" rIns="0" bIns="0" rtlCol="0" anchor="t"/>
          <a:lstStyle/>
          <a:p>
            <a:pPr marL="0" indent="0">
              <a:buNone/>
            </a:pPr>
            <a:r>
              <a:rPr lang="en-US" sz="1800" dirty="0">
                <a:solidFill>
                  <a:srgbClr val="BFD6E2"/>
                </a:solidFill>
                <a:latin typeface="Calibri" pitchFamily="34" charset="0"/>
                <a:ea typeface="Calibri" pitchFamily="34" charset="-122"/>
                <a:cs typeface="Calibri" pitchFamily="34" charset="-120"/>
              </a:rPr>
              <a:t>Estimating the CCME Water Quality Index with gradient-tree ensembles and aquatic-chemistry features — plus an honest audit of what the scores mean</a:t>
            </a:r>
            <a:endParaRPr lang="en-US" sz="1800" dirty="0"/>
          </a:p>
        </p:txBody>
      </p:sp>
      <p:sp>
        <p:nvSpPr>
          <p:cNvPr id="8" name="Text 6"/>
          <p:cNvSpPr txBox="1"/>
          <p:nvPr/>
        </p:nvSpPr>
        <p:spPr>
          <a:xfrm>
            <a:off x="548640" y="4892040"/>
            <a:ext cx="7315200" cy="64008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Mayank Sharma · Aman Soni · Aaryan Gera</a:t>
            </a:r>
            <a:endParaRPr lang="en-US" sz="1500" dirty="0"/>
          </a:p>
          <a:p>
            <a:pPr marL="0" indent="0">
              <a:buNone/>
            </a:pPr>
            <a:r>
              <a:rPr lang="en-US" sz="1500" b="1" dirty="0">
                <a:solidFill>
                  <a:srgbClr val="FFFFFF"/>
                </a:solidFill>
                <a:latin typeface="Calibri" pitchFamily="34" charset="0"/>
                <a:ea typeface="Calibri" pitchFamily="34" charset="-122"/>
                <a:cs typeface="Calibri" pitchFamily="34" charset="-120"/>
              </a:rPr>
              <a:t>Chaitanya Kumar · Ankit Kumar Pandey · Pranav Sehgal</a:t>
            </a:r>
            <a:endParaRPr lang="en-US" sz="1500" dirty="0"/>
          </a:p>
        </p:txBody>
      </p:sp>
      <p:sp>
        <p:nvSpPr>
          <p:cNvPr id="9" name="Text 7"/>
          <p:cNvSpPr txBox="1"/>
          <p:nvPr/>
        </p:nvSpPr>
        <p:spPr>
          <a:xfrm>
            <a:off x="548640" y="5623560"/>
            <a:ext cx="7315200" cy="457200"/>
          </a:xfrm>
          <a:prstGeom prst="rect">
            <a:avLst/>
          </a:prstGeom>
          <a:noFill/>
          <a:ln/>
        </p:spPr>
        <p:txBody>
          <a:bodyPr wrap="square" lIns="0" tIns="0" rIns="0" bIns="0" rtlCol="0" anchor="t"/>
          <a:lstStyle/>
          <a:p>
            <a:pPr marL="0" indent="0">
              <a:buNone/>
            </a:pPr>
            <a:r>
              <a:rPr lang="en-US" sz="1300" dirty="0">
                <a:solidFill>
                  <a:srgbClr val="9FB6C6"/>
                </a:solidFill>
                <a:latin typeface="Calibri" pitchFamily="34" charset="0"/>
                <a:ea typeface="Calibri" pitchFamily="34" charset="-122"/>
                <a:cs typeface="Calibri" pitchFamily="34" charset="-120"/>
              </a:rPr>
              <a:t>Department of Computer Science &amp; Artificial Intelligence · School of Engineering and Technology</a:t>
            </a:r>
            <a:endParaRPr lang="en-US" sz="1300" dirty="0"/>
          </a:p>
        </p:txBody>
      </p:sp>
      <p:sp>
        <p:nvSpPr>
          <p:cNvPr id="10" name="Shape 8"/>
          <p:cNvSpPr/>
          <p:nvPr/>
        </p:nvSpPr>
        <p:spPr>
          <a:xfrm>
            <a:off x="8229600" y="1280160"/>
            <a:ext cx="3291840" cy="3291840"/>
          </a:xfrm>
          <a:prstGeom prst="ellipse">
            <a:avLst/>
          </a:prstGeom>
          <a:solidFill>
            <a:srgbClr val="12405A"/>
          </a:solidFill>
          <a:ln w="12700">
            <a:solidFill>
              <a:srgbClr val="12405A"/>
            </a:solidFill>
            <a:prstDash val="solid"/>
          </a:ln>
        </p:spPr>
        <p:txBody>
          <a:bodyPr/>
          <a:lstStyle/>
          <a:p>
            <a:endParaRPr lang="en-US"/>
          </a:p>
        </p:txBody>
      </p:sp>
      <p:sp>
        <p:nvSpPr>
          <p:cNvPr id="11" name="Shape 9"/>
          <p:cNvSpPr/>
          <p:nvPr/>
        </p:nvSpPr>
        <p:spPr>
          <a:xfrm>
            <a:off x="8686800" y="1737360"/>
            <a:ext cx="2377440" cy="2377440"/>
          </a:xfrm>
          <a:prstGeom prst="ellipse">
            <a:avLst/>
          </a:prstGeom>
          <a:solidFill>
            <a:srgbClr val="15607A"/>
          </a:solidFill>
          <a:ln w="12700">
            <a:solidFill>
              <a:srgbClr val="15607A"/>
            </a:solidFill>
            <a:prstDash val="solid"/>
          </a:ln>
        </p:spPr>
        <p:txBody>
          <a:bodyPr/>
          <a:lstStyle/>
          <a:p>
            <a:endParaRPr lang="en-US"/>
          </a:p>
        </p:txBody>
      </p:sp>
      <p:sp>
        <p:nvSpPr>
          <p:cNvPr id="12" name="Shape 10"/>
          <p:cNvSpPr/>
          <p:nvPr/>
        </p:nvSpPr>
        <p:spPr>
          <a:xfrm>
            <a:off x="9144000" y="2194560"/>
            <a:ext cx="1463040" cy="1463040"/>
          </a:xfrm>
          <a:prstGeom prst="ellipse">
            <a:avLst/>
          </a:prstGeom>
          <a:solidFill>
            <a:srgbClr val="0E7C86"/>
          </a:solidFill>
          <a:ln w="12700">
            <a:solidFill>
              <a:srgbClr val="0E7C86"/>
            </a:solidFill>
            <a:prstDash val="solid"/>
          </a:ln>
        </p:spPr>
        <p:txBody>
          <a:bodyPr/>
          <a:lstStyle/>
          <a:p>
            <a:endParaRPr lang="en-US"/>
          </a:p>
        </p:txBody>
      </p:sp>
      <p:sp>
        <p:nvSpPr>
          <p:cNvPr id="13" name="Shape 11"/>
          <p:cNvSpPr/>
          <p:nvPr/>
        </p:nvSpPr>
        <p:spPr>
          <a:xfrm>
            <a:off x="9601200" y="2651760"/>
            <a:ext cx="548640" cy="548640"/>
          </a:xfrm>
          <a:prstGeom prst="ellipse">
            <a:avLst/>
          </a:prstGeom>
          <a:solidFill>
            <a:srgbClr val="2EC4B6"/>
          </a:solidFill>
          <a:ln w="12700">
            <a:solidFill>
              <a:srgbClr val="2EC4B6"/>
            </a:solidFill>
            <a:prstDash val="solid"/>
          </a:ln>
        </p:spPr>
        <p:txBody>
          <a:bodyPr/>
          <a:lstStyle/>
          <a:p>
            <a:endParaRPr lang="en-US"/>
          </a:p>
        </p:txBody>
      </p:sp>
      <p:sp>
        <p:nvSpPr>
          <p:cNvPr id="14" name="Text 12"/>
          <p:cNvSpPr txBox="1"/>
          <p:nvPr/>
        </p:nvSpPr>
        <p:spPr>
          <a:xfrm>
            <a:off x="7863840" y="5120640"/>
            <a:ext cx="3840480" cy="274320"/>
          </a:xfrm>
          <a:prstGeom prst="rect">
            <a:avLst/>
          </a:prstGeom>
          <a:noFill/>
          <a:ln/>
        </p:spPr>
        <p:txBody>
          <a:bodyPr wrap="square" lIns="0" tIns="0" rIns="0" bIns="0" rtlCol="0" anchor="t"/>
          <a:lstStyle/>
          <a:p>
            <a:pPr marL="0" indent="0" algn="r">
              <a:buNone/>
            </a:pPr>
            <a:r>
              <a:rPr lang="en-US" sz="1300" dirty="0">
                <a:solidFill>
                  <a:srgbClr val="2EC4B6"/>
                </a:solidFill>
                <a:latin typeface="Calibri" pitchFamily="34" charset="0"/>
                <a:ea typeface="Calibri" pitchFamily="34" charset="-122"/>
                <a:cs typeface="Calibri" pitchFamily="34" charset="-120"/>
              </a:rPr>
              <a:t>2.82 M observations · 5 countries · 1940–2023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marL="0" indent="0">
              <a:buNone/>
            </a:pPr>
            <a:r>
              <a:rPr lang="en-US" sz="1200" b="1" kern="0" spc="300" dirty="0">
                <a:solidFill>
                  <a:srgbClr val="0E7C86"/>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marL="0" indent="0">
              <a:buNone/>
            </a:pPr>
            <a:r>
              <a:rPr lang="en-US" sz="3000" b="1" dirty="0">
                <a:solidFill>
                  <a:srgbClr val="0B1F33"/>
                </a:solidFill>
                <a:latin typeface="Cambria" pitchFamily="34" charset="0"/>
                <a:ea typeface="Cambria" pitchFamily="34" charset="-122"/>
                <a:cs typeface="Cambria" pitchFamily="34" charset="-120"/>
              </a:rPr>
              <a:t>Lab assays are slow and sparse; an index estimator could triage faster</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marL="0" indent="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marL="0" indent="0" algn="r">
              <a:buNone/>
            </a:pPr>
            <a:r>
              <a:rPr lang="en-US" sz="1000" dirty="0">
                <a:solidFill>
                  <a:srgbClr val="5B6B7A"/>
                </a:solidFill>
                <a:latin typeface="Calibri" pitchFamily="34" charset="0"/>
                <a:ea typeface="Calibri" pitchFamily="34" charset="-122"/>
                <a:cs typeface="Calibri" pitchFamily="34" charset="-120"/>
              </a:rPr>
              <a:t>2</a:t>
            </a:r>
            <a:endParaRPr lang="en-US" sz="1000" dirty="0"/>
          </a:p>
        </p:txBody>
      </p:sp>
      <p:sp>
        <p:nvSpPr>
          <p:cNvPr id="7" name="Shape 4"/>
          <p:cNvSpPr/>
          <p:nvPr/>
        </p:nvSpPr>
        <p:spPr>
          <a:xfrm>
            <a:off x="548640" y="1783080"/>
            <a:ext cx="3383280" cy="1554480"/>
          </a:xfrm>
          <a:prstGeom prst="rect">
            <a:avLst/>
          </a:prstGeom>
          <a:solidFill>
            <a:srgbClr val="EAF4F6"/>
          </a:solidFill>
          <a:ln w="12700">
            <a:solidFill>
              <a:srgbClr val="EAF4F6"/>
            </a:solidFill>
            <a:prstDash val="solid"/>
          </a:ln>
        </p:spPr>
        <p:txBody>
          <a:bodyPr/>
          <a:lstStyle/>
          <a:p>
            <a:endParaRPr lang="en-US"/>
          </a:p>
        </p:txBody>
      </p:sp>
      <p:sp>
        <p:nvSpPr>
          <p:cNvPr id="8" name="Text 5"/>
          <p:cNvSpPr txBox="1"/>
          <p:nvPr/>
        </p:nvSpPr>
        <p:spPr>
          <a:xfrm>
            <a:off x="777240" y="1965960"/>
            <a:ext cx="2926080" cy="365760"/>
          </a:xfrm>
          <a:prstGeom prst="rect">
            <a:avLst/>
          </a:prstGeom>
          <a:noFill/>
          <a:ln/>
        </p:spPr>
        <p:txBody>
          <a:bodyPr wrap="square" lIns="0" tIns="0" rIns="0" bIns="0" rtlCol="0" anchor="t"/>
          <a:lstStyle/>
          <a:p>
            <a:pPr marL="0" indent="0">
              <a:buNone/>
            </a:pPr>
            <a:r>
              <a:rPr lang="en-US" sz="2000" b="1" dirty="0">
                <a:solidFill>
                  <a:srgbClr val="0E7C86"/>
                </a:solidFill>
                <a:latin typeface="Cambria" pitchFamily="34" charset="0"/>
                <a:ea typeface="Cambria" pitchFamily="34" charset="-122"/>
                <a:cs typeface="Cambria" pitchFamily="34" charset="-120"/>
              </a:rPr>
              <a:t>Grab sample</a:t>
            </a:r>
            <a:endParaRPr lang="en-US" sz="2000" dirty="0"/>
          </a:p>
        </p:txBody>
      </p:sp>
      <p:sp>
        <p:nvSpPr>
          <p:cNvPr id="9" name="Text 6"/>
          <p:cNvSpPr txBox="1"/>
          <p:nvPr/>
        </p:nvSpPr>
        <p:spPr>
          <a:xfrm>
            <a:off x="777240" y="2468880"/>
            <a:ext cx="2926080" cy="731520"/>
          </a:xfrm>
          <a:prstGeom prst="rect">
            <a:avLst/>
          </a:prstGeom>
          <a:noFill/>
          <a:ln/>
        </p:spPr>
        <p:txBody>
          <a:bodyPr wrap="square" lIns="0" tIns="0" rIns="0" bIns="0" rtlCol="0" anchor="t"/>
          <a:lstStyle/>
          <a:p>
            <a:pPr marL="0" indent="0">
              <a:buNone/>
            </a:pPr>
            <a:r>
              <a:rPr lang="en-US" sz="1500" dirty="0">
                <a:solidFill>
                  <a:srgbClr val="12202E"/>
                </a:solidFill>
                <a:latin typeface="Calibri" pitchFamily="34" charset="0"/>
                <a:ea typeface="Calibri" pitchFamily="34" charset="-122"/>
                <a:cs typeface="Calibri" pitchFamily="34" charset="-120"/>
              </a:rPr>
              <a:t>Field visit, discrete in space and time</a:t>
            </a:r>
            <a:endParaRPr lang="en-US" sz="1500" dirty="0"/>
          </a:p>
        </p:txBody>
      </p:sp>
      <p:sp>
        <p:nvSpPr>
          <p:cNvPr id="10" name="Text 7"/>
          <p:cNvSpPr txBox="1"/>
          <p:nvPr/>
        </p:nvSpPr>
        <p:spPr>
          <a:xfrm>
            <a:off x="3931920" y="2240280"/>
            <a:ext cx="365760" cy="457200"/>
          </a:xfrm>
          <a:prstGeom prst="rect">
            <a:avLst/>
          </a:prstGeom>
          <a:noFill/>
          <a:ln/>
        </p:spPr>
        <p:txBody>
          <a:bodyPr wrap="square" lIns="0" tIns="0" rIns="0" bIns="0" rtlCol="0" anchor="t"/>
          <a:lstStyle/>
          <a:p>
            <a:pPr marL="0" indent="0" algn="ctr">
              <a:buNone/>
            </a:pPr>
            <a:r>
              <a:rPr lang="en-US" sz="2800" dirty="0">
                <a:solidFill>
                  <a:srgbClr val="5B6B7A"/>
                </a:solidFill>
                <a:latin typeface="Calibri" pitchFamily="34" charset="0"/>
                <a:ea typeface="Calibri" pitchFamily="34" charset="-122"/>
                <a:cs typeface="Calibri" pitchFamily="34" charset="-120"/>
              </a:rPr>
              <a:t>→</a:t>
            </a:r>
            <a:endParaRPr lang="en-US" sz="2800" dirty="0"/>
          </a:p>
        </p:txBody>
      </p:sp>
      <p:sp>
        <p:nvSpPr>
          <p:cNvPr id="11" name="Shape 8"/>
          <p:cNvSpPr/>
          <p:nvPr/>
        </p:nvSpPr>
        <p:spPr>
          <a:xfrm>
            <a:off x="4297680" y="1783080"/>
            <a:ext cx="3383280" cy="1554480"/>
          </a:xfrm>
          <a:prstGeom prst="rect">
            <a:avLst/>
          </a:prstGeom>
          <a:solidFill>
            <a:srgbClr val="EAF4F6"/>
          </a:solidFill>
          <a:ln w="12700">
            <a:solidFill>
              <a:srgbClr val="EAF4F6"/>
            </a:solidFill>
            <a:prstDash val="solid"/>
          </a:ln>
        </p:spPr>
        <p:txBody>
          <a:bodyPr/>
          <a:lstStyle/>
          <a:p>
            <a:endParaRPr lang="en-US"/>
          </a:p>
        </p:txBody>
      </p:sp>
      <p:sp>
        <p:nvSpPr>
          <p:cNvPr id="12" name="Text 9"/>
          <p:cNvSpPr txBox="1"/>
          <p:nvPr/>
        </p:nvSpPr>
        <p:spPr>
          <a:xfrm>
            <a:off x="4526280" y="1965960"/>
            <a:ext cx="2926080" cy="365760"/>
          </a:xfrm>
          <a:prstGeom prst="rect">
            <a:avLst/>
          </a:prstGeom>
          <a:noFill/>
          <a:ln/>
        </p:spPr>
        <p:txBody>
          <a:bodyPr wrap="square" lIns="0" tIns="0" rIns="0" bIns="0" rtlCol="0" anchor="t"/>
          <a:lstStyle/>
          <a:p>
            <a:pPr marL="0" indent="0">
              <a:buNone/>
            </a:pPr>
            <a:r>
              <a:rPr lang="en-US" sz="2000" b="1" dirty="0">
                <a:solidFill>
                  <a:srgbClr val="0E7C86"/>
                </a:solidFill>
                <a:latin typeface="Cambria" pitchFamily="34" charset="0"/>
                <a:ea typeface="Cambria" pitchFamily="34" charset="-122"/>
                <a:cs typeface="Cambria" pitchFamily="34" charset="-120"/>
              </a:rPr>
              <a:t>Lab assay</a:t>
            </a:r>
            <a:endParaRPr lang="en-US" sz="2000" dirty="0"/>
          </a:p>
        </p:txBody>
      </p:sp>
      <p:sp>
        <p:nvSpPr>
          <p:cNvPr id="13" name="Text 10"/>
          <p:cNvSpPr txBox="1"/>
          <p:nvPr/>
        </p:nvSpPr>
        <p:spPr>
          <a:xfrm>
            <a:off x="4526280" y="2468880"/>
            <a:ext cx="2926080" cy="731520"/>
          </a:xfrm>
          <a:prstGeom prst="rect">
            <a:avLst/>
          </a:prstGeom>
          <a:noFill/>
          <a:ln/>
        </p:spPr>
        <p:txBody>
          <a:bodyPr wrap="square" lIns="0" tIns="0" rIns="0" bIns="0" rtlCol="0" anchor="t"/>
          <a:lstStyle/>
          <a:p>
            <a:pPr marL="0" indent="0">
              <a:buNone/>
            </a:pPr>
            <a:r>
              <a:rPr lang="en-US" sz="1500" dirty="0">
                <a:solidFill>
                  <a:srgbClr val="12202E"/>
                </a:solidFill>
                <a:latin typeface="Calibri" pitchFamily="34" charset="0"/>
                <a:ea typeface="Calibri" pitchFamily="34" charset="-122"/>
                <a:cs typeface="Calibri" pitchFamily="34" charset="-120"/>
              </a:rPr>
              <a:t>BOD5 needs 5 days (120 h) incubation</a:t>
            </a:r>
            <a:endParaRPr lang="en-US" sz="1500" dirty="0"/>
          </a:p>
        </p:txBody>
      </p:sp>
      <p:sp>
        <p:nvSpPr>
          <p:cNvPr id="14" name="Text 11"/>
          <p:cNvSpPr txBox="1"/>
          <p:nvPr/>
        </p:nvSpPr>
        <p:spPr>
          <a:xfrm>
            <a:off x="7680960" y="2240280"/>
            <a:ext cx="365760" cy="457200"/>
          </a:xfrm>
          <a:prstGeom prst="rect">
            <a:avLst/>
          </a:prstGeom>
          <a:noFill/>
          <a:ln/>
        </p:spPr>
        <p:txBody>
          <a:bodyPr wrap="square" lIns="0" tIns="0" rIns="0" bIns="0" rtlCol="0" anchor="t"/>
          <a:lstStyle/>
          <a:p>
            <a:pPr marL="0" indent="0" algn="ctr">
              <a:buNone/>
            </a:pPr>
            <a:r>
              <a:rPr lang="en-US" sz="2800" dirty="0">
                <a:solidFill>
                  <a:srgbClr val="5B6B7A"/>
                </a:solidFill>
                <a:latin typeface="Calibri" pitchFamily="34" charset="0"/>
                <a:ea typeface="Calibri" pitchFamily="34" charset="-122"/>
                <a:cs typeface="Calibri" pitchFamily="34" charset="-120"/>
              </a:rPr>
              <a:t>→</a:t>
            </a:r>
            <a:endParaRPr lang="en-US" sz="2800" dirty="0"/>
          </a:p>
        </p:txBody>
      </p:sp>
      <p:sp>
        <p:nvSpPr>
          <p:cNvPr id="15" name="Shape 12"/>
          <p:cNvSpPr/>
          <p:nvPr/>
        </p:nvSpPr>
        <p:spPr>
          <a:xfrm>
            <a:off x="8046720" y="1783080"/>
            <a:ext cx="3383280" cy="1554480"/>
          </a:xfrm>
          <a:prstGeom prst="rect">
            <a:avLst/>
          </a:prstGeom>
          <a:solidFill>
            <a:srgbClr val="EAF4F6"/>
          </a:solidFill>
          <a:ln w="12700">
            <a:solidFill>
              <a:srgbClr val="EAF4F6"/>
            </a:solidFill>
            <a:prstDash val="solid"/>
          </a:ln>
        </p:spPr>
        <p:txBody>
          <a:bodyPr/>
          <a:lstStyle/>
          <a:p>
            <a:endParaRPr lang="en-US"/>
          </a:p>
        </p:txBody>
      </p:sp>
      <p:sp>
        <p:nvSpPr>
          <p:cNvPr id="16" name="Text 13"/>
          <p:cNvSpPr txBox="1"/>
          <p:nvPr/>
        </p:nvSpPr>
        <p:spPr>
          <a:xfrm>
            <a:off x="8275320" y="1965960"/>
            <a:ext cx="2926080" cy="365760"/>
          </a:xfrm>
          <a:prstGeom prst="rect">
            <a:avLst/>
          </a:prstGeom>
          <a:noFill/>
          <a:ln/>
        </p:spPr>
        <p:txBody>
          <a:bodyPr wrap="square" lIns="0" tIns="0" rIns="0" bIns="0" rtlCol="0" anchor="t"/>
          <a:lstStyle/>
          <a:p>
            <a:pPr marL="0" indent="0">
              <a:buNone/>
            </a:pPr>
            <a:r>
              <a:rPr lang="en-US" sz="2000" b="1" dirty="0">
                <a:solidFill>
                  <a:srgbClr val="0E7C86"/>
                </a:solidFill>
                <a:latin typeface="Cambria" pitchFamily="34" charset="0"/>
                <a:ea typeface="Cambria" pitchFamily="34" charset="-122"/>
                <a:cs typeface="Cambria" pitchFamily="34" charset="-120"/>
              </a:rPr>
              <a:t>Index</a:t>
            </a:r>
            <a:endParaRPr lang="en-US" sz="2000" dirty="0"/>
          </a:p>
        </p:txBody>
      </p:sp>
      <p:sp>
        <p:nvSpPr>
          <p:cNvPr id="17" name="Text 14"/>
          <p:cNvSpPr txBox="1"/>
          <p:nvPr/>
        </p:nvSpPr>
        <p:spPr>
          <a:xfrm>
            <a:off x="8275320" y="2468880"/>
            <a:ext cx="2926080" cy="731520"/>
          </a:xfrm>
          <a:prstGeom prst="rect">
            <a:avLst/>
          </a:prstGeom>
          <a:noFill/>
          <a:ln/>
        </p:spPr>
        <p:txBody>
          <a:bodyPr wrap="square" lIns="0" tIns="0" rIns="0" bIns="0" rtlCol="0" anchor="t"/>
          <a:lstStyle/>
          <a:p>
            <a:pPr marL="0" indent="0">
              <a:buNone/>
            </a:pPr>
            <a:r>
              <a:rPr lang="en-US" sz="1500" dirty="0">
                <a:solidFill>
                  <a:srgbClr val="12202E"/>
                </a:solidFill>
                <a:latin typeface="Calibri" pitchFamily="34" charset="0"/>
                <a:ea typeface="Calibri" pitchFamily="34" charset="-122"/>
                <a:cs typeface="Calibri" pitchFamily="34" charset="-120"/>
              </a:rPr>
              <a:t>Composite score computed after results arrive</a:t>
            </a:r>
            <a:endParaRPr lang="en-US" sz="1500" dirty="0"/>
          </a:p>
        </p:txBody>
      </p:sp>
      <p:sp>
        <p:nvSpPr>
          <p:cNvPr id="18" name="Text 15"/>
          <p:cNvSpPr txBox="1"/>
          <p:nvPr/>
        </p:nvSpPr>
        <p:spPr>
          <a:xfrm>
            <a:off x="548640" y="3749040"/>
            <a:ext cx="5486400" cy="365760"/>
          </a:xfrm>
          <a:prstGeom prst="rect">
            <a:avLst/>
          </a:prstGeom>
          <a:noFill/>
          <a:ln/>
        </p:spPr>
        <p:txBody>
          <a:bodyPr wrap="square" lIns="0" tIns="0" rIns="0" bIns="0" rtlCol="0" anchor="t"/>
          <a:lstStyle/>
          <a:p>
            <a:pPr marL="0" indent="0">
              <a:buNone/>
            </a:pPr>
            <a:r>
              <a:rPr lang="en-US" sz="2000" b="1" dirty="0">
                <a:solidFill>
                  <a:srgbClr val="0B1F33"/>
                </a:solidFill>
                <a:latin typeface="Cambria" pitchFamily="34" charset="0"/>
                <a:ea typeface="Cambria" pitchFamily="34" charset="-122"/>
                <a:cs typeface="Cambria" pitchFamily="34" charset="-120"/>
              </a:rPr>
              <a:t>Project objective</a:t>
            </a:r>
            <a:endParaRPr lang="en-US" sz="2000" dirty="0"/>
          </a:p>
        </p:txBody>
      </p:sp>
      <p:sp>
        <p:nvSpPr>
          <p:cNvPr id="19" name="Text 16"/>
          <p:cNvSpPr txBox="1"/>
          <p:nvPr/>
        </p:nvSpPr>
        <p:spPr>
          <a:xfrm>
            <a:off x="548640" y="4160520"/>
            <a:ext cx="5303520" cy="1188720"/>
          </a:xfrm>
          <a:prstGeom prst="rect">
            <a:avLst/>
          </a:prstGeom>
          <a:noFill/>
          <a:ln/>
        </p:spPr>
        <p:txBody>
          <a:bodyPr wrap="square" lIns="0" tIns="0" rIns="0" bIns="0" rtlCol="0" anchor="t"/>
          <a:lstStyle/>
          <a:p>
            <a:pPr marL="0" indent="0">
              <a:buNone/>
            </a:pPr>
            <a:r>
              <a:rPr lang="en-US" sz="1500" dirty="0">
                <a:solidFill>
                  <a:srgbClr val="12202E"/>
                </a:solidFill>
                <a:latin typeface="Calibri" pitchFamily="34" charset="0"/>
                <a:ea typeface="Calibri" pitchFamily="34" charset="-122"/>
                <a:cs typeface="Calibri" pitchFamily="34" charset="-120"/>
              </a:rPr>
              <a:t>Learn a fast surrogate: eight measured parameters (pH, temperature, DO, BOD, ammonia, orthophosphate, nitrogen, nitrate) plus engineered features → CCME WQI score.</a:t>
            </a:r>
            <a:endParaRPr lang="en-US" sz="1500" dirty="0"/>
          </a:p>
        </p:txBody>
      </p:sp>
      <p:sp>
        <p:nvSpPr>
          <p:cNvPr id="20" name="Text 17"/>
          <p:cNvSpPr txBox="1"/>
          <p:nvPr/>
        </p:nvSpPr>
        <p:spPr>
          <a:xfrm>
            <a:off x="6400800" y="3749040"/>
            <a:ext cx="5212080" cy="365760"/>
          </a:xfrm>
          <a:prstGeom prst="rect">
            <a:avLst/>
          </a:prstGeom>
          <a:noFill/>
          <a:ln/>
        </p:spPr>
        <p:txBody>
          <a:bodyPr wrap="square" lIns="0" tIns="0" rIns="0" bIns="0" rtlCol="0" anchor="t"/>
          <a:lstStyle/>
          <a:p>
            <a:pPr marL="0" indent="0">
              <a:buNone/>
            </a:pPr>
            <a:r>
              <a:rPr lang="en-US" sz="2000" b="1" dirty="0">
                <a:solidFill>
                  <a:srgbClr val="0B1F33"/>
                </a:solidFill>
                <a:latin typeface="Cambria" pitchFamily="34" charset="0"/>
                <a:ea typeface="Cambria" pitchFamily="34" charset="-122"/>
                <a:cs typeface="Cambria" pitchFamily="34" charset="-120"/>
              </a:rPr>
              <a:t>Scope of claims</a:t>
            </a:r>
            <a:endParaRPr lang="en-US" sz="2000" dirty="0"/>
          </a:p>
        </p:txBody>
      </p:sp>
      <p:sp>
        <p:nvSpPr>
          <p:cNvPr id="21" name="Text 18"/>
          <p:cNvSpPr txBox="1"/>
          <p:nvPr/>
        </p:nvSpPr>
        <p:spPr>
          <a:xfrm>
            <a:off x="6400800" y="4160520"/>
            <a:ext cx="5212080"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12202E"/>
                </a:solidFill>
                <a:latin typeface="Calibri" pitchFamily="34" charset="0"/>
                <a:ea typeface="Calibri" pitchFamily="34" charset="-122"/>
                <a:cs typeface="Calibri" pitchFamily="34" charset="-120"/>
              </a:rPr>
              <a:t>Demonstrated: offline regression on a historical dataset (Random Forest, XGBoost)</a:t>
            </a:r>
            <a:endParaRPr lang="en-US" sz="1500" dirty="0"/>
          </a:p>
          <a:p>
            <a:pPr marL="342900" indent="-342900">
              <a:spcAft>
                <a:spcPts val="600"/>
              </a:spcAft>
              <a:buSzPct val="100000"/>
              <a:buChar char="•"/>
            </a:pPr>
            <a:r>
              <a:rPr lang="en-US" sz="1500" dirty="0">
                <a:solidFill>
                  <a:srgbClr val="12202E"/>
                </a:solidFill>
                <a:latin typeface="Calibri" pitchFamily="34" charset="0"/>
                <a:ea typeface="Calibri" pitchFamily="34" charset="-122"/>
                <a:cs typeface="Calibri" pitchFamily="34" charset="-120"/>
              </a:rPr>
              <a:t>Not demonstrated: real-time sensing, field deployment, replacing laboratory testing, or any neural network (planned Phase 2)</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marL="0" indent="0">
              <a:buNone/>
            </a:pPr>
            <a:r>
              <a:rPr lang="en-US" sz="1200" b="1" kern="0" spc="300" dirty="0">
                <a:solidFill>
                  <a:srgbClr val="0E7C86"/>
                </a:solidFill>
                <a:latin typeface="Calibri" pitchFamily="34" charset="0"/>
                <a:ea typeface="Calibri" pitchFamily="34" charset="-122"/>
                <a:cs typeface="Calibri" pitchFamily="34" charset="-120"/>
              </a:rPr>
              <a:t>OBJECTIVE AND TARGET</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marL="0" indent="0">
              <a:buNone/>
            </a:pPr>
            <a:r>
              <a:rPr lang="en-US" sz="3000" b="1" dirty="0">
                <a:solidFill>
                  <a:srgbClr val="0B1F33"/>
                </a:solidFill>
                <a:latin typeface="Cambria" pitchFamily="34" charset="0"/>
                <a:ea typeface="Cambria" pitchFamily="34" charset="-122"/>
                <a:cs typeface="Cambria" pitchFamily="34" charset="-120"/>
              </a:rPr>
              <a:t>The target is the CCME Water Quality Index: 100 minus a distance from ideal</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marL="0" indent="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marL="0" indent="0" algn="r">
              <a:buNone/>
            </a:pPr>
            <a:r>
              <a:rPr lang="en-US" sz="1000" dirty="0">
                <a:solidFill>
                  <a:srgbClr val="5B6B7A"/>
                </a:solidFill>
                <a:latin typeface="Calibri" pitchFamily="34" charset="0"/>
                <a:ea typeface="Calibri" pitchFamily="34" charset="-122"/>
                <a:cs typeface="Calibri" pitchFamily="34" charset="-120"/>
              </a:rPr>
              <a:t>3</a:t>
            </a:r>
            <a:endParaRPr lang="en-US" sz="1000" dirty="0"/>
          </a:p>
        </p:txBody>
      </p:sp>
      <p:sp>
        <p:nvSpPr>
          <p:cNvPr id="7" name="Shape 4"/>
          <p:cNvSpPr/>
          <p:nvPr/>
        </p:nvSpPr>
        <p:spPr>
          <a:xfrm>
            <a:off x="548640" y="1737360"/>
            <a:ext cx="11091672" cy="868680"/>
          </a:xfrm>
          <a:prstGeom prst="rect">
            <a:avLst/>
          </a:prstGeom>
          <a:solidFill>
            <a:srgbClr val="EAF4F6"/>
          </a:solidFill>
          <a:ln w="12700">
            <a:solidFill>
              <a:srgbClr val="EAF4F6"/>
            </a:solidFill>
            <a:prstDash val="solid"/>
          </a:ln>
        </p:spPr>
        <p:txBody>
          <a:bodyPr/>
          <a:lstStyle/>
          <a:p>
            <a:endParaRPr lang="en-US"/>
          </a:p>
        </p:txBody>
      </p:sp>
      <p:sp>
        <p:nvSpPr>
          <p:cNvPr id="8" name="Text 5"/>
          <p:cNvSpPr txBox="1"/>
          <p:nvPr/>
        </p:nvSpPr>
        <p:spPr>
          <a:xfrm>
            <a:off x="822960" y="1737360"/>
            <a:ext cx="10515600" cy="868680"/>
          </a:xfrm>
          <a:prstGeom prst="rect">
            <a:avLst/>
          </a:prstGeom>
          <a:noFill/>
          <a:ln/>
        </p:spPr>
        <p:txBody>
          <a:bodyPr wrap="square" lIns="0" tIns="0" rIns="0" bIns="0" rtlCol="0" anchor="ctr"/>
          <a:lstStyle/>
          <a:p>
            <a:pPr marL="0" indent="0">
              <a:buNone/>
            </a:pPr>
            <a:r>
              <a:rPr lang="en-US" sz="2800" b="1" dirty="0">
                <a:solidFill>
                  <a:srgbClr val="0B1F33"/>
                </a:solidFill>
                <a:latin typeface="Cambria" pitchFamily="34" charset="0"/>
                <a:ea typeface="Cambria" pitchFamily="34" charset="-122"/>
                <a:cs typeface="Cambria" pitchFamily="34" charset="-120"/>
              </a:rPr>
              <a:t>CCME WQI = 100 − √(F₁² + F₂² + F₃²) / 1.732</a:t>
            </a:r>
            <a:endParaRPr lang="en-US" sz="2800" dirty="0"/>
          </a:p>
        </p:txBody>
      </p:sp>
      <p:sp>
        <p:nvSpPr>
          <p:cNvPr id="9" name="Shape 6"/>
          <p:cNvSpPr/>
          <p:nvPr/>
        </p:nvSpPr>
        <p:spPr>
          <a:xfrm>
            <a:off x="548640" y="2834640"/>
            <a:ext cx="3611880" cy="1143000"/>
          </a:xfrm>
          <a:prstGeom prst="rect">
            <a:avLst/>
          </a:prstGeom>
          <a:solidFill>
            <a:srgbClr val="F4F8FA"/>
          </a:solidFill>
          <a:ln w="12700">
            <a:solidFill>
              <a:srgbClr val="F4F8FA"/>
            </a:solidFill>
            <a:prstDash val="solid"/>
          </a:ln>
        </p:spPr>
        <p:txBody>
          <a:bodyPr/>
          <a:lstStyle/>
          <a:p>
            <a:endParaRPr lang="en-US"/>
          </a:p>
        </p:txBody>
      </p:sp>
      <p:sp>
        <p:nvSpPr>
          <p:cNvPr id="10" name="Text 7"/>
          <p:cNvSpPr txBox="1"/>
          <p:nvPr/>
        </p:nvSpPr>
        <p:spPr>
          <a:xfrm>
            <a:off x="731520" y="2944368"/>
            <a:ext cx="3291840" cy="365760"/>
          </a:xfrm>
          <a:prstGeom prst="rect">
            <a:avLst/>
          </a:prstGeom>
          <a:noFill/>
          <a:ln/>
        </p:spPr>
        <p:txBody>
          <a:bodyPr wrap="square" lIns="0" tIns="0" rIns="0" bIns="0" rtlCol="0" anchor="t"/>
          <a:lstStyle/>
          <a:p>
            <a:pPr marL="0" indent="0">
              <a:buNone/>
            </a:pPr>
            <a:r>
              <a:rPr lang="en-US" sz="1800" b="1" dirty="0">
                <a:solidFill>
                  <a:srgbClr val="0E7C86"/>
                </a:solidFill>
                <a:latin typeface="Cambria" pitchFamily="34" charset="0"/>
                <a:ea typeface="Cambria" pitchFamily="34" charset="-122"/>
                <a:cs typeface="Cambria" pitchFamily="34" charset="-120"/>
              </a:rPr>
              <a:t>F₁ Scope</a:t>
            </a:r>
            <a:endParaRPr lang="en-US" sz="1800" dirty="0"/>
          </a:p>
        </p:txBody>
      </p:sp>
      <p:sp>
        <p:nvSpPr>
          <p:cNvPr id="11" name="Text 8"/>
          <p:cNvSpPr txBox="1"/>
          <p:nvPr/>
        </p:nvSpPr>
        <p:spPr>
          <a:xfrm>
            <a:off x="731520" y="3364992"/>
            <a:ext cx="3291840" cy="548640"/>
          </a:xfrm>
          <a:prstGeom prst="rect">
            <a:avLst/>
          </a:prstGeom>
          <a:noFill/>
          <a:ln/>
        </p:spPr>
        <p:txBody>
          <a:bodyPr wrap="square" lIns="0" tIns="0" rIns="0" bIns="0" rtlCol="0" anchor="t"/>
          <a:lstStyle/>
          <a:p>
            <a:pPr marL="0" indent="0">
              <a:buNone/>
            </a:pPr>
            <a:r>
              <a:rPr lang="en-US" sz="1400" dirty="0">
                <a:solidFill>
                  <a:srgbClr val="12202E"/>
                </a:solidFill>
                <a:latin typeface="Calibri" pitchFamily="34" charset="0"/>
                <a:ea typeface="Calibri" pitchFamily="34" charset="-122"/>
                <a:cs typeface="Calibri" pitchFamily="34" charset="-120"/>
              </a:rPr>
              <a:t>% of variables that fail their guideline</a:t>
            </a:r>
            <a:endParaRPr lang="en-US" sz="1400" dirty="0"/>
          </a:p>
        </p:txBody>
      </p:sp>
      <p:sp>
        <p:nvSpPr>
          <p:cNvPr id="12" name="Shape 9"/>
          <p:cNvSpPr/>
          <p:nvPr/>
        </p:nvSpPr>
        <p:spPr>
          <a:xfrm>
            <a:off x="4297680" y="2834640"/>
            <a:ext cx="3611880" cy="1143000"/>
          </a:xfrm>
          <a:prstGeom prst="rect">
            <a:avLst/>
          </a:prstGeom>
          <a:solidFill>
            <a:srgbClr val="F4F8FA"/>
          </a:solidFill>
          <a:ln w="12700">
            <a:solidFill>
              <a:srgbClr val="F4F8FA"/>
            </a:solidFill>
            <a:prstDash val="solid"/>
          </a:ln>
        </p:spPr>
        <p:txBody>
          <a:bodyPr/>
          <a:lstStyle/>
          <a:p>
            <a:endParaRPr lang="en-US"/>
          </a:p>
        </p:txBody>
      </p:sp>
      <p:sp>
        <p:nvSpPr>
          <p:cNvPr id="13" name="Text 10"/>
          <p:cNvSpPr txBox="1"/>
          <p:nvPr/>
        </p:nvSpPr>
        <p:spPr>
          <a:xfrm>
            <a:off x="4480560" y="2944368"/>
            <a:ext cx="3291840" cy="365760"/>
          </a:xfrm>
          <a:prstGeom prst="rect">
            <a:avLst/>
          </a:prstGeom>
          <a:noFill/>
          <a:ln/>
        </p:spPr>
        <p:txBody>
          <a:bodyPr wrap="square" lIns="0" tIns="0" rIns="0" bIns="0" rtlCol="0" anchor="t"/>
          <a:lstStyle/>
          <a:p>
            <a:pPr marL="0" indent="0">
              <a:buNone/>
            </a:pPr>
            <a:r>
              <a:rPr lang="en-US" sz="1800" b="1" dirty="0">
                <a:solidFill>
                  <a:srgbClr val="0E7C86"/>
                </a:solidFill>
                <a:latin typeface="Cambria" pitchFamily="34" charset="0"/>
                <a:ea typeface="Cambria" pitchFamily="34" charset="-122"/>
                <a:cs typeface="Cambria" pitchFamily="34" charset="-120"/>
              </a:rPr>
              <a:t>F₂ Frequency</a:t>
            </a:r>
            <a:endParaRPr lang="en-US" sz="1800" dirty="0"/>
          </a:p>
        </p:txBody>
      </p:sp>
      <p:sp>
        <p:nvSpPr>
          <p:cNvPr id="14" name="Text 11"/>
          <p:cNvSpPr txBox="1"/>
          <p:nvPr/>
        </p:nvSpPr>
        <p:spPr>
          <a:xfrm>
            <a:off x="4480560" y="3364992"/>
            <a:ext cx="3291840" cy="548640"/>
          </a:xfrm>
          <a:prstGeom prst="rect">
            <a:avLst/>
          </a:prstGeom>
          <a:noFill/>
          <a:ln/>
        </p:spPr>
        <p:txBody>
          <a:bodyPr wrap="square" lIns="0" tIns="0" rIns="0" bIns="0" rtlCol="0" anchor="t"/>
          <a:lstStyle/>
          <a:p>
            <a:pPr marL="0" indent="0">
              <a:buNone/>
            </a:pPr>
            <a:r>
              <a:rPr lang="en-US" sz="1400" dirty="0">
                <a:solidFill>
                  <a:srgbClr val="12202E"/>
                </a:solidFill>
                <a:latin typeface="Calibri" pitchFamily="34" charset="0"/>
                <a:ea typeface="Calibri" pitchFamily="34" charset="-122"/>
                <a:cs typeface="Calibri" pitchFamily="34" charset="-120"/>
              </a:rPr>
              <a:t>% of individual tests that fail</a:t>
            </a:r>
            <a:endParaRPr lang="en-US" sz="1400" dirty="0"/>
          </a:p>
        </p:txBody>
      </p:sp>
      <p:sp>
        <p:nvSpPr>
          <p:cNvPr id="15" name="Shape 12"/>
          <p:cNvSpPr/>
          <p:nvPr/>
        </p:nvSpPr>
        <p:spPr>
          <a:xfrm>
            <a:off x="8046720" y="2834640"/>
            <a:ext cx="3611880" cy="1143000"/>
          </a:xfrm>
          <a:prstGeom prst="rect">
            <a:avLst/>
          </a:prstGeom>
          <a:solidFill>
            <a:srgbClr val="F4F8FA"/>
          </a:solidFill>
          <a:ln w="12700">
            <a:solidFill>
              <a:srgbClr val="F4F8FA"/>
            </a:solidFill>
            <a:prstDash val="solid"/>
          </a:ln>
        </p:spPr>
        <p:txBody>
          <a:bodyPr/>
          <a:lstStyle/>
          <a:p>
            <a:endParaRPr lang="en-US"/>
          </a:p>
        </p:txBody>
      </p:sp>
      <p:sp>
        <p:nvSpPr>
          <p:cNvPr id="16" name="Text 13"/>
          <p:cNvSpPr txBox="1"/>
          <p:nvPr/>
        </p:nvSpPr>
        <p:spPr>
          <a:xfrm>
            <a:off x="8229600" y="2944368"/>
            <a:ext cx="3291840" cy="365760"/>
          </a:xfrm>
          <a:prstGeom prst="rect">
            <a:avLst/>
          </a:prstGeom>
          <a:noFill/>
          <a:ln/>
        </p:spPr>
        <p:txBody>
          <a:bodyPr wrap="square" lIns="0" tIns="0" rIns="0" bIns="0" rtlCol="0" anchor="t"/>
          <a:lstStyle/>
          <a:p>
            <a:pPr marL="0" indent="0">
              <a:buNone/>
            </a:pPr>
            <a:r>
              <a:rPr lang="en-US" sz="1800" b="1" dirty="0">
                <a:solidFill>
                  <a:srgbClr val="0E7C86"/>
                </a:solidFill>
                <a:latin typeface="Cambria" pitchFamily="34" charset="0"/>
                <a:ea typeface="Cambria" pitchFamily="34" charset="-122"/>
                <a:cs typeface="Cambria" pitchFamily="34" charset="-120"/>
              </a:rPr>
              <a:t>F₃ Amplitude</a:t>
            </a:r>
            <a:endParaRPr lang="en-US" sz="1800" dirty="0"/>
          </a:p>
        </p:txBody>
      </p:sp>
      <p:sp>
        <p:nvSpPr>
          <p:cNvPr id="17" name="Text 14"/>
          <p:cNvSpPr txBox="1"/>
          <p:nvPr/>
        </p:nvSpPr>
        <p:spPr>
          <a:xfrm>
            <a:off x="8229600" y="3364992"/>
            <a:ext cx="3291840" cy="548640"/>
          </a:xfrm>
          <a:prstGeom prst="rect">
            <a:avLst/>
          </a:prstGeom>
          <a:noFill/>
          <a:ln/>
        </p:spPr>
        <p:txBody>
          <a:bodyPr wrap="square" lIns="0" tIns="0" rIns="0" bIns="0" rtlCol="0" anchor="t"/>
          <a:lstStyle/>
          <a:p>
            <a:pPr marL="0" indent="0">
              <a:buNone/>
            </a:pPr>
            <a:r>
              <a:rPr lang="en-US" sz="1400" dirty="0">
                <a:solidFill>
                  <a:srgbClr val="12202E"/>
                </a:solidFill>
                <a:latin typeface="Calibri" pitchFamily="34" charset="0"/>
                <a:ea typeface="Calibri" pitchFamily="34" charset="-122"/>
                <a:cs typeface="Calibri" pitchFamily="34" charset="-120"/>
              </a:rPr>
              <a:t>Size of excursions: nse / (0.01·nse + 0.01)</a:t>
            </a:r>
            <a:endParaRPr lang="en-US" sz="1400" dirty="0"/>
          </a:p>
        </p:txBody>
      </p:sp>
      <p:sp>
        <p:nvSpPr>
          <p:cNvPr id="18" name="Text 15"/>
          <p:cNvSpPr txBox="1"/>
          <p:nvPr/>
        </p:nvSpPr>
        <p:spPr>
          <a:xfrm>
            <a:off x="548640" y="4206240"/>
            <a:ext cx="7315200" cy="320040"/>
          </a:xfrm>
          <a:prstGeom prst="rect">
            <a:avLst/>
          </a:prstGeom>
          <a:noFill/>
          <a:ln/>
        </p:spPr>
        <p:txBody>
          <a:bodyPr wrap="square" lIns="0" tIns="0" rIns="0" bIns="0" rtlCol="0" anchor="t"/>
          <a:lstStyle/>
          <a:p>
            <a:pPr marL="0" indent="0">
              <a:buNone/>
            </a:pPr>
            <a:r>
              <a:rPr lang="en-US" sz="1600" b="1" dirty="0">
                <a:solidFill>
                  <a:srgbClr val="0B1F33"/>
                </a:solidFill>
                <a:latin typeface="Cambria" pitchFamily="34" charset="0"/>
                <a:ea typeface="Cambria" pitchFamily="34" charset="-122"/>
                <a:cs typeface="Cambria" pitchFamily="34" charset="-120"/>
              </a:rPr>
              <a:t>Five quality tiers (share of dataset rows)</a:t>
            </a:r>
            <a:endParaRPr lang="en-US" sz="1600" dirty="0"/>
          </a:p>
        </p:txBody>
      </p:sp>
      <p:sp>
        <p:nvSpPr>
          <p:cNvPr id="19" name="Shape 16"/>
          <p:cNvSpPr/>
          <p:nvPr/>
        </p:nvSpPr>
        <p:spPr>
          <a:xfrm>
            <a:off x="548640" y="4572000"/>
            <a:ext cx="1463040" cy="685800"/>
          </a:xfrm>
          <a:prstGeom prst="rect">
            <a:avLst/>
          </a:prstGeom>
          <a:solidFill>
            <a:srgbClr val="B5483A"/>
          </a:solidFill>
          <a:ln w="19050">
            <a:solidFill>
              <a:srgbClr val="FFFFFF"/>
            </a:solidFill>
            <a:prstDash val="solid"/>
          </a:ln>
        </p:spPr>
        <p:txBody>
          <a:bodyPr/>
          <a:lstStyle/>
          <a:p>
            <a:endParaRPr lang="en-US"/>
          </a:p>
        </p:txBody>
      </p:sp>
      <p:sp>
        <p:nvSpPr>
          <p:cNvPr id="20" name="Text 17"/>
          <p:cNvSpPr txBox="1"/>
          <p:nvPr/>
        </p:nvSpPr>
        <p:spPr>
          <a:xfrm>
            <a:off x="548640" y="4572000"/>
            <a:ext cx="14630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Poor 0–44</a:t>
            </a:r>
            <a:endParaRPr lang="en-US" sz="1200" dirty="0"/>
          </a:p>
        </p:txBody>
      </p:sp>
      <p:sp>
        <p:nvSpPr>
          <p:cNvPr id="21" name="Text 18"/>
          <p:cNvSpPr txBox="1"/>
          <p:nvPr/>
        </p:nvSpPr>
        <p:spPr>
          <a:xfrm>
            <a:off x="548640" y="4919472"/>
            <a:ext cx="1463040" cy="32004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4.5%</a:t>
            </a:r>
            <a:endParaRPr lang="en-US" sz="1200" dirty="0"/>
          </a:p>
        </p:txBody>
      </p:sp>
      <p:sp>
        <p:nvSpPr>
          <p:cNvPr id="22" name="Shape 19"/>
          <p:cNvSpPr/>
          <p:nvPr/>
        </p:nvSpPr>
        <p:spPr>
          <a:xfrm>
            <a:off x="2011680" y="4572000"/>
            <a:ext cx="2194560" cy="685800"/>
          </a:xfrm>
          <a:prstGeom prst="rect">
            <a:avLst/>
          </a:prstGeom>
          <a:solidFill>
            <a:srgbClr val="D98A1F"/>
          </a:solidFill>
          <a:ln w="19050">
            <a:solidFill>
              <a:srgbClr val="FFFFFF"/>
            </a:solidFill>
            <a:prstDash val="solid"/>
          </a:ln>
        </p:spPr>
        <p:txBody>
          <a:bodyPr/>
          <a:lstStyle/>
          <a:p>
            <a:endParaRPr lang="en-US"/>
          </a:p>
        </p:txBody>
      </p:sp>
      <p:sp>
        <p:nvSpPr>
          <p:cNvPr id="23" name="Text 20"/>
          <p:cNvSpPr txBox="1"/>
          <p:nvPr/>
        </p:nvSpPr>
        <p:spPr>
          <a:xfrm>
            <a:off x="2011680" y="4572000"/>
            <a:ext cx="219456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Marginal 45–64</a:t>
            </a:r>
            <a:endParaRPr lang="en-US" sz="1200" dirty="0"/>
          </a:p>
        </p:txBody>
      </p:sp>
      <p:sp>
        <p:nvSpPr>
          <p:cNvPr id="24" name="Text 21"/>
          <p:cNvSpPr txBox="1"/>
          <p:nvPr/>
        </p:nvSpPr>
        <p:spPr>
          <a:xfrm>
            <a:off x="2011680" y="4919472"/>
            <a:ext cx="2194560" cy="32004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11.6%</a:t>
            </a:r>
            <a:endParaRPr lang="en-US" sz="1200" dirty="0"/>
          </a:p>
        </p:txBody>
      </p:sp>
      <p:sp>
        <p:nvSpPr>
          <p:cNvPr id="25" name="Shape 22"/>
          <p:cNvSpPr/>
          <p:nvPr/>
        </p:nvSpPr>
        <p:spPr>
          <a:xfrm>
            <a:off x="4206240" y="4572000"/>
            <a:ext cx="2194560" cy="685800"/>
          </a:xfrm>
          <a:prstGeom prst="rect">
            <a:avLst/>
          </a:prstGeom>
          <a:solidFill>
            <a:srgbClr val="E6C34A"/>
          </a:solidFill>
          <a:ln w="19050">
            <a:solidFill>
              <a:srgbClr val="FFFFFF"/>
            </a:solidFill>
            <a:prstDash val="solid"/>
          </a:ln>
        </p:spPr>
        <p:txBody>
          <a:bodyPr/>
          <a:lstStyle/>
          <a:p>
            <a:endParaRPr lang="en-US"/>
          </a:p>
        </p:txBody>
      </p:sp>
      <p:sp>
        <p:nvSpPr>
          <p:cNvPr id="26" name="Text 23"/>
          <p:cNvSpPr txBox="1"/>
          <p:nvPr/>
        </p:nvSpPr>
        <p:spPr>
          <a:xfrm>
            <a:off x="4206240" y="4572000"/>
            <a:ext cx="2194560" cy="384048"/>
          </a:xfrm>
          <a:prstGeom prst="rect">
            <a:avLst/>
          </a:prstGeom>
          <a:noFill/>
          <a:ln/>
        </p:spPr>
        <p:txBody>
          <a:bodyPr wrap="square" lIns="0" tIns="0" rIns="0" bIns="0" rtlCol="0" anchor="ctr"/>
          <a:lstStyle/>
          <a:p>
            <a:pPr marL="0" indent="0" algn="ctr">
              <a:buNone/>
            </a:pPr>
            <a:r>
              <a:rPr lang="en-US" sz="1200" b="1" dirty="0">
                <a:solidFill>
                  <a:srgbClr val="12202E"/>
                </a:solidFill>
                <a:latin typeface="Calibri" pitchFamily="34" charset="0"/>
                <a:ea typeface="Calibri" pitchFamily="34" charset="-122"/>
                <a:cs typeface="Calibri" pitchFamily="34" charset="-120"/>
              </a:rPr>
              <a:t>Fair 65–79</a:t>
            </a:r>
            <a:endParaRPr lang="en-US" sz="1200" dirty="0"/>
          </a:p>
        </p:txBody>
      </p:sp>
      <p:sp>
        <p:nvSpPr>
          <p:cNvPr id="27" name="Text 24"/>
          <p:cNvSpPr txBox="1"/>
          <p:nvPr/>
        </p:nvSpPr>
        <p:spPr>
          <a:xfrm>
            <a:off x="4206240" y="4919472"/>
            <a:ext cx="2194560" cy="320040"/>
          </a:xfrm>
          <a:prstGeom prst="rect">
            <a:avLst/>
          </a:prstGeom>
          <a:noFill/>
          <a:ln/>
        </p:spPr>
        <p:txBody>
          <a:bodyPr wrap="square" lIns="0" tIns="0" rIns="0" bIns="0" rtlCol="0" anchor="ctr"/>
          <a:lstStyle/>
          <a:p>
            <a:pPr marL="0" indent="0" algn="ctr">
              <a:buNone/>
            </a:pPr>
            <a:r>
              <a:rPr lang="en-US" sz="1200" dirty="0">
                <a:solidFill>
                  <a:srgbClr val="12202E"/>
                </a:solidFill>
                <a:latin typeface="Calibri" pitchFamily="34" charset="0"/>
                <a:ea typeface="Calibri" pitchFamily="34" charset="-122"/>
                <a:cs typeface="Calibri" pitchFamily="34" charset="-120"/>
              </a:rPr>
              <a:t>11.2%</a:t>
            </a:r>
            <a:endParaRPr lang="en-US" sz="1200" dirty="0"/>
          </a:p>
        </p:txBody>
      </p:sp>
      <p:sp>
        <p:nvSpPr>
          <p:cNvPr id="28" name="Shape 25"/>
          <p:cNvSpPr/>
          <p:nvPr/>
        </p:nvSpPr>
        <p:spPr>
          <a:xfrm>
            <a:off x="6400800" y="4572000"/>
            <a:ext cx="2651760" cy="685800"/>
          </a:xfrm>
          <a:prstGeom prst="rect">
            <a:avLst/>
          </a:prstGeom>
          <a:solidFill>
            <a:srgbClr val="2EC4B6"/>
          </a:solidFill>
          <a:ln w="19050">
            <a:solidFill>
              <a:srgbClr val="FFFFFF"/>
            </a:solidFill>
            <a:prstDash val="solid"/>
          </a:ln>
        </p:spPr>
        <p:txBody>
          <a:bodyPr/>
          <a:lstStyle/>
          <a:p>
            <a:endParaRPr lang="en-US"/>
          </a:p>
        </p:txBody>
      </p:sp>
      <p:sp>
        <p:nvSpPr>
          <p:cNvPr id="29" name="Text 26"/>
          <p:cNvSpPr txBox="1"/>
          <p:nvPr/>
        </p:nvSpPr>
        <p:spPr>
          <a:xfrm>
            <a:off x="6400800" y="4572000"/>
            <a:ext cx="265176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Good 80–94</a:t>
            </a:r>
            <a:endParaRPr lang="en-US" sz="1200" dirty="0"/>
          </a:p>
        </p:txBody>
      </p:sp>
      <p:sp>
        <p:nvSpPr>
          <p:cNvPr id="30" name="Text 27"/>
          <p:cNvSpPr txBox="1"/>
          <p:nvPr/>
        </p:nvSpPr>
        <p:spPr>
          <a:xfrm>
            <a:off x="6400800" y="4919472"/>
            <a:ext cx="2651760" cy="32004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36.6%</a:t>
            </a:r>
            <a:endParaRPr lang="en-US" sz="1200" dirty="0"/>
          </a:p>
        </p:txBody>
      </p:sp>
      <p:sp>
        <p:nvSpPr>
          <p:cNvPr id="31" name="Shape 28"/>
          <p:cNvSpPr/>
          <p:nvPr/>
        </p:nvSpPr>
        <p:spPr>
          <a:xfrm>
            <a:off x="9052560" y="4572000"/>
            <a:ext cx="2587752" cy="685800"/>
          </a:xfrm>
          <a:prstGeom prst="rect">
            <a:avLst/>
          </a:prstGeom>
          <a:solidFill>
            <a:srgbClr val="0E7C86"/>
          </a:solidFill>
          <a:ln w="19050">
            <a:solidFill>
              <a:srgbClr val="FFFFFF"/>
            </a:solidFill>
            <a:prstDash val="solid"/>
          </a:ln>
        </p:spPr>
        <p:txBody>
          <a:bodyPr/>
          <a:lstStyle/>
          <a:p>
            <a:endParaRPr lang="en-US"/>
          </a:p>
        </p:txBody>
      </p:sp>
      <p:sp>
        <p:nvSpPr>
          <p:cNvPr id="32" name="Text 29"/>
          <p:cNvSpPr txBox="1"/>
          <p:nvPr/>
        </p:nvSpPr>
        <p:spPr>
          <a:xfrm>
            <a:off x="9052560" y="4572000"/>
            <a:ext cx="2587752"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Excellent 95–100</a:t>
            </a:r>
            <a:endParaRPr lang="en-US" sz="1200" dirty="0"/>
          </a:p>
        </p:txBody>
      </p:sp>
      <p:sp>
        <p:nvSpPr>
          <p:cNvPr id="33" name="Text 30"/>
          <p:cNvSpPr txBox="1"/>
          <p:nvPr/>
        </p:nvSpPr>
        <p:spPr>
          <a:xfrm>
            <a:off x="9052560" y="4919472"/>
            <a:ext cx="2587752" cy="32004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36.1%</a:t>
            </a:r>
            <a:endParaRPr lang="en-US" sz="1200" dirty="0"/>
          </a:p>
        </p:txBody>
      </p:sp>
      <p:sp>
        <p:nvSpPr>
          <p:cNvPr id="34" name="Text 31"/>
          <p:cNvSpPr txBox="1"/>
          <p:nvPr/>
        </p:nvSpPr>
        <p:spPr>
          <a:xfrm>
            <a:off x="548640" y="5486400"/>
            <a:ext cx="11064240" cy="548640"/>
          </a:xfrm>
          <a:prstGeom prst="rect">
            <a:avLst/>
          </a:prstGeom>
          <a:noFill/>
          <a:ln/>
        </p:spPr>
        <p:txBody>
          <a:bodyPr wrap="square" lIns="0" tIns="0" rIns="0" bIns="0" rtlCol="0" anchor="t"/>
          <a:lstStyle/>
          <a:p>
            <a:pPr marL="0" indent="0">
              <a:buNone/>
            </a:pPr>
            <a:r>
              <a:rPr lang="en-US" sz="1300" dirty="0">
                <a:solidFill>
                  <a:srgbClr val="5B6B7A"/>
                </a:solidFill>
                <a:latin typeface="Calibri" pitchFamily="34" charset="0"/>
                <a:ea typeface="Calibri" pitchFamily="34" charset="-122"/>
                <a:cs typeface="Calibri" pitchFamily="34" charset="-120"/>
              </a:rPr>
              <a:t>Index in the data: mean ≈ 85, median 90.6, bounded 0–100, strongly left-skewed. Shares from repo graph 11 (EDA).</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marL="0" indent="0">
              <a:buNone/>
            </a:pPr>
            <a:r>
              <a:rPr lang="en-US" sz="1200" b="1" kern="0" spc="300" dirty="0">
                <a:solidFill>
                  <a:srgbClr val="0E7C86"/>
                </a:solidFill>
                <a:latin typeface="Calibri" pitchFamily="34" charset="0"/>
                <a:ea typeface="Calibri" pitchFamily="34" charset="-122"/>
                <a:cs typeface="Calibri" pitchFamily="34" charset="-120"/>
              </a:rPr>
              <a:t>DATASET SCALE AND COMPOSITION</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marL="0" indent="0">
              <a:buNone/>
            </a:pPr>
            <a:r>
              <a:rPr lang="en-US" sz="3000" b="1" dirty="0">
                <a:solidFill>
                  <a:srgbClr val="0B1F33"/>
                </a:solidFill>
                <a:latin typeface="Cambria" pitchFamily="34" charset="0"/>
                <a:ea typeface="Cambria" pitchFamily="34" charset="-122"/>
                <a:cs typeface="Cambria" pitchFamily="34" charset="-120"/>
              </a:rPr>
              <a:t>2.82 million observations, but 75% of them come from England</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marL="0" indent="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marL="0" indent="0" algn="r">
              <a:buNone/>
            </a:pPr>
            <a:r>
              <a:rPr lang="en-US" sz="1000" dirty="0">
                <a:solidFill>
                  <a:srgbClr val="5B6B7A"/>
                </a:solidFill>
                <a:latin typeface="Calibri" pitchFamily="34" charset="0"/>
                <a:ea typeface="Calibri" pitchFamily="34" charset="-122"/>
                <a:cs typeface="Calibri" pitchFamily="34" charset="-120"/>
              </a:rPr>
              <a:t>4</a:t>
            </a:r>
            <a:endParaRPr lang="en-US" sz="1000" dirty="0"/>
          </a:p>
        </p:txBody>
      </p:sp>
      <p:sp>
        <p:nvSpPr>
          <p:cNvPr id="7" name="Text 4"/>
          <p:cNvSpPr txBox="1"/>
          <p:nvPr/>
        </p:nvSpPr>
        <p:spPr>
          <a:xfrm>
            <a:off x="548640" y="1691640"/>
            <a:ext cx="2103120" cy="640080"/>
          </a:xfrm>
          <a:prstGeom prst="rect">
            <a:avLst/>
          </a:prstGeom>
          <a:noFill/>
          <a:ln/>
        </p:spPr>
        <p:txBody>
          <a:bodyPr wrap="square" lIns="0" tIns="0" rIns="0" bIns="0" rtlCol="0" anchor="t"/>
          <a:lstStyle/>
          <a:p>
            <a:pPr marL="0" indent="0">
              <a:buNone/>
            </a:pPr>
            <a:r>
              <a:rPr lang="en-US" sz="2800" b="1" dirty="0">
                <a:solidFill>
                  <a:srgbClr val="0B1F33"/>
                </a:solidFill>
                <a:latin typeface="Cambria" pitchFamily="34" charset="0"/>
                <a:ea typeface="Cambria" pitchFamily="34" charset="-122"/>
                <a:cs typeface="Cambria" pitchFamily="34" charset="-120"/>
              </a:rPr>
              <a:t>2,827,977</a:t>
            </a:r>
            <a:endParaRPr lang="en-US" sz="2800" dirty="0"/>
          </a:p>
        </p:txBody>
      </p:sp>
      <p:sp>
        <p:nvSpPr>
          <p:cNvPr id="8" name="Text 5"/>
          <p:cNvSpPr txBox="1"/>
          <p:nvPr/>
        </p:nvSpPr>
        <p:spPr>
          <a:xfrm>
            <a:off x="548640" y="2350008"/>
            <a:ext cx="2103120" cy="457200"/>
          </a:xfrm>
          <a:prstGeom prst="rect">
            <a:avLst/>
          </a:prstGeom>
          <a:noFill/>
          <a:ln/>
        </p:spPr>
        <p:txBody>
          <a:bodyPr wrap="square" lIns="0" tIns="0" rIns="0" bIns="0" rtlCol="0" anchor="t"/>
          <a:lstStyle/>
          <a:p>
            <a:pPr marL="0" indent="0">
              <a:buNone/>
            </a:pPr>
            <a:r>
              <a:rPr lang="en-US" sz="1200" dirty="0">
                <a:solidFill>
                  <a:srgbClr val="5B6B7A"/>
                </a:solidFill>
                <a:latin typeface="Calibri" pitchFamily="34" charset="0"/>
                <a:ea typeface="Calibri" pitchFamily="34" charset="-122"/>
                <a:cs typeface="Calibri" pitchFamily="34" charset="-120"/>
              </a:rPr>
              <a:t>raw records</a:t>
            </a:r>
            <a:endParaRPr lang="en-US" sz="1200" dirty="0"/>
          </a:p>
        </p:txBody>
      </p:sp>
      <p:sp>
        <p:nvSpPr>
          <p:cNvPr id="9" name="Text 6"/>
          <p:cNvSpPr txBox="1"/>
          <p:nvPr/>
        </p:nvSpPr>
        <p:spPr>
          <a:xfrm>
            <a:off x="2788920" y="1691640"/>
            <a:ext cx="2103120" cy="640080"/>
          </a:xfrm>
          <a:prstGeom prst="rect">
            <a:avLst/>
          </a:prstGeom>
          <a:noFill/>
          <a:ln/>
        </p:spPr>
        <p:txBody>
          <a:bodyPr wrap="square" lIns="0" tIns="0" rIns="0" bIns="0" rtlCol="0" anchor="t"/>
          <a:lstStyle/>
          <a:p>
            <a:pPr marL="0" indent="0">
              <a:buNone/>
            </a:pPr>
            <a:r>
              <a:rPr lang="en-US" sz="2800" b="1" dirty="0">
                <a:solidFill>
                  <a:srgbClr val="0E7C86"/>
                </a:solidFill>
                <a:latin typeface="Cambria" pitchFamily="34" charset="0"/>
                <a:ea typeface="Cambria" pitchFamily="34" charset="-122"/>
                <a:cs typeface="Cambria" pitchFamily="34" charset="-120"/>
              </a:rPr>
              <a:t>2,819,617</a:t>
            </a:r>
            <a:endParaRPr lang="en-US" sz="2800" dirty="0"/>
          </a:p>
        </p:txBody>
      </p:sp>
      <p:sp>
        <p:nvSpPr>
          <p:cNvPr id="10" name="Text 7"/>
          <p:cNvSpPr txBox="1"/>
          <p:nvPr/>
        </p:nvSpPr>
        <p:spPr>
          <a:xfrm>
            <a:off x="2788920" y="2350008"/>
            <a:ext cx="2103120" cy="457200"/>
          </a:xfrm>
          <a:prstGeom prst="rect">
            <a:avLst/>
          </a:prstGeom>
          <a:noFill/>
          <a:ln/>
        </p:spPr>
        <p:txBody>
          <a:bodyPr wrap="square" lIns="0" tIns="0" rIns="0" bIns="0" rtlCol="0" anchor="t"/>
          <a:lstStyle/>
          <a:p>
            <a:pPr marL="0" indent="0">
              <a:buNone/>
            </a:pPr>
            <a:r>
              <a:rPr lang="en-US" sz="1200" dirty="0">
                <a:solidFill>
                  <a:srgbClr val="5B6B7A"/>
                </a:solidFill>
                <a:latin typeface="Calibri" pitchFamily="34" charset="0"/>
                <a:ea typeface="Calibri" pitchFamily="34" charset="-122"/>
                <a:cs typeface="Calibri" pitchFamily="34" charset="-120"/>
              </a:rPr>
              <a:t>clean records</a:t>
            </a:r>
            <a:endParaRPr lang="en-US" sz="1200" dirty="0"/>
          </a:p>
        </p:txBody>
      </p:sp>
      <p:sp>
        <p:nvSpPr>
          <p:cNvPr id="11" name="Text 8"/>
          <p:cNvSpPr txBox="1"/>
          <p:nvPr/>
        </p:nvSpPr>
        <p:spPr>
          <a:xfrm>
            <a:off x="5029200" y="1691640"/>
            <a:ext cx="2103120" cy="640080"/>
          </a:xfrm>
          <a:prstGeom prst="rect">
            <a:avLst/>
          </a:prstGeom>
          <a:noFill/>
          <a:ln/>
        </p:spPr>
        <p:txBody>
          <a:bodyPr wrap="square" lIns="0" tIns="0" rIns="0" bIns="0" rtlCol="0" anchor="t"/>
          <a:lstStyle/>
          <a:p>
            <a:pPr marL="0" indent="0">
              <a:buNone/>
            </a:pPr>
            <a:r>
              <a:rPr lang="en-US" sz="2800" b="1" dirty="0">
                <a:solidFill>
                  <a:srgbClr val="0B1F33"/>
                </a:solidFill>
                <a:latin typeface="Cambria" pitchFamily="34" charset="0"/>
                <a:ea typeface="Cambria" pitchFamily="34" charset="-122"/>
                <a:cs typeface="Cambria" pitchFamily="34" charset="-120"/>
              </a:rPr>
              <a:t>5</a:t>
            </a:r>
            <a:endParaRPr lang="en-US" sz="2800" dirty="0"/>
          </a:p>
        </p:txBody>
      </p:sp>
      <p:sp>
        <p:nvSpPr>
          <p:cNvPr id="12" name="Text 9"/>
          <p:cNvSpPr txBox="1"/>
          <p:nvPr/>
        </p:nvSpPr>
        <p:spPr>
          <a:xfrm>
            <a:off x="5029200" y="2350008"/>
            <a:ext cx="2103120" cy="457200"/>
          </a:xfrm>
          <a:prstGeom prst="rect">
            <a:avLst/>
          </a:prstGeom>
          <a:noFill/>
          <a:ln/>
        </p:spPr>
        <p:txBody>
          <a:bodyPr wrap="square" lIns="0" tIns="0" rIns="0" bIns="0" rtlCol="0" anchor="t"/>
          <a:lstStyle/>
          <a:p>
            <a:pPr marL="0" indent="0">
              <a:buNone/>
            </a:pPr>
            <a:r>
              <a:rPr lang="en-US" sz="1200" dirty="0">
                <a:solidFill>
                  <a:srgbClr val="5B6B7A"/>
                </a:solidFill>
                <a:latin typeface="Calibri" pitchFamily="34" charset="0"/>
                <a:ea typeface="Calibri" pitchFamily="34" charset="-122"/>
                <a:cs typeface="Calibri" pitchFamily="34" charset="-120"/>
              </a:rPr>
              <a:t>countries</a:t>
            </a:r>
            <a:endParaRPr lang="en-US" sz="1200" dirty="0"/>
          </a:p>
        </p:txBody>
      </p:sp>
      <p:sp>
        <p:nvSpPr>
          <p:cNvPr id="13" name="Text 10"/>
          <p:cNvSpPr txBox="1"/>
          <p:nvPr/>
        </p:nvSpPr>
        <p:spPr>
          <a:xfrm>
            <a:off x="7269480" y="1691640"/>
            <a:ext cx="2103120" cy="640080"/>
          </a:xfrm>
          <a:prstGeom prst="rect">
            <a:avLst/>
          </a:prstGeom>
          <a:noFill/>
          <a:ln/>
        </p:spPr>
        <p:txBody>
          <a:bodyPr wrap="square" lIns="0" tIns="0" rIns="0" bIns="0" rtlCol="0" anchor="t"/>
          <a:lstStyle/>
          <a:p>
            <a:pPr marL="0" indent="0">
              <a:buNone/>
            </a:pPr>
            <a:r>
              <a:rPr lang="en-US" sz="2800" b="1" dirty="0">
                <a:solidFill>
                  <a:srgbClr val="0B1F33"/>
                </a:solidFill>
                <a:latin typeface="Cambria" pitchFamily="34" charset="0"/>
                <a:ea typeface="Cambria" pitchFamily="34" charset="-122"/>
                <a:cs typeface="Cambria" pitchFamily="34" charset="-120"/>
              </a:rPr>
              <a:t>1940–2023</a:t>
            </a:r>
            <a:endParaRPr lang="en-US" sz="2800" dirty="0"/>
          </a:p>
        </p:txBody>
      </p:sp>
      <p:sp>
        <p:nvSpPr>
          <p:cNvPr id="14" name="Text 11"/>
          <p:cNvSpPr txBox="1"/>
          <p:nvPr/>
        </p:nvSpPr>
        <p:spPr>
          <a:xfrm>
            <a:off x="7269480" y="2350008"/>
            <a:ext cx="2103120" cy="457200"/>
          </a:xfrm>
          <a:prstGeom prst="rect">
            <a:avLst/>
          </a:prstGeom>
          <a:noFill/>
          <a:ln/>
        </p:spPr>
        <p:txBody>
          <a:bodyPr wrap="square" lIns="0" tIns="0" rIns="0" bIns="0" rtlCol="0" anchor="t"/>
          <a:lstStyle/>
          <a:p>
            <a:pPr marL="0" indent="0">
              <a:buNone/>
            </a:pPr>
            <a:r>
              <a:rPr lang="en-US" sz="1200" dirty="0">
                <a:solidFill>
                  <a:srgbClr val="5B6B7A"/>
                </a:solidFill>
                <a:latin typeface="Calibri" pitchFamily="34" charset="0"/>
                <a:ea typeface="Calibri" pitchFamily="34" charset="-122"/>
                <a:cs typeface="Calibri" pitchFamily="34" charset="-120"/>
              </a:rPr>
              <a:t>83 years</a:t>
            </a:r>
            <a:endParaRPr lang="en-US" sz="1200" dirty="0"/>
          </a:p>
        </p:txBody>
      </p:sp>
      <p:sp>
        <p:nvSpPr>
          <p:cNvPr id="15" name="Text 12"/>
          <p:cNvSpPr txBox="1"/>
          <p:nvPr/>
        </p:nvSpPr>
        <p:spPr>
          <a:xfrm>
            <a:off x="9509760" y="1691640"/>
            <a:ext cx="2103120" cy="640080"/>
          </a:xfrm>
          <a:prstGeom prst="rect">
            <a:avLst/>
          </a:prstGeom>
          <a:noFill/>
          <a:ln/>
        </p:spPr>
        <p:txBody>
          <a:bodyPr wrap="square" lIns="0" tIns="0" rIns="0" bIns="0" rtlCol="0" anchor="t"/>
          <a:lstStyle/>
          <a:p>
            <a:pPr marL="0" indent="0">
              <a:buNone/>
            </a:pPr>
            <a:r>
              <a:rPr lang="en-US" sz="2800" b="1" dirty="0">
                <a:solidFill>
                  <a:srgbClr val="0B1F33"/>
                </a:solidFill>
                <a:latin typeface="Cambria" pitchFamily="34" charset="0"/>
                <a:ea typeface="Cambria" pitchFamily="34" charset="-122"/>
                <a:cs typeface="Cambria" pitchFamily="34" charset="-120"/>
              </a:rPr>
              <a:t>38</a:t>
            </a:r>
            <a:endParaRPr lang="en-US" sz="2800" dirty="0"/>
          </a:p>
        </p:txBody>
      </p:sp>
      <p:sp>
        <p:nvSpPr>
          <p:cNvPr id="16" name="Text 13"/>
          <p:cNvSpPr txBox="1"/>
          <p:nvPr/>
        </p:nvSpPr>
        <p:spPr>
          <a:xfrm>
            <a:off x="9509760" y="2350008"/>
            <a:ext cx="2103120" cy="457200"/>
          </a:xfrm>
          <a:prstGeom prst="rect">
            <a:avLst/>
          </a:prstGeom>
          <a:noFill/>
          <a:ln/>
        </p:spPr>
        <p:txBody>
          <a:bodyPr wrap="square" lIns="0" tIns="0" rIns="0" bIns="0" rtlCol="0" anchor="t"/>
          <a:lstStyle/>
          <a:p>
            <a:pPr marL="0" indent="0">
              <a:buNone/>
            </a:pPr>
            <a:r>
              <a:rPr lang="en-US" sz="1200" dirty="0">
                <a:solidFill>
                  <a:srgbClr val="5B6B7A"/>
                </a:solidFill>
                <a:latin typeface="Calibri" pitchFamily="34" charset="0"/>
                <a:ea typeface="Calibri" pitchFamily="34" charset="-122"/>
                <a:cs typeface="Calibri" pitchFamily="34" charset="-120"/>
              </a:rPr>
              <a:t>model input features</a:t>
            </a:r>
            <a:endParaRPr lang="en-US" sz="1200" dirty="0"/>
          </a:p>
        </p:txBody>
      </p:sp>
      <p:graphicFrame>
        <p:nvGraphicFramePr>
          <p:cNvPr id="17" name="Chart 0"/>
          <p:cNvGraphicFramePr/>
          <p:nvPr/>
        </p:nvGraphicFramePr>
        <p:xfrm>
          <a:off x="548640" y="2926080"/>
          <a:ext cx="5394960" cy="3291840"/>
        </p:xfrm>
        <a:graphic>
          <a:graphicData uri="http://schemas.openxmlformats.org/drawingml/2006/chart">
            <c:chart xmlns:c="http://schemas.openxmlformats.org/drawingml/2006/chart" xmlns:r="http://schemas.openxmlformats.org/officeDocument/2006/relationships" r:id="rId3"/>
          </a:graphicData>
        </a:graphic>
      </p:graphicFrame>
      <p:pic>
        <p:nvPicPr>
          <p:cNvPr id="18" name="Image 0" descr="/home/claude/w/img2/03_EDA_temporal_coverage_1940_2023.png"/>
          <p:cNvPicPr>
            <a:picLocks noChangeAspect="1"/>
          </p:cNvPicPr>
          <p:nvPr/>
        </p:nvPicPr>
        <p:blipFill>
          <a:blip r:embed="rId4"/>
          <a:stretch>
            <a:fillRect/>
          </a:stretch>
        </p:blipFill>
        <p:spPr>
          <a:xfrm>
            <a:off x="6263640" y="2834640"/>
            <a:ext cx="5394960" cy="3447288"/>
          </a:xfrm>
          <a:prstGeom prst="rect">
            <a:avLst/>
          </a:prstGeom>
        </p:spPr>
      </p:pic>
      <p:sp>
        <p:nvSpPr>
          <p:cNvPr id="19" name="Text 14"/>
          <p:cNvSpPr txBox="1"/>
          <p:nvPr/>
        </p:nvSpPr>
        <p:spPr>
          <a:xfrm>
            <a:off x="6263640" y="6291072"/>
            <a:ext cx="5394960" cy="182880"/>
          </a:xfrm>
          <a:prstGeom prst="rect">
            <a:avLst/>
          </a:prstGeom>
          <a:noFill/>
          <a:ln/>
        </p:spPr>
        <p:txBody>
          <a:bodyPr wrap="square" lIns="0" tIns="0" rIns="0" bIns="0" rtlCol="0" anchor="t"/>
          <a:lstStyle/>
          <a:p>
            <a:pPr marL="0" indent="0">
              <a:buNone/>
            </a:pPr>
            <a:r>
              <a:rPr lang="en-US" sz="1000" dirty="0">
                <a:solidFill>
                  <a:srgbClr val="5B6B7A"/>
                </a:solidFill>
                <a:latin typeface="Calibri" pitchFamily="34" charset="0"/>
                <a:ea typeface="Calibri" pitchFamily="34" charset="-122"/>
                <a:cs typeface="Calibri" pitchFamily="34" charset="-120"/>
              </a:rPr>
              <a:t>Records per year (repo graph 03): coverage is sparse before ≈2000</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marL="0" indent="0">
              <a:buNone/>
            </a:pPr>
            <a:r>
              <a:rPr lang="en-US" sz="1200" b="1" kern="0" spc="300" dirty="0">
                <a:solidFill>
                  <a:srgbClr val="0E7C86"/>
                </a:solidFill>
                <a:latin typeface="Calibri" pitchFamily="34" charset="0"/>
                <a:ea typeface="Calibri" pitchFamily="34" charset="-122"/>
                <a:cs typeface="Calibri" pitchFamily="34" charset="-120"/>
              </a:rPr>
              <a:t>DATA AUDIT AND PHYSICAL-BOUND SCREENING</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marL="0" indent="0">
              <a:buNone/>
            </a:pPr>
            <a:r>
              <a:rPr lang="en-US" sz="3000" b="1" dirty="0">
                <a:solidFill>
                  <a:srgbClr val="0B1F33"/>
                </a:solidFill>
                <a:latin typeface="Cambria" pitchFamily="34" charset="0"/>
                <a:ea typeface="Cambria" pitchFamily="34" charset="-122"/>
                <a:cs typeface="Cambria" pitchFamily="34" charset="-120"/>
              </a:rPr>
              <a:t>8,360 impossible readings removed from a dataset with zero nulls</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marL="0" indent="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marL="0" indent="0" algn="r">
              <a:buNone/>
            </a:pPr>
            <a:r>
              <a:rPr lang="en-US" sz="1000" dirty="0">
                <a:solidFill>
                  <a:srgbClr val="5B6B7A"/>
                </a:solidFill>
                <a:latin typeface="Calibri" pitchFamily="34" charset="0"/>
                <a:ea typeface="Calibri" pitchFamily="34" charset="-122"/>
                <a:cs typeface="Calibri" pitchFamily="34" charset="-120"/>
              </a:rPr>
              <a:t>5</a:t>
            </a:r>
            <a:endParaRPr lang="en-US" sz="1000" dirty="0"/>
          </a:p>
        </p:txBody>
      </p:sp>
      <p:sp>
        <p:nvSpPr>
          <p:cNvPr id="7" name="Shape 4"/>
          <p:cNvSpPr/>
          <p:nvPr/>
        </p:nvSpPr>
        <p:spPr>
          <a:xfrm>
            <a:off x="548640" y="1783080"/>
            <a:ext cx="4206240" cy="566928"/>
          </a:xfrm>
          <a:prstGeom prst="rect">
            <a:avLst/>
          </a:prstGeom>
          <a:solidFill>
            <a:srgbClr val="0B1F33"/>
          </a:solidFill>
          <a:ln w="12700">
            <a:solidFill>
              <a:srgbClr val="0B1F33"/>
            </a:solidFill>
            <a:prstDash val="solid"/>
          </a:ln>
        </p:spPr>
        <p:txBody>
          <a:bodyPr/>
          <a:lstStyle/>
          <a:p>
            <a:endParaRPr lang="en-US"/>
          </a:p>
        </p:txBody>
      </p:sp>
      <p:sp>
        <p:nvSpPr>
          <p:cNvPr id="8" name="Text 5"/>
          <p:cNvSpPr txBox="1"/>
          <p:nvPr/>
        </p:nvSpPr>
        <p:spPr>
          <a:xfrm>
            <a:off x="548640" y="2368296"/>
            <a:ext cx="4572000" cy="256032"/>
          </a:xfrm>
          <a:prstGeom prst="rect">
            <a:avLst/>
          </a:prstGeom>
          <a:noFill/>
          <a:ln/>
        </p:spPr>
        <p:txBody>
          <a:bodyPr wrap="square" lIns="0" tIns="0" rIns="0" bIns="0" rtlCol="0" anchor="t"/>
          <a:lstStyle/>
          <a:p>
            <a:pPr marL="0" indent="0">
              <a:buNone/>
            </a:pPr>
            <a:r>
              <a:rPr lang="en-US" sz="1200" dirty="0">
                <a:solidFill>
                  <a:srgbClr val="5B6B7A"/>
                </a:solidFill>
                <a:latin typeface="Calibri" pitchFamily="34" charset="0"/>
                <a:ea typeface="Calibri" pitchFamily="34" charset="-122"/>
                <a:cs typeface="Calibri" pitchFamily="34" charset="-120"/>
              </a:rPr>
              <a:t>Raw records</a:t>
            </a:r>
            <a:endParaRPr lang="en-US" sz="1200" dirty="0"/>
          </a:p>
        </p:txBody>
      </p:sp>
      <p:sp>
        <p:nvSpPr>
          <p:cNvPr id="9" name="Text 6"/>
          <p:cNvSpPr txBox="1"/>
          <p:nvPr/>
        </p:nvSpPr>
        <p:spPr>
          <a:xfrm>
            <a:off x="4937760" y="1783080"/>
            <a:ext cx="2377440" cy="566928"/>
          </a:xfrm>
          <a:prstGeom prst="rect">
            <a:avLst/>
          </a:prstGeom>
          <a:noFill/>
          <a:ln/>
        </p:spPr>
        <p:txBody>
          <a:bodyPr wrap="square" lIns="0" tIns="0" rIns="0" bIns="0" rtlCol="0" anchor="ctr"/>
          <a:lstStyle/>
          <a:p>
            <a:pPr marL="0" indent="0">
              <a:buNone/>
            </a:pPr>
            <a:r>
              <a:rPr lang="en-US" sz="1600" b="1" dirty="0">
                <a:solidFill>
                  <a:srgbClr val="0B1F33"/>
                </a:solidFill>
                <a:latin typeface="Calibri" pitchFamily="34" charset="0"/>
                <a:ea typeface="Calibri" pitchFamily="34" charset="-122"/>
                <a:cs typeface="Calibri" pitchFamily="34" charset="-120"/>
              </a:rPr>
              <a:t>2,827,977</a:t>
            </a:r>
            <a:endParaRPr lang="en-US" sz="1600" dirty="0"/>
          </a:p>
        </p:txBody>
      </p:sp>
      <p:sp>
        <p:nvSpPr>
          <p:cNvPr id="10" name="Shape 7"/>
          <p:cNvSpPr/>
          <p:nvPr/>
        </p:nvSpPr>
        <p:spPr>
          <a:xfrm>
            <a:off x="548640" y="2651760"/>
            <a:ext cx="274320" cy="566928"/>
          </a:xfrm>
          <a:prstGeom prst="rect">
            <a:avLst/>
          </a:prstGeom>
          <a:solidFill>
            <a:srgbClr val="B5483A"/>
          </a:solidFill>
          <a:ln w="12700">
            <a:solidFill>
              <a:srgbClr val="B5483A"/>
            </a:solidFill>
            <a:prstDash val="solid"/>
          </a:ln>
        </p:spPr>
        <p:txBody>
          <a:bodyPr/>
          <a:lstStyle/>
          <a:p>
            <a:endParaRPr lang="en-US"/>
          </a:p>
        </p:txBody>
      </p:sp>
      <p:sp>
        <p:nvSpPr>
          <p:cNvPr id="11" name="Text 8"/>
          <p:cNvSpPr txBox="1"/>
          <p:nvPr/>
        </p:nvSpPr>
        <p:spPr>
          <a:xfrm>
            <a:off x="548640" y="3236976"/>
            <a:ext cx="4572000" cy="256032"/>
          </a:xfrm>
          <a:prstGeom prst="rect">
            <a:avLst/>
          </a:prstGeom>
          <a:noFill/>
          <a:ln/>
        </p:spPr>
        <p:txBody>
          <a:bodyPr wrap="square" lIns="0" tIns="0" rIns="0" bIns="0" rtlCol="0" anchor="t"/>
          <a:lstStyle/>
          <a:p>
            <a:pPr marL="0" indent="0">
              <a:buNone/>
            </a:pPr>
            <a:r>
              <a:rPr lang="en-US" sz="1200" dirty="0">
                <a:solidFill>
                  <a:srgbClr val="5B6B7A"/>
                </a:solidFill>
                <a:latin typeface="Calibri" pitchFamily="34" charset="0"/>
                <a:ea typeface="Calibri" pitchFamily="34" charset="-122"/>
                <a:cs typeface="Calibri" pitchFamily="34" charset="-120"/>
              </a:rPr>
              <a:t>Removed by physical bounds</a:t>
            </a:r>
            <a:endParaRPr lang="en-US" sz="1200" dirty="0"/>
          </a:p>
        </p:txBody>
      </p:sp>
      <p:sp>
        <p:nvSpPr>
          <p:cNvPr id="12" name="Text 9"/>
          <p:cNvSpPr txBox="1"/>
          <p:nvPr/>
        </p:nvSpPr>
        <p:spPr>
          <a:xfrm>
            <a:off x="1005840" y="2651760"/>
            <a:ext cx="2377440" cy="566928"/>
          </a:xfrm>
          <a:prstGeom prst="rect">
            <a:avLst/>
          </a:prstGeom>
          <a:noFill/>
          <a:ln/>
        </p:spPr>
        <p:txBody>
          <a:bodyPr wrap="square" lIns="0" tIns="0" rIns="0" bIns="0" rtlCol="0" anchor="ctr"/>
          <a:lstStyle/>
          <a:p>
            <a:pPr marL="0" indent="0">
              <a:buNone/>
            </a:pPr>
            <a:r>
              <a:rPr lang="en-US" sz="1600" b="1" dirty="0">
                <a:solidFill>
                  <a:srgbClr val="B5483A"/>
                </a:solidFill>
                <a:latin typeface="Calibri" pitchFamily="34" charset="0"/>
                <a:ea typeface="Calibri" pitchFamily="34" charset="-122"/>
                <a:cs typeface="Calibri" pitchFamily="34" charset="-120"/>
              </a:rPr>
              <a:t>−8,360 (0.296%)</a:t>
            </a:r>
            <a:endParaRPr lang="en-US" sz="1600" dirty="0"/>
          </a:p>
        </p:txBody>
      </p:sp>
      <p:sp>
        <p:nvSpPr>
          <p:cNvPr id="13" name="Shape 10"/>
          <p:cNvSpPr/>
          <p:nvPr/>
        </p:nvSpPr>
        <p:spPr>
          <a:xfrm>
            <a:off x="548640" y="3520440"/>
            <a:ext cx="4160520" cy="566928"/>
          </a:xfrm>
          <a:prstGeom prst="rect">
            <a:avLst/>
          </a:prstGeom>
          <a:solidFill>
            <a:srgbClr val="0E7C86"/>
          </a:solidFill>
          <a:ln w="12700">
            <a:solidFill>
              <a:srgbClr val="0E7C86"/>
            </a:solidFill>
            <a:prstDash val="solid"/>
          </a:ln>
        </p:spPr>
        <p:txBody>
          <a:bodyPr/>
          <a:lstStyle/>
          <a:p>
            <a:endParaRPr lang="en-US"/>
          </a:p>
        </p:txBody>
      </p:sp>
      <p:sp>
        <p:nvSpPr>
          <p:cNvPr id="14" name="Text 11"/>
          <p:cNvSpPr txBox="1"/>
          <p:nvPr/>
        </p:nvSpPr>
        <p:spPr>
          <a:xfrm>
            <a:off x="548640" y="4105656"/>
            <a:ext cx="4572000" cy="256032"/>
          </a:xfrm>
          <a:prstGeom prst="rect">
            <a:avLst/>
          </a:prstGeom>
          <a:noFill/>
          <a:ln/>
        </p:spPr>
        <p:txBody>
          <a:bodyPr wrap="square" lIns="0" tIns="0" rIns="0" bIns="0" rtlCol="0" anchor="t"/>
          <a:lstStyle/>
          <a:p>
            <a:pPr marL="0" indent="0">
              <a:buNone/>
            </a:pPr>
            <a:r>
              <a:rPr lang="en-US" sz="1200" dirty="0">
                <a:solidFill>
                  <a:srgbClr val="5B6B7A"/>
                </a:solidFill>
                <a:latin typeface="Calibri" pitchFamily="34" charset="0"/>
                <a:ea typeface="Calibri" pitchFamily="34" charset="-122"/>
                <a:cs typeface="Calibri" pitchFamily="34" charset="-120"/>
              </a:rPr>
              <a:t>Clean records</a:t>
            </a:r>
            <a:endParaRPr lang="en-US" sz="1200" dirty="0"/>
          </a:p>
        </p:txBody>
      </p:sp>
      <p:sp>
        <p:nvSpPr>
          <p:cNvPr id="15" name="Text 12"/>
          <p:cNvSpPr txBox="1"/>
          <p:nvPr/>
        </p:nvSpPr>
        <p:spPr>
          <a:xfrm>
            <a:off x="4892040" y="3520440"/>
            <a:ext cx="2377440" cy="566928"/>
          </a:xfrm>
          <a:prstGeom prst="rect">
            <a:avLst/>
          </a:prstGeom>
          <a:noFill/>
          <a:ln/>
        </p:spPr>
        <p:txBody>
          <a:bodyPr wrap="square" lIns="0" tIns="0" rIns="0" bIns="0" rtlCol="0" anchor="ctr"/>
          <a:lstStyle/>
          <a:p>
            <a:pPr marL="0" indent="0">
              <a:buNone/>
            </a:pPr>
            <a:r>
              <a:rPr lang="en-US" sz="1600" b="1" dirty="0">
                <a:solidFill>
                  <a:srgbClr val="0B1F33"/>
                </a:solidFill>
                <a:latin typeface="Calibri" pitchFamily="34" charset="0"/>
                <a:ea typeface="Calibri" pitchFamily="34" charset="-122"/>
                <a:cs typeface="Calibri" pitchFamily="34" charset="-120"/>
              </a:rPr>
              <a:t>2,819,617 (99.704%)</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589520" y="1783080"/>
          <a:ext cx="4050792" cy="914400"/>
        </p:xfrm>
        <a:graphic>
          <a:graphicData uri="http://schemas.openxmlformats.org/drawingml/2006/table">
            <a:tbl>
              <a:tblPr/>
              <a:tblGrid>
                <a:gridCol w="1828800">
                  <a:extLst>
                    <a:ext uri="{9D8B030D-6E8A-4147-A177-3AD203B41FA5}">
                      <a16:colId xmlns:a16="http://schemas.microsoft.com/office/drawing/2014/main" val="20000"/>
                    </a:ext>
                  </a:extLst>
                </a:gridCol>
                <a:gridCol w="1170432">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Parameter</a:t>
                      </a:r>
                      <a:endParaRPr lang="en-US" sz="13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0B1F33"/>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Valid range</a:t>
                      </a:r>
                      <a:endParaRPr lang="en-US" sz="13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0B1F33"/>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Violations</a:t>
                      </a:r>
                      <a:endParaRPr lang="en-US" sz="13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384048">
                <a:tc>
                  <a:txBody>
                    <a:bodyPr/>
                    <a:lstStyle/>
                    <a:p>
                      <a:pPr marL="0" indent="0">
                        <a:buNone/>
                      </a:pPr>
                      <a:r>
                        <a:rPr lang="en-US" sz="1300" dirty="0">
                          <a:solidFill>
                            <a:srgbClr val="12202E"/>
                          </a:solidFill>
                          <a:latin typeface="Calibri" pitchFamily="34" charset="0"/>
                          <a:ea typeface="Calibri" pitchFamily="34" charset="-122"/>
                          <a:cs typeface="Calibri" pitchFamily="34" charset="-120"/>
                        </a:rPr>
                        <a:t>pH</a:t>
                      </a:r>
                      <a:endParaRPr lang="en-US" sz="13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marL="0" indent="0">
                        <a:buNone/>
                      </a:pPr>
                      <a:r>
                        <a:rPr lang="en-US" sz="1300" dirty="0">
                          <a:solidFill>
                            <a:srgbClr val="12202E"/>
                          </a:solidFill>
                          <a:latin typeface="Calibri" pitchFamily="34" charset="0"/>
                          <a:ea typeface="Calibri" pitchFamily="34" charset="-122"/>
                          <a:cs typeface="Calibri" pitchFamily="34" charset="-120"/>
                        </a:rPr>
                        <a:t>3.0 – 12.0</a:t>
                      </a:r>
                      <a:endParaRPr lang="en-US" sz="13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marL="0" indent="0">
                        <a:buNone/>
                      </a:pPr>
                      <a:r>
                        <a:rPr lang="en-US" sz="1300" dirty="0">
                          <a:solidFill>
                            <a:srgbClr val="12202E"/>
                          </a:solidFill>
                          <a:latin typeface="Calibri" pitchFamily="34" charset="0"/>
                          <a:ea typeface="Calibri" pitchFamily="34" charset="-122"/>
                          <a:cs typeface="Calibri" pitchFamily="34" charset="-120"/>
                        </a:rPr>
                        <a:t>1,581</a:t>
                      </a:r>
                      <a:endParaRPr lang="en-US" sz="13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300" dirty="0">
                          <a:solidFill>
                            <a:srgbClr val="12202E"/>
                          </a:solidFill>
                          <a:latin typeface="Calibri" pitchFamily="34" charset="0"/>
                          <a:ea typeface="Calibri" pitchFamily="34" charset="-122"/>
                          <a:cs typeface="Calibri" pitchFamily="34" charset="-120"/>
                        </a:rPr>
                        <a:t>Temperature (°C)</a:t>
                      </a:r>
                      <a:endParaRPr lang="en-US" sz="13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c>
                  <a:txBody>
                    <a:bodyPr/>
                    <a:lstStyle/>
                    <a:p>
                      <a:pPr marL="0" indent="0">
                        <a:buNone/>
                      </a:pPr>
                      <a:r>
                        <a:rPr lang="en-US" sz="1300" dirty="0">
                          <a:solidFill>
                            <a:srgbClr val="12202E"/>
                          </a:solidFill>
                          <a:latin typeface="Calibri" pitchFamily="34" charset="0"/>
                          <a:ea typeface="Calibri" pitchFamily="34" charset="-122"/>
                          <a:cs typeface="Calibri" pitchFamily="34" charset="-120"/>
                        </a:rPr>
                        <a:t>0 – 45</a:t>
                      </a:r>
                      <a:endParaRPr lang="en-US" sz="13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c>
                  <a:txBody>
                    <a:bodyPr/>
                    <a:lstStyle/>
                    <a:p>
                      <a:pPr marL="0" indent="0">
                        <a:buNone/>
                      </a:pPr>
                      <a:r>
                        <a:rPr lang="en-US" sz="1300" dirty="0">
                          <a:solidFill>
                            <a:srgbClr val="12202E"/>
                          </a:solidFill>
                          <a:latin typeface="Calibri" pitchFamily="34" charset="0"/>
                          <a:ea typeface="Calibri" pitchFamily="34" charset="-122"/>
                          <a:cs typeface="Calibri" pitchFamily="34" charset="-120"/>
                        </a:rPr>
                        <a:t>6,850</a:t>
                      </a:r>
                      <a:endParaRPr lang="en-US" sz="13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extLst>
                  <a:ext uri="{0D108BD9-81ED-4DB2-BD59-A6C34878D82A}">
                    <a16:rowId xmlns:a16="http://schemas.microsoft.com/office/drawing/2014/main" val="10002"/>
                  </a:ext>
                </a:extLst>
              </a:tr>
              <a:tr h="384048">
                <a:tc>
                  <a:txBody>
                    <a:bodyPr/>
                    <a:lstStyle/>
                    <a:p>
                      <a:pPr marL="0" indent="0">
                        <a:buNone/>
                      </a:pPr>
                      <a:r>
                        <a:rPr lang="en-US" sz="1300" dirty="0">
                          <a:solidFill>
                            <a:srgbClr val="12202E"/>
                          </a:solidFill>
                          <a:latin typeface="Calibri" pitchFamily="34" charset="0"/>
                          <a:ea typeface="Calibri" pitchFamily="34" charset="-122"/>
                          <a:cs typeface="Calibri" pitchFamily="34" charset="-120"/>
                        </a:rPr>
                        <a:t>Dissolved O₂ (mg/L)</a:t>
                      </a:r>
                      <a:endParaRPr lang="en-US" sz="13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marL="0" indent="0">
                        <a:buNone/>
                      </a:pPr>
                      <a:r>
                        <a:rPr lang="en-US" sz="1300" dirty="0">
                          <a:solidFill>
                            <a:srgbClr val="12202E"/>
                          </a:solidFill>
                          <a:latin typeface="Calibri" pitchFamily="34" charset="0"/>
                          <a:ea typeface="Calibri" pitchFamily="34" charset="-122"/>
                          <a:cs typeface="Calibri" pitchFamily="34" charset="-120"/>
                        </a:rPr>
                        <a:t>0 – 25</a:t>
                      </a:r>
                      <a:endParaRPr lang="en-US" sz="13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marL="0" indent="0">
                        <a:buNone/>
                      </a:pPr>
                      <a:r>
                        <a:rPr lang="en-US" sz="1300" dirty="0">
                          <a:solidFill>
                            <a:srgbClr val="12202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300" dirty="0">
                          <a:solidFill>
                            <a:srgbClr val="12202E"/>
                          </a:solidFill>
                          <a:latin typeface="Calibri" pitchFamily="34" charset="0"/>
                          <a:ea typeface="Calibri" pitchFamily="34" charset="-122"/>
                          <a:cs typeface="Calibri" pitchFamily="34" charset="-120"/>
                        </a:rPr>
                        <a:t>Ammonia / BOD (mg/L)</a:t>
                      </a:r>
                      <a:endParaRPr lang="en-US" sz="13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c>
                  <a:txBody>
                    <a:bodyPr/>
                    <a:lstStyle/>
                    <a:p>
                      <a:pPr marL="0" indent="0">
                        <a:buNone/>
                      </a:pPr>
                      <a:r>
                        <a:rPr lang="en-US" sz="1300" dirty="0">
                          <a:solidFill>
                            <a:srgbClr val="12202E"/>
                          </a:solidFill>
                          <a:latin typeface="Calibri" pitchFamily="34" charset="0"/>
                          <a:ea typeface="Calibri" pitchFamily="34" charset="-122"/>
                          <a:cs typeface="Calibri" pitchFamily="34" charset="-120"/>
                        </a:rPr>
                        <a:t>≥ 0</a:t>
                      </a:r>
                      <a:endParaRPr lang="en-US" sz="13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c>
                  <a:txBody>
                    <a:bodyPr/>
                    <a:lstStyle/>
                    <a:p>
                      <a:pPr marL="0" indent="0">
                        <a:buNone/>
                      </a:pPr>
                      <a:r>
                        <a:rPr lang="en-US" sz="1300" dirty="0">
                          <a:solidFill>
                            <a:srgbClr val="12202E"/>
                          </a:solidFill>
                          <a:latin typeface="Calibri" pitchFamily="34" charset="0"/>
                          <a:ea typeface="Calibri" pitchFamily="34" charset="-122"/>
                          <a:cs typeface="Calibri" pitchFamily="34" charset="-120"/>
                        </a:rPr>
                        <a:t>2 / 2</a:t>
                      </a:r>
                      <a:endParaRPr lang="en-US" sz="13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extLst>
                  <a:ext uri="{0D108BD9-81ED-4DB2-BD59-A6C34878D82A}">
                    <a16:rowId xmlns:a16="http://schemas.microsoft.com/office/drawing/2014/main" val="10004"/>
                  </a:ext>
                </a:extLst>
              </a:tr>
              <a:tr h="384048">
                <a:tc>
                  <a:txBody>
                    <a:bodyPr/>
                    <a:lstStyle/>
                    <a:p>
                      <a:pPr marL="0" indent="0">
                        <a:buNone/>
                      </a:pPr>
                      <a:r>
                        <a:rPr lang="en-US" sz="1300" dirty="0">
                          <a:solidFill>
                            <a:srgbClr val="12202E"/>
                          </a:solidFill>
                          <a:latin typeface="Calibri" pitchFamily="34" charset="0"/>
                          <a:ea typeface="Calibri" pitchFamily="34" charset="-122"/>
                          <a:cs typeface="Calibri" pitchFamily="34" charset="-120"/>
                        </a:rPr>
                        <a:t>Orthophosphate (mg/L)</a:t>
                      </a:r>
                      <a:endParaRPr lang="en-US" sz="13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marL="0" indent="0">
                        <a:buNone/>
                      </a:pPr>
                      <a:r>
                        <a:rPr lang="en-US" sz="1300" dirty="0">
                          <a:solidFill>
                            <a:srgbClr val="12202E"/>
                          </a:solidFill>
                          <a:latin typeface="Calibri" pitchFamily="34" charset="0"/>
                          <a:ea typeface="Calibri" pitchFamily="34" charset="-122"/>
                          <a:cs typeface="Calibri" pitchFamily="34" charset="-120"/>
                        </a:rPr>
                        <a:t>≥ 0</a:t>
                      </a:r>
                      <a:endParaRPr lang="en-US" sz="13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marL="0" indent="0">
                        <a:buNone/>
                      </a:pPr>
                      <a:r>
                        <a:rPr lang="en-US" sz="1300" dirty="0">
                          <a:solidFill>
                            <a:srgbClr val="12202E"/>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buNone/>
                      </a:pPr>
                      <a:r>
                        <a:rPr lang="en-US" sz="1300" dirty="0">
                          <a:solidFill>
                            <a:srgbClr val="12202E"/>
                          </a:solidFill>
                          <a:latin typeface="Calibri" pitchFamily="34" charset="0"/>
                          <a:ea typeface="Calibri" pitchFamily="34" charset="-122"/>
                          <a:cs typeface="Calibri" pitchFamily="34" charset="-120"/>
                        </a:rPr>
                        <a:t>Nitrogen / nitrate</a:t>
                      </a:r>
                      <a:endParaRPr lang="en-US" sz="13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c>
                  <a:txBody>
                    <a:bodyPr/>
                    <a:lstStyle/>
                    <a:p>
                      <a:pPr marL="0" indent="0">
                        <a:buNone/>
                      </a:pPr>
                      <a:r>
                        <a:rPr lang="en-US" sz="1300" dirty="0">
                          <a:solidFill>
                            <a:srgbClr val="12202E"/>
                          </a:solidFill>
                          <a:latin typeface="Calibri" pitchFamily="34" charset="0"/>
                          <a:ea typeface="Calibri" pitchFamily="34" charset="-122"/>
                          <a:cs typeface="Calibri" pitchFamily="34" charset="-120"/>
                        </a:rPr>
                        <a:t>≥ 0</a:t>
                      </a:r>
                      <a:endParaRPr lang="en-US" sz="13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c>
                  <a:txBody>
                    <a:bodyPr/>
                    <a:lstStyle/>
                    <a:p>
                      <a:pPr marL="0" indent="0">
                        <a:buNone/>
                      </a:pPr>
                      <a:r>
                        <a:rPr lang="en-US" sz="1300" dirty="0">
                          <a:solidFill>
                            <a:srgbClr val="12202E"/>
                          </a:solidFill>
                          <a:latin typeface="Calibri" pitchFamily="34" charset="0"/>
                          <a:ea typeface="Calibri" pitchFamily="34" charset="-122"/>
                          <a:cs typeface="Calibri" pitchFamily="34" charset="-120"/>
                        </a:rPr>
                        <a:t>0 / 0</a:t>
                      </a:r>
                      <a:endParaRPr lang="en-US" sz="13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extLst>
                  <a:ext uri="{0D108BD9-81ED-4DB2-BD59-A6C34878D82A}">
                    <a16:rowId xmlns:a16="http://schemas.microsoft.com/office/drawing/2014/main" val="10006"/>
                  </a:ext>
                </a:extLst>
              </a:tr>
            </a:tbl>
          </a:graphicData>
        </a:graphic>
      </p:graphicFrame>
      <p:sp>
        <p:nvSpPr>
          <p:cNvPr id="17" name="Text 13"/>
          <p:cNvSpPr txBox="1"/>
          <p:nvPr/>
        </p:nvSpPr>
        <p:spPr>
          <a:xfrm>
            <a:off x="7589520" y="4572000"/>
            <a:ext cx="4050792" cy="548640"/>
          </a:xfrm>
          <a:prstGeom prst="rect">
            <a:avLst/>
          </a:prstGeom>
          <a:noFill/>
          <a:ln/>
        </p:spPr>
        <p:txBody>
          <a:bodyPr wrap="square" lIns="0" tIns="0" rIns="0" bIns="0" rtlCol="0" anchor="t"/>
          <a:lstStyle/>
          <a:p>
            <a:pPr marL="0" indent="0">
              <a:buNone/>
            </a:pPr>
            <a:r>
              <a:rPr lang="en-US" sz="1200" dirty="0">
                <a:solidFill>
                  <a:srgbClr val="5B6B7A"/>
                </a:solidFill>
                <a:latin typeface="Calibri" pitchFamily="34" charset="0"/>
                <a:ea typeface="Calibri" pitchFamily="34" charset="-122"/>
                <a:cs typeface="Calibri" pitchFamily="34" charset="-120"/>
              </a:rPr>
              <a:t>Counts overlap; 8,360 is the unique union of violating rows (executed EDA notebook).</a:t>
            </a:r>
            <a:endParaRPr lang="en-US" sz="1200" dirty="0"/>
          </a:p>
        </p:txBody>
      </p:sp>
      <p:sp>
        <p:nvSpPr>
          <p:cNvPr id="18" name="Shape 14"/>
          <p:cNvSpPr/>
          <p:nvPr/>
        </p:nvSpPr>
        <p:spPr>
          <a:xfrm>
            <a:off x="548640" y="4434840"/>
            <a:ext cx="6675120" cy="1371600"/>
          </a:xfrm>
          <a:prstGeom prst="rect">
            <a:avLst/>
          </a:prstGeom>
          <a:solidFill>
            <a:srgbClr val="EAF4F6"/>
          </a:solidFill>
          <a:ln w="12700">
            <a:solidFill>
              <a:srgbClr val="EAF4F6"/>
            </a:solidFill>
            <a:prstDash val="solid"/>
          </a:ln>
        </p:spPr>
        <p:txBody>
          <a:bodyPr/>
          <a:lstStyle/>
          <a:p>
            <a:endParaRPr lang="en-US"/>
          </a:p>
        </p:txBody>
      </p:sp>
      <p:sp>
        <p:nvSpPr>
          <p:cNvPr id="19" name="Text 15"/>
          <p:cNvSpPr txBox="1"/>
          <p:nvPr/>
        </p:nvSpPr>
        <p:spPr>
          <a:xfrm>
            <a:off x="777240" y="4526280"/>
            <a:ext cx="6263640" cy="1188720"/>
          </a:xfrm>
          <a:prstGeom prst="rect">
            <a:avLst/>
          </a:prstGeom>
          <a:noFill/>
          <a:ln/>
        </p:spPr>
        <p:txBody>
          <a:bodyPr wrap="square" lIns="0" tIns="0" rIns="0" bIns="0" rtlCol="0" anchor="ctr"/>
          <a:lstStyle/>
          <a:p>
            <a:pPr marL="0" indent="0">
              <a:buNone/>
            </a:pPr>
            <a:r>
              <a:rPr lang="en-US" sz="1500" b="1" dirty="0">
                <a:solidFill>
                  <a:srgbClr val="0E7C86"/>
                </a:solidFill>
                <a:latin typeface="Calibri" pitchFamily="34" charset="0"/>
                <a:ea typeface="Calibri" pitchFamily="34" charset="-122"/>
                <a:cs typeface="Calibri" pitchFamily="34" charset="-120"/>
              </a:rPr>
              <a:t>Missing vs implausible. </a:t>
            </a:r>
            <a:r>
              <a:rPr lang="en-US" sz="1500" dirty="0">
                <a:solidFill>
                  <a:srgbClr val="12202E"/>
                </a:solidFill>
                <a:latin typeface="Calibri" pitchFamily="34" charset="0"/>
                <a:ea typeface="Calibri" pitchFamily="34" charset="-122"/>
                <a:cs typeface="Calibri" pitchFamily="34" charset="-120"/>
              </a:rPr>
              <a:t>The dataset has zero null values, so no imputation was needed. Screening removes impossible readings (negative or out-of-range values), not gaps.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marL="0" indent="0">
              <a:buNone/>
            </a:pPr>
            <a:r>
              <a:rPr lang="en-US" sz="1200" b="1" kern="0" spc="300" dirty="0">
                <a:solidFill>
                  <a:srgbClr val="0E7C86"/>
                </a:solidFill>
                <a:latin typeface="Calibri" pitchFamily="34" charset="0"/>
                <a:ea typeface="Calibri" pitchFamily="34" charset="-122"/>
                <a:cs typeface="Calibri" pitchFamily="34" charset="-120"/>
              </a:rPr>
              <a:t>EXPLORATORY FINDINGS</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marL="0" indent="0">
              <a:buNone/>
            </a:pPr>
            <a:r>
              <a:rPr lang="en-US" sz="3000" b="1" dirty="0">
                <a:solidFill>
                  <a:srgbClr val="0B1F33"/>
                </a:solidFill>
                <a:latin typeface="Cambria" pitchFamily="34" charset="0"/>
                <a:ea typeface="Cambria" pitchFamily="34" charset="-122"/>
                <a:cs typeface="Cambria" pitchFamily="34" charset="-120"/>
              </a:rPr>
              <a:t>Oxygen follows temperature; nutrients are heavily skewed, and log(1+x) straightens them</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marL="0" indent="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marL="0" indent="0" algn="r">
              <a:buNone/>
            </a:pPr>
            <a:r>
              <a:rPr lang="en-US" sz="1000" dirty="0">
                <a:solidFill>
                  <a:srgbClr val="5B6B7A"/>
                </a:solidFill>
                <a:latin typeface="Calibri" pitchFamily="34" charset="0"/>
                <a:ea typeface="Calibri" pitchFamily="34" charset="-122"/>
                <a:cs typeface="Calibri" pitchFamily="34" charset="-120"/>
              </a:rPr>
              <a:t>6</a:t>
            </a:r>
            <a:endParaRPr lang="en-US" sz="1000" dirty="0"/>
          </a:p>
        </p:txBody>
      </p:sp>
      <p:pic>
        <p:nvPicPr>
          <p:cNvPr id="7" name="Image 0" descr="/home/claude/w/img2/07_EDA_do_temperature_saturation.png"/>
          <p:cNvPicPr>
            <a:picLocks noChangeAspect="1"/>
          </p:cNvPicPr>
          <p:nvPr/>
        </p:nvPicPr>
        <p:blipFill>
          <a:blip r:embed="rId3"/>
          <a:stretch>
            <a:fillRect/>
          </a:stretch>
        </p:blipFill>
        <p:spPr>
          <a:xfrm>
            <a:off x="548640" y="1737360"/>
            <a:ext cx="5394960" cy="3364992"/>
          </a:xfrm>
          <a:prstGeom prst="rect">
            <a:avLst/>
          </a:prstGeom>
        </p:spPr>
      </p:pic>
      <p:sp>
        <p:nvSpPr>
          <p:cNvPr id="8" name="Text 4"/>
          <p:cNvSpPr txBox="1"/>
          <p:nvPr/>
        </p:nvSpPr>
        <p:spPr>
          <a:xfrm>
            <a:off x="548640" y="5166360"/>
            <a:ext cx="5394960" cy="457200"/>
          </a:xfrm>
          <a:prstGeom prst="rect">
            <a:avLst/>
          </a:prstGeom>
          <a:noFill/>
          <a:ln/>
        </p:spPr>
        <p:txBody>
          <a:bodyPr wrap="square" lIns="0" tIns="0" rIns="0" bIns="0" rtlCol="0" anchor="t"/>
          <a:lstStyle/>
          <a:p>
            <a:pPr marL="0" indent="0">
              <a:buNone/>
            </a:pPr>
            <a:r>
              <a:rPr lang="en-US" sz="1200" dirty="0">
                <a:solidFill>
                  <a:srgbClr val="5B6B7A"/>
                </a:solidFill>
                <a:latin typeface="Calibri" pitchFamily="34" charset="0"/>
                <a:ea typeface="Calibri" pitchFamily="34" charset="-122"/>
                <a:cs typeface="Calibri" pitchFamily="34" charset="-120"/>
              </a:rPr>
              <a:t>DO vs temperature (80k sample) with Benson–Krause saturation curves. Source: repository graphs/ folder (graph 07).</a:t>
            </a:r>
            <a:endParaRPr lang="en-US" sz="1200" dirty="0"/>
          </a:p>
        </p:txBody>
      </p:sp>
      <p:graphicFrame>
        <p:nvGraphicFramePr>
          <p:cNvPr id="9" name="Chart 0"/>
          <p:cNvGraphicFramePr/>
          <p:nvPr/>
        </p:nvGraphicFramePr>
        <p:xfrm>
          <a:off x="6217920" y="1691640"/>
          <a:ext cx="5422392" cy="3429000"/>
        </p:xfrm>
        <a:graphic>
          <a:graphicData uri="http://schemas.openxmlformats.org/drawingml/2006/chart">
            <c:chart xmlns:c="http://schemas.openxmlformats.org/drawingml/2006/chart" xmlns:r="http://schemas.openxmlformats.org/officeDocument/2006/relationships" r:id="rId4"/>
          </a:graphicData>
        </a:graphic>
      </p:graphicFrame>
      <p:sp>
        <p:nvSpPr>
          <p:cNvPr id="10" name="Shape 5"/>
          <p:cNvSpPr/>
          <p:nvPr/>
        </p:nvSpPr>
        <p:spPr>
          <a:xfrm>
            <a:off x="548640" y="5669280"/>
            <a:ext cx="11091672" cy="594360"/>
          </a:xfrm>
          <a:prstGeom prst="rect">
            <a:avLst/>
          </a:prstGeom>
          <a:solidFill>
            <a:srgbClr val="FFF3DC"/>
          </a:solidFill>
          <a:ln w="12700">
            <a:solidFill>
              <a:srgbClr val="FFF3DC"/>
            </a:solidFill>
            <a:prstDash val="solid"/>
          </a:ln>
        </p:spPr>
        <p:txBody>
          <a:bodyPr/>
          <a:lstStyle/>
          <a:p>
            <a:endParaRPr lang="en-US"/>
          </a:p>
        </p:txBody>
      </p:sp>
      <p:sp>
        <p:nvSpPr>
          <p:cNvPr id="11" name="Text 6"/>
          <p:cNvSpPr txBox="1"/>
          <p:nvPr/>
        </p:nvSpPr>
        <p:spPr>
          <a:xfrm>
            <a:off x="777240" y="5669280"/>
            <a:ext cx="10698480" cy="594360"/>
          </a:xfrm>
          <a:prstGeom prst="rect">
            <a:avLst/>
          </a:prstGeom>
          <a:noFill/>
          <a:ln/>
        </p:spPr>
        <p:txBody>
          <a:bodyPr wrap="square" lIns="0" tIns="0" rIns="0" bIns="0" rtlCol="0" anchor="ctr"/>
          <a:lstStyle/>
          <a:p>
            <a:pPr marL="0" indent="0">
              <a:buNone/>
            </a:pPr>
            <a:r>
              <a:rPr lang="en-US" sz="1300" b="1" dirty="0">
                <a:solidFill>
                  <a:srgbClr val="D98A1F"/>
                </a:solidFill>
                <a:latin typeface="Calibri" pitchFamily="34" charset="0"/>
                <a:ea typeface="Calibri" pitchFamily="34" charset="-122"/>
                <a:cs typeface="Calibri" pitchFamily="34" charset="-120"/>
              </a:rPr>
              <a:t>Qualification  </a:t>
            </a:r>
            <a:r>
              <a:rPr lang="en-US" sz="1300" dirty="0">
                <a:solidFill>
                  <a:srgbClr val="12202E"/>
                </a:solidFill>
                <a:latin typeface="Calibri" pitchFamily="34" charset="0"/>
                <a:ea typeface="Calibri" pitchFamily="34" charset="-122"/>
                <a:cs typeface="Calibri" pitchFamily="34" charset="-120"/>
              </a:rPr>
              <a:t>A better Pearson r is not better prediction. Orthophosphate’s Spearman ρ is −0.917 both raw and log(1+x): monotone transforms leave rank correlation, and tree splits, unchanged.</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marL="0" indent="0">
              <a:buNone/>
            </a:pPr>
            <a:r>
              <a:rPr lang="en-US" sz="1200" b="1" kern="0" spc="300" dirty="0">
                <a:solidFill>
                  <a:srgbClr val="0E7C86"/>
                </a:solidFill>
                <a:latin typeface="Calibri" pitchFamily="34" charset="0"/>
                <a:ea typeface="Calibri" pitchFamily="34" charset="-122"/>
                <a:cs typeface="Calibri" pitchFamily="34" charset="-120"/>
              </a:rPr>
              <a:t>DOMAIN-INFORMED FEATURE ENGINEERING</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marL="0" indent="0">
              <a:buNone/>
            </a:pPr>
            <a:r>
              <a:rPr lang="en-US" sz="3000" b="1" dirty="0">
                <a:solidFill>
                  <a:srgbClr val="0B1F33"/>
                </a:solidFill>
                <a:latin typeface="Cambria" pitchFamily="34" charset="0"/>
                <a:ea typeface="Cambria" pitchFamily="34" charset="-122"/>
                <a:cs typeface="Cambria" pitchFamily="34" charset="-120"/>
              </a:rPr>
              <a:t>Eight measurements become 38 features, grouped by the chemistry they encode</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marL="0" indent="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marL="0" indent="0" algn="r">
              <a:buNone/>
            </a:pPr>
            <a:r>
              <a:rPr lang="en-US" sz="1000" dirty="0">
                <a:solidFill>
                  <a:srgbClr val="5B6B7A"/>
                </a:solidFill>
                <a:latin typeface="Calibri" pitchFamily="34" charset="0"/>
                <a:ea typeface="Calibri" pitchFamily="34" charset="-122"/>
                <a:cs typeface="Calibri" pitchFamily="34" charset="-120"/>
              </a:rPr>
              <a:t>7</a:t>
            </a:r>
            <a:endParaRPr lang="en-US" sz="1000" dirty="0"/>
          </a:p>
        </p:txBody>
      </p:sp>
      <p:sp>
        <p:nvSpPr>
          <p:cNvPr id="7" name="Shape 4"/>
          <p:cNvSpPr/>
          <p:nvPr/>
        </p:nvSpPr>
        <p:spPr>
          <a:xfrm>
            <a:off x="548640" y="1783080"/>
            <a:ext cx="2651760" cy="1920240"/>
          </a:xfrm>
          <a:prstGeom prst="rect">
            <a:avLst/>
          </a:prstGeom>
          <a:solidFill>
            <a:srgbClr val="F4F8FA"/>
          </a:solidFill>
          <a:ln w="12700">
            <a:solidFill>
              <a:srgbClr val="F4F8FA"/>
            </a:solidFill>
            <a:prstDash val="solid"/>
          </a:ln>
        </p:spPr>
        <p:txBody>
          <a:bodyPr/>
          <a:lstStyle/>
          <a:p>
            <a:endParaRPr lang="en-US"/>
          </a:p>
        </p:txBody>
      </p:sp>
      <p:sp>
        <p:nvSpPr>
          <p:cNvPr id="8" name="Text 5"/>
          <p:cNvSpPr txBox="1"/>
          <p:nvPr/>
        </p:nvSpPr>
        <p:spPr>
          <a:xfrm>
            <a:off x="731520" y="1892808"/>
            <a:ext cx="914400" cy="548640"/>
          </a:xfrm>
          <a:prstGeom prst="rect">
            <a:avLst/>
          </a:prstGeom>
          <a:noFill/>
          <a:ln/>
        </p:spPr>
        <p:txBody>
          <a:bodyPr wrap="square" lIns="0" tIns="0" rIns="0" bIns="0" rtlCol="0" anchor="t"/>
          <a:lstStyle/>
          <a:p>
            <a:pPr marL="0" indent="0">
              <a:buNone/>
            </a:pPr>
            <a:r>
              <a:rPr lang="en-US" sz="3200" b="1" dirty="0">
                <a:solidFill>
                  <a:srgbClr val="0E7C86"/>
                </a:solidFill>
                <a:latin typeface="Cambria" pitchFamily="34" charset="0"/>
                <a:ea typeface="Cambria" pitchFamily="34" charset="-122"/>
                <a:cs typeface="Cambria" pitchFamily="34" charset="-120"/>
              </a:rPr>
              <a:t>8</a:t>
            </a:r>
            <a:endParaRPr lang="en-US" sz="3200" dirty="0"/>
          </a:p>
        </p:txBody>
      </p:sp>
      <p:sp>
        <p:nvSpPr>
          <p:cNvPr id="9" name="Text 6"/>
          <p:cNvSpPr txBox="1"/>
          <p:nvPr/>
        </p:nvSpPr>
        <p:spPr>
          <a:xfrm>
            <a:off x="731520" y="2468880"/>
            <a:ext cx="2331720" cy="320040"/>
          </a:xfrm>
          <a:prstGeom prst="rect">
            <a:avLst/>
          </a:prstGeom>
          <a:noFill/>
          <a:ln/>
        </p:spPr>
        <p:txBody>
          <a:bodyPr wrap="square" lIns="0" tIns="0" rIns="0" bIns="0" rtlCol="0" anchor="t"/>
          <a:lstStyle/>
          <a:p>
            <a:pPr marL="0" indent="0">
              <a:buNone/>
            </a:pPr>
            <a:r>
              <a:rPr lang="en-US" sz="1500" b="1" dirty="0">
                <a:solidFill>
                  <a:srgbClr val="0B1F33"/>
                </a:solidFill>
                <a:latin typeface="Calibri" pitchFamily="34" charset="0"/>
                <a:ea typeface="Calibri" pitchFamily="34" charset="-122"/>
                <a:cs typeface="Calibri" pitchFamily="34" charset="-120"/>
              </a:rPr>
              <a:t>Base sensors</a:t>
            </a:r>
            <a:endParaRPr lang="en-US" sz="1500" dirty="0"/>
          </a:p>
        </p:txBody>
      </p:sp>
      <p:sp>
        <p:nvSpPr>
          <p:cNvPr id="10" name="Text 7"/>
          <p:cNvSpPr txBox="1"/>
          <p:nvPr/>
        </p:nvSpPr>
        <p:spPr>
          <a:xfrm>
            <a:off x="731520" y="2788920"/>
            <a:ext cx="2331720" cy="868680"/>
          </a:xfrm>
          <a:prstGeom prst="rect">
            <a:avLst/>
          </a:prstGeom>
          <a:noFill/>
          <a:ln/>
        </p:spPr>
        <p:txBody>
          <a:bodyPr wrap="square" lIns="0" tIns="0" rIns="0" bIns="0" rtlCol="0" anchor="t"/>
          <a:lstStyle/>
          <a:p>
            <a:pPr marL="0" indent="0">
              <a:buNone/>
            </a:pPr>
            <a:r>
              <a:rPr lang="en-US" sz="1200" dirty="0">
                <a:solidFill>
                  <a:srgbClr val="12202E"/>
                </a:solidFill>
                <a:latin typeface="Calibri" pitchFamily="34" charset="0"/>
                <a:ea typeface="Calibri" pitchFamily="34" charset="-122"/>
                <a:cs typeface="Calibri" pitchFamily="34" charset="-120"/>
              </a:rPr>
              <a:t>pH, temperature, DO, BOD, ammonia, orthophosphate, nitrogen, nitrate</a:t>
            </a:r>
            <a:endParaRPr lang="en-US" sz="1200" dirty="0"/>
          </a:p>
        </p:txBody>
      </p:sp>
      <p:sp>
        <p:nvSpPr>
          <p:cNvPr id="11" name="Shape 8"/>
          <p:cNvSpPr/>
          <p:nvPr/>
        </p:nvSpPr>
        <p:spPr>
          <a:xfrm>
            <a:off x="3355848" y="1783080"/>
            <a:ext cx="2651760" cy="1920240"/>
          </a:xfrm>
          <a:prstGeom prst="rect">
            <a:avLst/>
          </a:prstGeom>
          <a:solidFill>
            <a:srgbClr val="F4F8FA"/>
          </a:solidFill>
          <a:ln w="12700">
            <a:solidFill>
              <a:srgbClr val="F4F8FA"/>
            </a:solidFill>
            <a:prstDash val="solid"/>
          </a:ln>
        </p:spPr>
        <p:txBody>
          <a:bodyPr/>
          <a:lstStyle/>
          <a:p>
            <a:endParaRPr lang="en-US"/>
          </a:p>
        </p:txBody>
      </p:sp>
      <p:sp>
        <p:nvSpPr>
          <p:cNvPr id="12" name="Text 9"/>
          <p:cNvSpPr txBox="1"/>
          <p:nvPr/>
        </p:nvSpPr>
        <p:spPr>
          <a:xfrm>
            <a:off x="3538728" y="1892808"/>
            <a:ext cx="914400" cy="548640"/>
          </a:xfrm>
          <a:prstGeom prst="rect">
            <a:avLst/>
          </a:prstGeom>
          <a:noFill/>
          <a:ln/>
        </p:spPr>
        <p:txBody>
          <a:bodyPr wrap="square" lIns="0" tIns="0" rIns="0" bIns="0" rtlCol="0" anchor="t"/>
          <a:lstStyle/>
          <a:p>
            <a:pPr marL="0" indent="0">
              <a:buNone/>
            </a:pPr>
            <a:r>
              <a:rPr lang="en-US" sz="3200" b="1" dirty="0">
                <a:solidFill>
                  <a:srgbClr val="0E7C86"/>
                </a:solidFill>
                <a:latin typeface="Cambria" pitchFamily="34" charset="0"/>
                <a:ea typeface="Cambria" pitchFamily="34" charset="-122"/>
                <a:cs typeface="Cambria" pitchFamily="34" charset="-120"/>
              </a:rPr>
              <a:t>7</a:t>
            </a:r>
            <a:endParaRPr lang="en-US" sz="3200" dirty="0"/>
          </a:p>
        </p:txBody>
      </p:sp>
      <p:sp>
        <p:nvSpPr>
          <p:cNvPr id="13" name="Text 10"/>
          <p:cNvSpPr txBox="1"/>
          <p:nvPr/>
        </p:nvSpPr>
        <p:spPr>
          <a:xfrm>
            <a:off x="3538728" y="2468880"/>
            <a:ext cx="2331720" cy="320040"/>
          </a:xfrm>
          <a:prstGeom prst="rect">
            <a:avLst/>
          </a:prstGeom>
          <a:noFill/>
          <a:ln/>
        </p:spPr>
        <p:txBody>
          <a:bodyPr wrap="square" lIns="0" tIns="0" rIns="0" bIns="0" rtlCol="0" anchor="t"/>
          <a:lstStyle/>
          <a:p>
            <a:pPr marL="0" indent="0">
              <a:buNone/>
            </a:pPr>
            <a:r>
              <a:rPr lang="en-US" sz="1500" b="1" dirty="0">
                <a:solidFill>
                  <a:srgbClr val="0B1F33"/>
                </a:solidFill>
                <a:latin typeface="Calibri" pitchFamily="34" charset="0"/>
                <a:ea typeface="Calibri" pitchFamily="34" charset="-122"/>
                <a:cs typeface="Calibri" pitchFamily="34" charset="-120"/>
              </a:rPr>
              <a:t>Aquatic stoichiometry</a:t>
            </a:r>
            <a:endParaRPr lang="en-US" sz="1500" dirty="0"/>
          </a:p>
        </p:txBody>
      </p:sp>
      <p:sp>
        <p:nvSpPr>
          <p:cNvPr id="14" name="Text 11"/>
          <p:cNvSpPr txBox="1"/>
          <p:nvPr/>
        </p:nvSpPr>
        <p:spPr>
          <a:xfrm>
            <a:off x="3538728" y="2788920"/>
            <a:ext cx="2331720" cy="868680"/>
          </a:xfrm>
          <a:prstGeom prst="rect">
            <a:avLst/>
          </a:prstGeom>
          <a:noFill/>
          <a:ln/>
        </p:spPr>
        <p:txBody>
          <a:bodyPr wrap="square" lIns="0" tIns="0" rIns="0" bIns="0" rtlCol="0" anchor="t"/>
          <a:lstStyle/>
          <a:p>
            <a:pPr marL="0" indent="0">
              <a:buNone/>
            </a:pPr>
            <a:r>
              <a:rPr lang="en-US" sz="1200" dirty="0">
                <a:solidFill>
                  <a:srgbClr val="12202E"/>
                </a:solidFill>
                <a:latin typeface="Calibri" pitchFamily="34" charset="0"/>
                <a:ea typeface="Calibri" pitchFamily="34" charset="-122"/>
                <a:cs typeface="Calibri" pitchFamily="34" charset="-120"/>
              </a:rPr>
              <a:t>Benson–Krause DO deficit and % saturation, Redfield-style N:P, Emerson un-ionised NH₃, BOD:DO, pH deviation, nitrate share</a:t>
            </a:r>
            <a:endParaRPr lang="en-US" sz="1200" dirty="0"/>
          </a:p>
        </p:txBody>
      </p:sp>
      <p:sp>
        <p:nvSpPr>
          <p:cNvPr id="15" name="Shape 12"/>
          <p:cNvSpPr/>
          <p:nvPr/>
        </p:nvSpPr>
        <p:spPr>
          <a:xfrm>
            <a:off x="6163056" y="1783080"/>
            <a:ext cx="2651760" cy="1920240"/>
          </a:xfrm>
          <a:prstGeom prst="rect">
            <a:avLst/>
          </a:prstGeom>
          <a:solidFill>
            <a:srgbClr val="F4F8FA"/>
          </a:solidFill>
          <a:ln w="12700">
            <a:solidFill>
              <a:srgbClr val="F4F8FA"/>
            </a:solidFill>
            <a:prstDash val="solid"/>
          </a:ln>
        </p:spPr>
        <p:txBody>
          <a:bodyPr/>
          <a:lstStyle/>
          <a:p>
            <a:endParaRPr lang="en-US"/>
          </a:p>
        </p:txBody>
      </p:sp>
      <p:sp>
        <p:nvSpPr>
          <p:cNvPr id="16" name="Text 13"/>
          <p:cNvSpPr txBox="1"/>
          <p:nvPr/>
        </p:nvSpPr>
        <p:spPr>
          <a:xfrm>
            <a:off x="6345936" y="1892808"/>
            <a:ext cx="914400" cy="548640"/>
          </a:xfrm>
          <a:prstGeom prst="rect">
            <a:avLst/>
          </a:prstGeom>
          <a:noFill/>
          <a:ln/>
        </p:spPr>
        <p:txBody>
          <a:bodyPr wrap="square" lIns="0" tIns="0" rIns="0" bIns="0" rtlCol="0" anchor="t"/>
          <a:lstStyle/>
          <a:p>
            <a:pPr marL="0" indent="0">
              <a:buNone/>
            </a:pPr>
            <a:r>
              <a:rPr lang="en-US" sz="3200" b="1" dirty="0">
                <a:solidFill>
                  <a:srgbClr val="0E7C86"/>
                </a:solidFill>
                <a:latin typeface="Cambria" pitchFamily="34" charset="0"/>
                <a:ea typeface="Cambria" pitchFamily="34" charset="-122"/>
                <a:cs typeface="Cambria" pitchFamily="34" charset="-120"/>
              </a:rPr>
              <a:t>7</a:t>
            </a:r>
            <a:endParaRPr lang="en-US" sz="3200" dirty="0"/>
          </a:p>
        </p:txBody>
      </p:sp>
      <p:sp>
        <p:nvSpPr>
          <p:cNvPr id="17" name="Text 14"/>
          <p:cNvSpPr txBox="1"/>
          <p:nvPr/>
        </p:nvSpPr>
        <p:spPr>
          <a:xfrm>
            <a:off x="6345936" y="2468880"/>
            <a:ext cx="2331720" cy="320040"/>
          </a:xfrm>
          <a:prstGeom prst="rect">
            <a:avLst/>
          </a:prstGeom>
          <a:noFill/>
          <a:ln/>
        </p:spPr>
        <p:txBody>
          <a:bodyPr wrap="square" lIns="0" tIns="0" rIns="0" bIns="0" rtlCol="0" anchor="t"/>
          <a:lstStyle/>
          <a:p>
            <a:pPr marL="0" indent="0">
              <a:buNone/>
            </a:pPr>
            <a:r>
              <a:rPr lang="en-US" sz="1500" b="1" dirty="0">
                <a:solidFill>
                  <a:srgbClr val="0B1F33"/>
                </a:solidFill>
                <a:latin typeface="Calibri" pitchFamily="34" charset="0"/>
                <a:ea typeface="Calibri" pitchFamily="34" charset="-122"/>
                <a:cs typeface="Calibri" pitchFamily="34" charset="-120"/>
              </a:rPr>
              <a:t>log(1+x) variants</a:t>
            </a:r>
            <a:endParaRPr lang="en-US" sz="1500" dirty="0"/>
          </a:p>
        </p:txBody>
      </p:sp>
      <p:sp>
        <p:nvSpPr>
          <p:cNvPr id="18" name="Text 15"/>
          <p:cNvSpPr txBox="1"/>
          <p:nvPr/>
        </p:nvSpPr>
        <p:spPr>
          <a:xfrm>
            <a:off x="6345936" y="2788920"/>
            <a:ext cx="2331720" cy="868680"/>
          </a:xfrm>
          <a:prstGeom prst="rect">
            <a:avLst/>
          </a:prstGeom>
          <a:noFill/>
          <a:ln/>
        </p:spPr>
        <p:txBody>
          <a:bodyPr wrap="square" lIns="0" tIns="0" rIns="0" bIns="0" rtlCol="0" anchor="t"/>
          <a:lstStyle/>
          <a:p>
            <a:pPr marL="0" indent="0">
              <a:buNone/>
            </a:pPr>
            <a:r>
              <a:rPr lang="en-US" sz="1200" dirty="0">
                <a:solidFill>
                  <a:srgbClr val="12202E"/>
                </a:solidFill>
                <a:latin typeface="Calibri" pitchFamily="34" charset="0"/>
                <a:ea typeface="Calibri" pitchFamily="34" charset="-122"/>
                <a:cs typeface="Calibri" pitchFamily="34" charset="-120"/>
              </a:rPr>
              <a:t>Compress nutrient skew; help linear models, not trees</a:t>
            </a:r>
            <a:endParaRPr lang="en-US" sz="1200" dirty="0"/>
          </a:p>
        </p:txBody>
      </p:sp>
      <p:sp>
        <p:nvSpPr>
          <p:cNvPr id="19" name="Shape 16"/>
          <p:cNvSpPr/>
          <p:nvPr/>
        </p:nvSpPr>
        <p:spPr>
          <a:xfrm>
            <a:off x="8970264" y="1783080"/>
            <a:ext cx="2651760" cy="1920240"/>
          </a:xfrm>
          <a:prstGeom prst="rect">
            <a:avLst/>
          </a:prstGeom>
          <a:solidFill>
            <a:srgbClr val="F4F8FA"/>
          </a:solidFill>
          <a:ln w="12700">
            <a:solidFill>
              <a:srgbClr val="F4F8FA"/>
            </a:solidFill>
            <a:prstDash val="solid"/>
          </a:ln>
        </p:spPr>
        <p:txBody>
          <a:bodyPr/>
          <a:lstStyle/>
          <a:p>
            <a:endParaRPr lang="en-US"/>
          </a:p>
        </p:txBody>
      </p:sp>
      <p:sp>
        <p:nvSpPr>
          <p:cNvPr id="20" name="Text 17"/>
          <p:cNvSpPr txBox="1"/>
          <p:nvPr/>
        </p:nvSpPr>
        <p:spPr>
          <a:xfrm>
            <a:off x="9153144" y="1892808"/>
            <a:ext cx="914400" cy="548640"/>
          </a:xfrm>
          <a:prstGeom prst="rect">
            <a:avLst/>
          </a:prstGeom>
          <a:noFill/>
          <a:ln/>
        </p:spPr>
        <p:txBody>
          <a:bodyPr wrap="square" lIns="0" tIns="0" rIns="0" bIns="0" rtlCol="0" anchor="t"/>
          <a:lstStyle/>
          <a:p>
            <a:pPr marL="0" indent="0">
              <a:buNone/>
            </a:pPr>
            <a:r>
              <a:rPr lang="en-US" sz="3200" b="1" dirty="0">
                <a:solidFill>
                  <a:srgbClr val="0E7C86"/>
                </a:solidFill>
                <a:latin typeface="Cambria" pitchFamily="34" charset="0"/>
                <a:ea typeface="Cambria" pitchFamily="34" charset="-122"/>
                <a:cs typeface="Cambria" pitchFamily="34" charset="-120"/>
              </a:rPr>
              <a:t>6</a:t>
            </a:r>
            <a:endParaRPr lang="en-US" sz="3200" dirty="0"/>
          </a:p>
        </p:txBody>
      </p:sp>
      <p:sp>
        <p:nvSpPr>
          <p:cNvPr id="21" name="Text 18"/>
          <p:cNvSpPr txBox="1"/>
          <p:nvPr/>
        </p:nvSpPr>
        <p:spPr>
          <a:xfrm>
            <a:off x="9153144" y="2468880"/>
            <a:ext cx="2331720" cy="320040"/>
          </a:xfrm>
          <a:prstGeom prst="rect">
            <a:avLst/>
          </a:prstGeom>
          <a:noFill/>
          <a:ln/>
        </p:spPr>
        <p:txBody>
          <a:bodyPr wrap="square" lIns="0" tIns="0" rIns="0" bIns="0" rtlCol="0" anchor="t"/>
          <a:lstStyle/>
          <a:p>
            <a:pPr marL="0" indent="0">
              <a:buNone/>
            </a:pPr>
            <a:r>
              <a:rPr lang="en-US" sz="1500" b="1" dirty="0">
                <a:solidFill>
                  <a:srgbClr val="0B1F33"/>
                </a:solidFill>
                <a:latin typeface="Calibri" pitchFamily="34" charset="0"/>
                <a:ea typeface="Calibri" pitchFamily="34" charset="-122"/>
                <a:cs typeface="Calibri" pitchFamily="34" charset="-120"/>
              </a:rPr>
              <a:t>Station memory</a:t>
            </a:r>
            <a:endParaRPr lang="en-US" sz="1500" dirty="0"/>
          </a:p>
        </p:txBody>
      </p:sp>
      <p:sp>
        <p:nvSpPr>
          <p:cNvPr id="22" name="Text 19"/>
          <p:cNvSpPr txBox="1"/>
          <p:nvPr/>
        </p:nvSpPr>
        <p:spPr>
          <a:xfrm>
            <a:off x="9153144" y="2788920"/>
            <a:ext cx="2331720" cy="868680"/>
          </a:xfrm>
          <a:prstGeom prst="rect">
            <a:avLst/>
          </a:prstGeom>
          <a:noFill/>
          <a:ln/>
        </p:spPr>
        <p:txBody>
          <a:bodyPr wrap="square" lIns="0" tIns="0" rIns="0" bIns="0" rtlCol="0" anchor="t"/>
          <a:lstStyle/>
          <a:p>
            <a:pPr marL="0" indent="0">
              <a:buNone/>
            </a:pPr>
            <a:r>
              <a:rPr lang="en-US" sz="1200" dirty="0">
                <a:solidFill>
                  <a:srgbClr val="12202E"/>
                </a:solidFill>
                <a:latin typeface="Calibri" pitchFamily="34" charset="0"/>
                <a:ea typeface="Calibri" pitchFamily="34" charset="-122"/>
                <a:cs typeface="Calibri" pitchFamily="34" charset="-120"/>
              </a:rPr>
              <a:t>Shift-1 lags and rolling-3 means within each Area, sorted by date; first record filled with global median</a:t>
            </a:r>
            <a:endParaRPr lang="en-US" sz="1200" dirty="0"/>
          </a:p>
        </p:txBody>
      </p:sp>
      <p:sp>
        <p:nvSpPr>
          <p:cNvPr id="23" name="Shape 20"/>
          <p:cNvSpPr/>
          <p:nvPr/>
        </p:nvSpPr>
        <p:spPr>
          <a:xfrm>
            <a:off x="548640" y="3886200"/>
            <a:ext cx="2651760" cy="1920240"/>
          </a:xfrm>
          <a:prstGeom prst="rect">
            <a:avLst/>
          </a:prstGeom>
          <a:solidFill>
            <a:srgbClr val="F4F8FA"/>
          </a:solidFill>
          <a:ln w="12700">
            <a:solidFill>
              <a:srgbClr val="F4F8FA"/>
            </a:solidFill>
            <a:prstDash val="solid"/>
          </a:ln>
        </p:spPr>
        <p:txBody>
          <a:bodyPr/>
          <a:lstStyle/>
          <a:p>
            <a:endParaRPr lang="en-US"/>
          </a:p>
        </p:txBody>
      </p:sp>
      <p:sp>
        <p:nvSpPr>
          <p:cNvPr id="24" name="Text 21"/>
          <p:cNvSpPr txBox="1"/>
          <p:nvPr/>
        </p:nvSpPr>
        <p:spPr>
          <a:xfrm>
            <a:off x="731520" y="3995928"/>
            <a:ext cx="914400" cy="548640"/>
          </a:xfrm>
          <a:prstGeom prst="rect">
            <a:avLst/>
          </a:prstGeom>
          <a:noFill/>
          <a:ln/>
        </p:spPr>
        <p:txBody>
          <a:bodyPr wrap="square" lIns="0" tIns="0" rIns="0" bIns="0" rtlCol="0" anchor="t"/>
          <a:lstStyle/>
          <a:p>
            <a:pPr marL="0" indent="0">
              <a:buNone/>
            </a:pPr>
            <a:r>
              <a:rPr lang="en-US" sz="3200" b="1" dirty="0">
                <a:solidFill>
                  <a:srgbClr val="0E7C86"/>
                </a:solidFill>
                <a:latin typeface="Cambria" pitchFamily="34" charset="0"/>
                <a:ea typeface="Cambria" pitchFamily="34" charset="-122"/>
                <a:cs typeface="Cambria" pitchFamily="34" charset="-120"/>
              </a:rPr>
              <a:t>7</a:t>
            </a:r>
            <a:endParaRPr lang="en-US" sz="3200" dirty="0"/>
          </a:p>
        </p:txBody>
      </p:sp>
      <p:sp>
        <p:nvSpPr>
          <p:cNvPr id="25" name="Text 22"/>
          <p:cNvSpPr txBox="1"/>
          <p:nvPr/>
        </p:nvSpPr>
        <p:spPr>
          <a:xfrm>
            <a:off x="731520" y="4572000"/>
            <a:ext cx="2331720" cy="320040"/>
          </a:xfrm>
          <a:prstGeom prst="rect">
            <a:avLst/>
          </a:prstGeom>
          <a:noFill/>
          <a:ln/>
        </p:spPr>
        <p:txBody>
          <a:bodyPr wrap="square" lIns="0" tIns="0" rIns="0" bIns="0" rtlCol="0" anchor="t"/>
          <a:lstStyle/>
          <a:p>
            <a:pPr marL="0" indent="0">
              <a:buNone/>
            </a:pPr>
            <a:r>
              <a:rPr lang="en-US" sz="1500" b="1" dirty="0">
                <a:solidFill>
                  <a:srgbClr val="0B1F33"/>
                </a:solidFill>
                <a:latin typeface="Calibri" pitchFamily="34" charset="0"/>
                <a:ea typeface="Calibri" pitchFamily="34" charset="-122"/>
                <a:cs typeface="Calibri" pitchFamily="34" charset="-120"/>
              </a:rPr>
              <a:t>Temporal</a:t>
            </a:r>
            <a:endParaRPr lang="en-US" sz="1500" dirty="0"/>
          </a:p>
        </p:txBody>
      </p:sp>
      <p:sp>
        <p:nvSpPr>
          <p:cNvPr id="26" name="Text 23"/>
          <p:cNvSpPr txBox="1"/>
          <p:nvPr/>
        </p:nvSpPr>
        <p:spPr>
          <a:xfrm>
            <a:off x="731520" y="4892040"/>
            <a:ext cx="2331720" cy="868680"/>
          </a:xfrm>
          <a:prstGeom prst="rect">
            <a:avLst/>
          </a:prstGeom>
          <a:noFill/>
          <a:ln/>
        </p:spPr>
        <p:txBody>
          <a:bodyPr wrap="square" lIns="0" tIns="0" rIns="0" bIns="0" rtlCol="0" anchor="t"/>
          <a:lstStyle/>
          <a:p>
            <a:pPr marL="0" indent="0">
              <a:buNone/>
            </a:pPr>
            <a:r>
              <a:rPr lang="en-US" sz="1200" dirty="0">
                <a:solidFill>
                  <a:srgbClr val="12202E"/>
                </a:solidFill>
                <a:latin typeface="Calibri" pitchFamily="34" charset="0"/>
                <a:ea typeface="Calibri" pitchFamily="34" charset="-122"/>
                <a:cs typeface="Calibri" pitchFamily="34" charset="-120"/>
              </a:rPr>
              <a:t>year, month, quarter, sin/cos of month and day-of-year</a:t>
            </a:r>
            <a:endParaRPr lang="en-US" sz="1200" dirty="0"/>
          </a:p>
        </p:txBody>
      </p:sp>
      <p:sp>
        <p:nvSpPr>
          <p:cNvPr id="27" name="Shape 24"/>
          <p:cNvSpPr/>
          <p:nvPr/>
        </p:nvSpPr>
        <p:spPr>
          <a:xfrm>
            <a:off x="3355848" y="3886200"/>
            <a:ext cx="2651760" cy="1920240"/>
          </a:xfrm>
          <a:prstGeom prst="rect">
            <a:avLst/>
          </a:prstGeom>
          <a:solidFill>
            <a:srgbClr val="F4F8FA"/>
          </a:solidFill>
          <a:ln w="12700">
            <a:solidFill>
              <a:srgbClr val="F4F8FA"/>
            </a:solidFill>
            <a:prstDash val="solid"/>
          </a:ln>
        </p:spPr>
        <p:txBody>
          <a:bodyPr/>
          <a:lstStyle/>
          <a:p>
            <a:endParaRPr lang="en-US"/>
          </a:p>
        </p:txBody>
      </p:sp>
      <p:sp>
        <p:nvSpPr>
          <p:cNvPr id="28" name="Text 25"/>
          <p:cNvSpPr txBox="1"/>
          <p:nvPr/>
        </p:nvSpPr>
        <p:spPr>
          <a:xfrm>
            <a:off x="3538728" y="3995928"/>
            <a:ext cx="914400" cy="548640"/>
          </a:xfrm>
          <a:prstGeom prst="rect">
            <a:avLst/>
          </a:prstGeom>
          <a:noFill/>
          <a:ln/>
        </p:spPr>
        <p:txBody>
          <a:bodyPr wrap="square" lIns="0" tIns="0" rIns="0" bIns="0" rtlCol="0" anchor="t"/>
          <a:lstStyle/>
          <a:p>
            <a:pPr marL="0" indent="0">
              <a:buNone/>
            </a:pPr>
            <a:r>
              <a:rPr lang="en-US" sz="3200" b="1" dirty="0">
                <a:solidFill>
                  <a:srgbClr val="0E7C86"/>
                </a:solidFill>
                <a:latin typeface="Cambria" pitchFamily="34" charset="0"/>
                <a:ea typeface="Cambria" pitchFamily="34" charset="-122"/>
                <a:cs typeface="Cambria" pitchFamily="34" charset="-120"/>
              </a:rPr>
              <a:t>2</a:t>
            </a:r>
            <a:endParaRPr lang="en-US" sz="3200" dirty="0"/>
          </a:p>
        </p:txBody>
      </p:sp>
      <p:sp>
        <p:nvSpPr>
          <p:cNvPr id="29" name="Text 26"/>
          <p:cNvSpPr txBox="1"/>
          <p:nvPr/>
        </p:nvSpPr>
        <p:spPr>
          <a:xfrm>
            <a:off x="3538728" y="4572000"/>
            <a:ext cx="2331720" cy="320040"/>
          </a:xfrm>
          <a:prstGeom prst="rect">
            <a:avLst/>
          </a:prstGeom>
          <a:noFill/>
          <a:ln/>
        </p:spPr>
        <p:txBody>
          <a:bodyPr wrap="square" lIns="0" tIns="0" rIns="0" bIns="0" rtlCol="0" anchor="t"/>
          <a:lstStyle/>
          <a:p>
            <a:pPr marL="0" indent="0">
              <a:buNone/>
            </a:pPr>
            <a:r>
              <a:rPr lang="en-US" sz="1500" b="1" dirty="0">
                <a:solidFill>
                  <a:srgbClr val="0B1F33"/>
                </a:solidFill>
                <a:latin typeface="Calibri" pitchFamily="34" charset="0"/>
                <a:ea typeface="Calibri" pitchFamily="34" charset="-122"/>
                <a:cs typeface="Calibri" pitchFamily="34" charset="-120"/>
              </a:rPr>
              <a:t>Context</a:t>
            </a:r>
            <a:endParaRPr lang="en-US" sz="1500" dirty="0"/>
          </a:p>
        </p:txBody>
      </p:sp>
      <p:sp>
        <p:nvSpPr>
          <p:cNvPr id="30" name="Text 27"/>
          <p:cNvSpPr txBox="1"/>
          <p:nvPr/>
        </p:nvSpPr>
        <p:spPr>
          <a:xfrm>
            <a:off x="3538728" y="4892040"/>
            <a:ext cx="2331720" cy="868680"/>
          </a:xfrm>
          <a:prstGeom prst="rect">
            <a:avLst/>
          </a:prstGeom>
          <a:noFill/>
          <a:ln/>
        </p:spPr>
        <p:txBody>
          <a:bodyPr wrap="square" lIns="0" tIns="0" rIns="0" bIns="0" rtlCol="0" anchor="t"/>
          <a:lstStyle/>
          <a:p>
            <a:pPr marL="0" indent="0">
              <a:buNone/>
            </a:pPr>
            <a:r>
              <a:rPr lang="en-US" sz="1200" dirty="0">
                <a:solidFill>
                  <a:srgbClr val="12202E"/>
                </a:solidFill>
                <a:latin typeface="Calibri" pitchFamily="34" charset="0"/>
                <a:ea typeface="Calibri" pitchFamily="34" charset="-122"/>
                <a:cs typeface="Calibri" pitchFamily="34" charset="-120"/>
              </a:rPr>
              <a:t>country code, waterbody-type code</a:t>
            </a:r>
            <a:endParaRPr lang="en-US" sz="1200" dirty="0"/>
          </a:p>
        </p:txBody>
      </p:sp>
      <p:sp>
        <p:nvSpPr>
          <p:cNvPr id="31" name="Shape 28"/>
          <p:cNvSpPr/>
          <p:nvPr/>
        </p:nvSpPr>
        <p:spPr>
          <a:xfrm>
            <a:off x="6163056" y="3886200"/>
            <a:ext cx="2651760" cy="1920240"/>
          </a:xfrm>
          <a:prstGeom prst="rect">
            <a:avLst/>
          </a:prstGeom>
          <a:solidFill>
            <a:srgbClr val="FFF3DC"/>
          </a:solidFill>
          <a:ln w="12700">
            <a:solidFill>
              <a:srgbClr val="FFF3DC"/>
            </a:solidFill>
            <a:prstDash val="solid"/>
          </a:ln>
        </p:spPr>
        <p:txBody>
          <a:bodyPr/>
          <a:lstStyle/>
          <a:p>
            <a:endParaRPr lang="en-US"/>
          </a:p>
        </p:txBody>
      </p:sp>
      <p:sp>
        <p:nvSpPr>
          <p:cNvPr id="32" name="Text 29"/>
          <p:cNvSpPr txBox="1"/>
          <p:nvPr/>
        </p:nvSpPr>
        <p:spPr>
          <a:xfrm>
            <a:off x="6345936" y="3995928"/>
            <a:ext cx="914400" cy="548640"/>
          </a:xfrm>
          <a:prstGeom prst="rect">
            <a:avLst/>
          </a:prstGeom>
          <a:noFill/>
          <a:ln/>
        </p:spPr>
        <p:txBody>
          <a:bodyPr wrap="square" lIns="0" tIns="0" rIns="0" bIns="0" rtlCol="0" anchor="t"/>
          <a:lstStyle/>
          <a:p>
            <a:pPr marL="0" indent="0">
              <a:buNone/>
            </a:pPr>
            <a:r>
              <a:rPr lang="en-US" sz="3200" b="1" dirty="0">
                <a:solidFill>
                  <a:srgbClr val="D98A1F"/>
                </a:solidFill>
                <a:latin typeface="Cambria" pitchFamily="34" charset="0"/>
                <a:ea typeface="Cambria" pitchFamily="34" charset="-122"/>
                <a:cs typeface="Cambria" pitchFamily="34" charset="-120"/>
              </a:rPr>
              <a:t>1</a:t>
            </a:r>
            <a:endParaRPr lang="en-US" sz="3200" dirty="0"/>
          </a:p>
        </p:txBody>
      </p:sp>
      <p:sp>
        <p:nvSpPr>
          <p:cNvPr id="33" name="Text 30"/>
          <p:cNvSpPr txBox="1"/>
          <p:nvPr/>
        </p:nvSpPr>
        <p:spPr>
          <a:xfrm>
            <a:off x="6345936" y="4572000"/>
            <a:ext cx="2331720" cy="320040"/>
          </a:xfrm>
          <a:prstGeom prst="rect">
            <a:avLst/>
          </a:prstGeom>
          <a:noFill/>
          <a:ln/>
        </p:spPr>
        <p:txBody>
          <a:bodyPr wrap="square" lIns="0" tIns="0" rIns="0" bIns="0" rtlCol="0" anchor="t"/>
          <a:lstStyle/>
          <a:p>
            <a:pPr marL="0" indent="0">
              <a:buNone/>
            </a:pPr>
            <a:r>
              <a:rPr lang="en-US" sz="1500" b="1" dirty="0">
                <a:solidFill>
                  <a:srgbClr val="0B1F33"/>
                </a:solidFill>
                <a:latin typeface="Calibri" pitchFamily="34" charset="0"/>
                <a:ea typeface="Calibri" pitchFamily="34" charset="-122"/>
                <a:cs typeface="Calibri" pitchFamily="34" charset="-120"/>
              </a:rPr>
              <a:t>exceedance_counter</a:t>
            </a:r>
            <a:endParaRPr lang="en-US" sz="1500" dirty="0"/>
          </a:p>
        </p:txBody>
      </p:sp>
      <p:sp>
        <p:nvSpPr>
          <p:cNvPr id="34" name="Text 31"/>
          <p:cNvSpPr txBox="1"/>
          <p:nvPr/>
        </p:nvSpPr>
        <p:spPr>
          <a:xfrm>
            <a:off x="6345936" y="4892040"/>
            <a:ext cx="2331720" cy="868680"/>
          </a:xfrm>
          <a:prstGeom prst="rect">
            <a:avLst/>
          </a:prstGeom>
          <a:noFill/>
          <a:ln/>
        </p:spPr>
        <p:txBody>
          <a:bodyPr wrap="square" lIns="0" tIns="0" rIns="0" bIns="0" rtlCol="0" anchor="t"/>
          <a:lstStyle/>
          <a:p>
            <a:pPr marL="0" indent="0">
              <a:buNone/>
            </a:pPr>
            <a:r>
              <a:rPr lang="en-US" sz="1200" dirty="0">
                <a:solidFill>
                  <a:srgbClr val="12202E"/>
                </a:solidFill>
                <a:latin typeface="Calibri" pitchFamily="34" charset="0"/>
                <a:ea typeface="Calibri" pitchFamily="34" charset="-122"/>
                <a:cs typeface="Calibri" pitchFamily="34" charset="-120"/>
              </a:rPr>
              <a:t>Count of six guideline checks computed from input columns only</a:t>
            </a:r>
            <a:endParaRPr lang="en-US" sz="1200" dirty="0"/>
          </a:p>
        </p:txBody>
      </p:sp>
      <p:sp>
        <p:nvSpPr>
          <p:cNvPr id="35" name="Shape 32"/>
          <p:cNvSpPr/>
          <p:nvPr/>
        </p:nvSpPr>
        <p:spPr>
          <a:xfrm>
            <a:off x="8970264" y="3886200"/>
            <a:ext cx="2651760" cy="1920240"/>
          </a:xfrm>
          <a:prstGeom prst="rect">
            <a:avLst/>
          </a:prstGeom>
          <a:solidFill>
            <a:srgbClr val="EAF4F6"/>
          </a:solidFill>
          <a:ln w="12700">
            <a:solidFill>
              <a:srgbClr val="EAF4F6"/>
            </a:solidFill>
            <a:prstDash val="solid"/>
          </a:ln>
        </p:spPr>
        <p:txBody>
          <a:bodyPr/>
          <a:lstStyle/>
          <a:p>
            <a:endParaRPr lang="en-US"/>
          </a:p>
        </p:txBody>
      </p:sp>
      <p:sp>
        <p:nvSpPr>
          <p:cNvPr id="36" name="Text 33"/>
          <p:cNvSpPr txBox="1"/>
          <p:nvPr/>
        </p:nvSpPr>
        <p:spPr>
          <a:xfrm>
            <a:off x="9153144" y="4160520"/>
            <a:ext cx="2331720" cy="822960"/>
          </a:xfrm>
          <a:prstGeom prst="rect">
            <a:avLst/>
          </a:prstGeom>
          <a:noFill/>
          <a:ln/>
        </p:spPr>
        <p:txBody>
          <a:bodyPr wrap="square" lIns="0" tIns="0" rIns="0" bIns="0" rtlCol="0" anchor="t"/>
          <a:lstStyle/>
          <a:p>
            <a:pPr marL="0" indent="0">
              <a:buNone/>
            </a:pPr>
            <a:r>
              <a:rPr lang="en-US" sz="1400" b="1" dirty="0">
                <a:solidFill>
                  <a:srgbClr val="0B1F33"/>
                </a:solidFill>
                <a:latin typeface="Calibri" pitchFamily="34" charset="0"/>
                <a:ea typeface="Calibri" pitchFamily="34" charset="-122"/>
                <a:cs typeface="Calibri" pitchFamily="34" charset="-120"/>
              </a:rPr>
              <a:t>Total: 8+7+7+6+7+2+1 = 38 features</a:t>
            </a:r>
            <a:endParaRPr lang="en-US" sz="1400" dirty="0"/>
          </a:p>
        </p:txBody>
      </p:sp>
      <p:sp>
        <p:nvSpPr>
          <p:cNvPr id="37" name="Text 34"/>
          <p:cNvSpPr txBox="1"/>
          <p:nvPr/>
        </p:nvSpPr>
        <p:spPr>
          <a:xfrm>
            <a:off x="9153144" y="5029200"/>
            <a:ext cx="2331720" cy="822960"/>
          </a:xfrm>
          <a:prstGeom prst="rect">
            <a:avLst/>
          </a:prstGeom>
          <a:noFill/>
          <a:ln/>
        </p:spPr>
        <p:txBody>
          <a:bodyPr wrap="square" lIns="0" tIns="0" rIns="0" bIns="0" rtlCol="0" anchor="t"/>
          <a:lstStyle/>
          <a:p>
            <a:pPr marL="0" indent="0">
              <a:buNone/>
            </a:pPr>
            <a:r>
              <a:rPr lang="en-US" sz="1200" dirty="0">
                <a:solidFill>
                  <a:srgbClr val="5B6B7A"/>
                </a:solidFill>
                <a:latin typeface="Calibri" pitchFamily="34" charset="0"/>
                <a:ea typeface="Calibri" pitchFamily="34" charset="-122"/>
                <a:cs typeface="Calibri" pitchFamily="34" charset="-120"/>
              </a:rPr>
              <a:t>ρ(hist_ortho_lag1, WQI) = −0.78 (Spearman, full data)</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marL="0" indent="0">
              <a:buNone/>
            </a:pPr>
            <a:r>
              <a:rPr lang="en-US" sz="1200" b="1" kern="0" spc="300" dirty="0">
                <a:solidFill>
                  <a:srgbClr val="0E7C86"/>
                </a:solidFill>
                <a:latin typeface="Calibri" pitchFamily="34" charset="0"/>
                <a:ea typeface="Calibri" pitchFamily="34" charset="-122"/>
                <a:cs typeface="Calibri" pitchFamily="34" charset="-120"/>
              </a:rPr>
              <a:t>PIPELINE ARCHITECTURE AND TESTING</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marL="0" indent="0">
              <a:buNone/>
            </a:pPr>
            <a:r>
              <a:rPr lang="en-US" sz="3000" b="1" dirty="0">
                <a:solidFill>
                  <a:srgbClr val="0B1F33"/>
                </a:solidFill>
                <a:latin typeface="Cambria" pitchFamily="34" charset="0"/>
                <a:ea typeface="Cambria" pitchFamily="34" charset="-122"/>
                <a:cs typeface="Cambria" pitchFamily="34" charset="-120"/>
              </a:rPr>
              <a:t>Features are built before the split, so station history can cross partitions</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marL="0" indent="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marL="0" indent="0" algn="r">
              <a:buNone/>
            </a:pPr>
            <a:r>
              <a:rPr lang="en-US" sz="1000" dirty="0">
                <a:solidFill>
                  <a:srgbClr val="5B6B7A"/>
                </a:solidFill>
                <a:latin typeface="Calibri" pitchFamily="34" charset="0"/>
                <a:ea typeface="Calibri" pitchFamily="34" charset="-122"/>
                <a:cs typeface="Calibri" pitchFamily="34" charset="-120"/>
              </a:rPr>
              <a:t>8</a:t>
            </a:r>
            <a:endParaRPr lang="en-US" sz="1000" dirty="0"/>
          </a:p>
        </p:txBody>
      </p:sp>
      <p:sp>
        <p:nvSpPr>
          <p:cNvPr id="7" name="Shape 4"/>
          <p:cNvSpPr/>
          <p:nvPr/>
        </p:nvSpPr>
        <p:spPr>
          <a:xfrm>
            <a:off x="548640" y="1783080"/>
            <a:ext cx="2606040" cy="1051560"/>
          </a:xfrm>
          <a:prstGeom prst="rect">
            <a:avLst/>
          </a:prstGeom>
          <a:solidFill>
            <a:srgbClr val="0B1F33"/>
          </a:solidFill>
          <a:ln w="12700">
            <a:solidFill>
              <a:srgbClr val="0B1F33"/>
            </a:solidFill>
            <a:prstDash val="solid"/>
          </a:ln>
        </p:spPr>
        <p:txBody>
          <a:bodyPr/>
          <a:lstStyle/>
          <a:p>
            <a:endParaRPr lang="en-US"/>
          </a:p>
        </p:txBody>
      </p:sp>
      <p:sp>
        <p:nvSpPr>
          <p:cNvPr id="8" name="Text 5"/>
          <p:cNvSpPr txBox="1"/>
          <p:nvPr/>
        </p:nvSpPr>
        <p:spPr>
          <a:xfrm>
            <a:off x="685800" y="1892808"/>
            <a:ext cx="2377440" cy="36576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1  Load cleaned data</a:t>
            </a:r>
            <a:endParaRPr lang="en-US" sz="1500" dirty="0"/>
          </a:p>
        </p:txBody>
      </p:sp>
      <p:sp>
        <p:nvSpPr>
          <p:cNvPr id="9" name="Text 6"/>
          <p:cNvSpPr txBox="1"/>
          <p:nvPr/>
        </p:nvSpPr>
        <p:spPr>
          <a:xfrm>
            <a:off x="685800" y="2313432"/>
            <a:ext cx="2377440" cy="411480"/>
          </a:xfrm>
          <a:prstGeom prst="rect">
            <a:avLst/>
          </a:prstGeom>
          <a:noFill/>
          <a:ln/>
        </p:spPr>
        <p:txBody>
          <a:bodyPr wrap="square" lIns="0" tIns="0" rIns="0" bIns="0" rtlCol="0" anchor="t"/>
          <a:lstStyle/>
          <a:p>
            <a:pPr marL="0" indent="0">
              <a:buNone/>
            </a:pPr>
            <a:r>
              <a:rPr lang="en-US" sz="1200" dirty="0">
                <a:solidFill>
                  <a:srgbClr val="FFFFFF"/>
                </a:solidFill>
                <a:latin typeface="Calibri" pitchFamily="34" charset="0"/>
                <a:ea typeface="Calibri" pitchFamily="34" charset="-122"/>
                <a:cs typeface="Calibri" pitchFamily="34" charset="-120"/>
              </a:rPr>
              <a:t>2,819,617 rows, 0 nulls</a:t>
            </a:r>
            <a:endParaRPr lang="en-US" sz="1200" dirty="0"/>
          </a:p>
        </p:txBody>
      </p:sp>
      <p:sp>
        <p:nvSpPr>
          <p:cNvPr id="10" name="Shape 7"/>
          <p:cNvSpPr/>
          <p:nvPr/>
        </p:nvSpPr>
        <p:spPr>
          <a:xfrm>
            <a:off x="3355848" y="1783080"/>
            <a:ext cx="2606040" cy="1051560"/>
          </a:xfrm>
          <a:prstGeom prst="rect">
            <a:avLst/>
          </a:prstGeom>
          <a:solidFill>
            <a:srgbClr val="0B1F33"/>
          </a:solidFill>
          <a:ln w="12700">
            <a:solidFill>
              <a:srgbClr val="0B1F33"/>
            </a:solidFill>
            <a:prstDash val="solid"/>
          </a:ln>
        </p:spPr>
        <p:txBody>
          <a:bodyPr/>
          <a:lstStyle/>
          <a:p>
            <a:endParaRPr lang="en-US"/>
          </a:p>
        </p:txBody>
      </p:sp>
      <p:sp>
        <p:nvSpPr>
          <p:cNvPr id="11" name="Text 8"/>
          <p:cNvSpPr txBox="1"/>
          <p:nvPr/>
        </p:nvSpPr>
        <p:spPr>
          <a:xfrm>
            <a:off x="3493008" y="1892808"/>
            <a:ext cx="2377440" cy="36576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2  38 features</a:t>
            </a:r>
            <a:endParaRPr lang="en-US" sz="1500" dirty="0"/>
          </a:p>
        </p:txBody>
      </p:sp>
      <p:sp>
        <p:nvSpPr>
          <p:cNvPr id="12" name="Text 9"/>
          <p:cNvSpPr txBox="1"/>
          <p:nvPr/>
        </p:nvSpPr>
        <p:spPr>
          <a:xfrm>
            <a:off x="3493008" y="2313432"/>
            <a:ext cx="2377440" cy="411480"/>
          </a:xfrm>
          <a:prstGeom prst="rect">
            <a:avLst/>
          </a:prstGeom>
          <a:noFill/>
          <a:ln/>
        </p:spPr>
        <p:txBody>
          <a:bodyPr wrap="square" lIns="0" tIns="0" rIns="0" bIns="0" rtlCol="0" anchor="t"/>
          <a:lstStyle/>
          <a:p>
            <a:pPr marL="0" indent="0">
              <a:buNone/>
            </a:pPr>
            <a:r>
              <a:rPr lang="en-US" sz="1200" dirty="0">
                <a:solidFill>
                  <a:srgbClr val="FFFFFF"/>
                </a:solidFill>
                <a:latin typeface="Calibri" pitchFamily="34" charset="0"/>
                <a:ea typeface="Calibri" pitchFamily="34" charset="-122"/>
                <a:cs typeface="Calibri" pitchFamily="34" charset="-120"/>
              </a:rPr>
              <a:t>lags built on full data</a:t>
            </a:r>
            <a:endParaRPr lang="en-US" sz="1200" dirty="0"/>
          </a:p>
        </p:txBody>
      </p:sp>
      <p:sp>
        <p:nvSpPr>
          <p:cNvPr id="13" name="Shape 10"/>
          <p:cNvSpPr/>
          <p:nvPr/>
        </p:nvSpPr>
        <p:spPr>
          <a:xfrm>
            <a:off x="6163056" y="1783080"/>
            <a:ext cx="2606040" cy="1051560"/>
          </a:xfrm>
          <a:prstGeom prst="rect">
            <a:avLst/>
          </a:prstGeom>
          <a:solidFill>
            <a:srgbClr val="D98A1F"/>
          </a:solidFill>
          <a:ln w="12700">
            <a:solidFill>
              <a:srgbClr val="D98A1F"/>
            </a:solidFill>
            <a:prstDash val="solid"/>
          </a:ln>
        </p:spPr>
        <p:txBody>
          <a:bodyPr/>
          <a:lstStyle/>
          <a:p>
            <a:endParaRPr lang="en-US"/>
          </a:p>
        </p:txBody>
      </p:sp>
      <p:sp>
        <p:nvSpPr>
          <p:cNvPr id="14" name="Text 11"/>
          <p:cNvSpPr txBox="1"/>
          <p:nvPr/>
        </p:nvSpPr>
        <p:spPr>
          <a:xfrm>
            <a:off x="6300216" y="1892808"/>
            <a:ext cx="2377440" cy="36576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3  Target check</a:t>
            </a:r>
            <a:endParaRPr lang="en-US" sz="1500" dirty="0"/>
          </a:p>
        </p:txBody>
      </p:sp>
      <p:sp>
        <p:nvSpPr>
          <p:cNvPr id="15" name="Text 12"/>
          <p:cNvSpPr txBox="1"/>
          <p:nvPr/>
        </p:nvSpPr>
        <p:spPr>
          <a:xfrm>
            <a:off x="6300216" y="2313432"/>
            <a:ext cx="2377440" cy="411480"/>
          </a:xfrm>
          <a:prstGeom prst="rect">
            <a:avLst/>
          </a:prstGeom>
          <a:noFill/>
          <a:ln/>
        </p:spPr>
        <p:txBody>
          <a:bodyPr wrap="square" lIns="0" tIns="0" rIns="0" bIns="0" rtlCol="0" anchor="t"/>
          <a:lstStyle/>
          <a:p>
            <a:pPr marL="0" indent="0">
              <a:buNone/>
            </a:pPr>
            <a:r>
              <a:rPr lang="en-US" sz="1200" dirty="0">
                <a:solidFill>
                  <a:srgbClr val="FFFFFF"/>
                </a:solidFill>
                <a:latin typeface="Calibri" pitchFamily="34" charset="0"/>
                <a:ea typeface="Calibri" pitchFamily="34" charset="-122"/>
                <a:cs typeface="Calibri" pitchFamily="34" charset="-120"/>
              </a:rPr>
              <a:t>targets not in features</a:t>
            </a:r>
            <a:endParaRPr lang="en-US" sz="1200" dirty="0"/>
          </a:p>
        </p:txBody>
      </p:sp>
      <p:sp>
        <p:nvSpPr>
          <p:cNvPr id="16" name="Shape 13"/>
          <p:cNvSpPr/>
          <p:nvPr/>
        </p:nvSpPr>
        <p:spPr>
          <a:xfrm>
            <a:off x="8970264" y="1783080"/>
            <a:ext cx="2606040" cy="1051560"/>
          </a:xfrm>
          <a:prstGeom prst="rect">
            <a:avLst/>
          </a:prstGeom>
          <a:solidFill>
            <a:srgbClr val="D98A1F"/>
          </a:solidFill>
          <a:ln w="12700">
            <a:solidFill>
              <a:srgbClr val="D98A1F"/>
            </a:solidFill>
            <a:prstDash val="solid"/>
          </a:ln>
        </p:spPr>
        <p:txBody>
          <a:bodyPr/>
          <a:lstStyle/>
          <a:p>
            <a:endParaRPr lang="en-US"/>
          </a:p>
        </p:txBody>
      </p:sp>
      <p:sp>
        <p:nvSpPr>
          <p:cNvPr id="17" name="Text 14"/>
          <p:cNvSpPr txBox="1"/>
          <p:nvPr/>
        </p:nvSpPr>
        <p:spPr>
          <a:xfrm>
            <a:off x="9107424" y="1892808"/>
            <a:ext cx="2377440" cy="36576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4  Stratified split</a:t>
            </a:r>
            <a:endParaRPr lang="en-US" sz="1500" dirty="0"/>
          </a:p>
        </p:txBody>
      </p:sp>
      <p:sp>
        <p:nvSpPr>
          <p:cNvPr id="18" name="Text 15"/>
          <p:cNvSpPr txBox="1"/>
          <p:nvPr/>
        </p:nvSpPr>
        <p:spPr>
          <a:xfrm>
            <a:off x="9107424" y="2313432"/>
            <a:ext cx="2377440" cy="411480"/>
          </a:xfrm>
          <a:prstGeom prst="rect">
            <a:avLst/>
          </a:prstGeom>
          <a:noFill/>
          <a:ln/>
        </p:spPr>
        <p:txBody>
          <a:bodyPr wrap="square" lIns="0" tIns="0" rIns="0" bIns="0" rtlCol="0" anchor="t"/>
          <a:lstStyle/>
          <a:p>
            <a:pPr marL="0" indent="0">
              <a:buNone/>
            </a:pPr>
            <a:r>
              <a:rPr lang="en-US" sz="1200" dirty="0">
                <a:solidFill>
                  <a:srgbClr val="FFFFFF"/>
                </a:solidFill>
                <a:latin typeface="Calibri" pitchFamily="34" charset="0"/>
                <a:ea typeface="Calibri" pitchFamily="34" charset="-122"/>
                <a:cs typeface="Calibri" pitchFamily="34" charset="-120"/>
              </a:rPr>
              <a:t>random, by WQI tier</a:t>
            </a:r>
            <a:endParaRPr lang="en-US" sz="1200" dirty="0"/>
          </a:p>
        </p:txBody>
      </p:sp>
      <p:sp>
        <p:nvSpPr>
          <p:cNvPr id="19" name="Shape 16"/>
          <p:cNvSpPr/>
          <p:nvPr/>
        </p:nvSpPr>
        <p:spPr>
          <a:xfrm>
            <a:off x="548640" y="3017520"/>
            <a:ext cx="2606040" cy="1051560"/>
          </a:xfrm>
          <a:prstGeom prst="rect">
            <a:avLst/>
          </a:prstGeom>
          <a:solidFill>
            <a:srgbClr val="0E7C86"/>
          </a:solidFill>
          <a:ln w="12700">
            <a:solidFill>
              <a:srgbClr val="0E7C86"/>
            </a:solidFill>
            <a:prstDash val="solid"/>
          </a:ln>
        </p:spPr>
        <p:txBody>
          <a:bodyPr/>
          <a:lstStyle/>
          <a:p>
            <a:endParaRPr lang="en-US"/>
          </a:p>
        </p:txBody>
      </p:sp>
      <p:sp>
        <p:nvSpPr>
          <p:cNvPr id="20" name="Text 17"/>
          <p:cNvSpPr txBox="1"/>
          <p:nvPr/>
        </p:nvSpPr>
        <p:spPr>
          <a:xfrm>
            <a:off x="685800" y="3127248"/>
            <a:ext cx="2377440" cy="36576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5  Train RF + XGB</a:t>
            </a:r>
            <a:endParaRPr lang="en-US" sz="1500" dirty="0"/>
          </a:p>
        </p:txBody>
      </p:sp>
      <p:sp>
        <p:nvSpPr>
          <p:cNvPr id="21" name="Text 18"/>
          <p:cNvSpPr txBox="1"/>
          <p:nvPr/>
        </p:nvSpPr>
        <p:spPr>
          <a:xfrm>
            <a:off x="685800" y="3547872"/>
            <a:ext cx="2377440" cy="411480"/>
          </a:xfrm>
          <a:prstGeom prst="rect">
            <a:avLst/>
          </a:prstGeom>
          <a:noFill/>
          <a:ln/>
        </p:spPr>
        <p:txBody>
          <a:bodyPr wrap="square" lIns="0" tIns="0" rIns="0" bIns="0" rtlCol="0" anchor="t"/>
          <a:lstStyle/>
          <a:p>
            <a:pPr marL="0" indent="0">
              <a:buNone/>
            </a:pPr>
            <a:r>
              <a:rPr lang="en-US" sz="1200" dirty="0">
                <a:solidFill>
                  <a:srgbClr val="FFFFFF"/>
                </a:solidFill>
                <a:latin typeface="Calibri" pitchFamily="34" charset="0"/>
                <a:ea typeface="Calibri" pitchFamily="34" charset="-122"/>
                <a:cs typeface="Calibri" pitchFamily="34" charset="-120"/>
              </a:rPr>
              <a:t>XGB early-stops on val</a:t>
            </a:r>
            <a:endParaRPr lang="en-US" sz="1200" dirty="0"/>
          </a:p>
        </p:txBody>
      </p:sp>
      <p:sp>
        <p:nvSpPr>
          <p:cNvPr id="22" name="Shape 19"/>
          <p:cNvSpPr/>
          <p:nvPr/>
        </p:nvSpPr>
        <p:spPr>
          <a:xfrm>
            <a:off x="3355848" y="3017520"/>
            <a:ext cx="2606040" cy="1051560"/>
          </a:xfrm>
          <a:prstGeom prst="rect">
            <a:avLst/>
          </a:prstGeom>
          <a:solidFill>
            <a:srgbClr val="0E7C86"/>
          </a:solidFill>
          <a:ln w="12700">
            <a:solidFill>
              <a:srgbClr val="0E7C86"/>
            </a:solidFill>
            <a:prstDash val="solid"/>
          </a:ln>
        </p:spPr>
        <p:txBody>
          <a:bodyPr/>
          <a:lstStyle/>
          <a:p>
            <a:endParaRPr lang="en-US"/>
          </a:p>
        </p:txBody>
      </p:sp>
      <p:sp>
        <p:nvSpPr>
          <p:cNvPr id="23" name="Text 20"/>
          <p:cNvSpPr txBox="1"/>
          <p:nvPr/>
        </p:nvSpPr>
        <p:spPr>
          <a:xfrm>
            <a:off x="3493008" y="3127248"/>
            <a:ext cx="2377440" cy="36576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6  Evaluate</a:t>
            </a:r>
            <a:endParaRPr lang="en-US" sz="1500" dirty="0"/>
          </a:p>
        </p:txBody>
      </p:sp>
      <p:sp>
        <p:nvSpPr>
          <p:cNvPr id="24" name="Text 21"/>
          <p:cNvSpPr txBox="1"/>
          <p:nvPr/>
        </p:nvSpPr>
        <p:spPr>
          <a:xfrm>
            <a:off x="3493008" y="3547872"/>
            <a:ext cx="2377440" cy="411480"/>
          </a:xfrm>
          <a:prstGeom prst="rect">
            <a:avLst/>
          </a:prstGeom>
          <a:noFill/>
          <a:ln/>
        </p:spPr>
        <p:txBody>
          <a:bodyPr wrap="square" lIns="0" tIns="0" rIns="0" bIns="0" rtlCol="0" anchor="t"/>
          <a:lstStyle/>
          <a:p>
            <a:pPr marL="0" indent="0">
              <a:buNone/>
            </a:pPr>
            <a:r>
              <a:rPr lang="en-US" sz="1200" dirty="0">
                <a:solidFill>
                  <a:srgbClr val="FFFFFF"/>
                </a:solidFill>
                <a:latin typeface="Calibri" pitchFamily="34" charset="0"/>
                <a:ea typeface="Calibri" pitchFamily="34" charset="-122"/>
                <a:cs typeface="Calibri" pitchFamily="34" charset="-120"/>
              </a:rPr>
              <a:t>validation only</a:t>
            </a:r>
            <a:endParaRPr lang="en-US" sz="1200" dirty="0"/>
          </a:p>
        </p:txBody>
      </p:sp>
      <p:sp>
        <p:nvSpPr>
          <p:cNvPr id="25" name="Shape 22"/>
          <p:cNvSpPr/>
          <p:nvPr/>
        </p:nvSpPr>
        <p:spPr>
          <a:xfrm>
            <a:off x="6163056" y="3017520"/>
            <a:ext cx="2606040" cy="1051560"/>
          </a:xfrm>
          <a:prstGeom prst="rect">
            <a:avLst/>
          </a:prstGeom>
          <a:solidFill>
            <a:srgbClr val="0E7C86"/>
          </a:solidFill>
          <a:ln w="12700">
            <a:solidFill>
              <a:srgbClr val="0E7C86"/>
            </a:solidFill>
            <a:prstDash val="solid"/>
          </a:ln>
        </p:spPr>
        <p:txBody>
          <a:bodyPr/>
          <a:lstStyle/>
          <a:p>
            <a:endParaRPr lang="en-US"/>
          </a:p>
        </p:txBody>
      </p:sp>
      <p:sp>
        <p:nvSpPr>
          <p:cNvPr id="26" name="Text 23"/>
          <p:cNvSpPr txBox="1"/>
          <p:nvPr/>
        </p:nvSpPr>
        <p:spPr>
          <a:xfrm>
            <a:off x="6300216" y="3127248"/>
            <a:ext cx="2377440" cy="36576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7  Importance</a:t>
            </a:r>
            <a:endParaRPr lang="en-US" sz="1500" dirty="0"/>
          </a:p>
        </p:txBody>
      </p:sp>
      <p:sp>
        <p:nvSpPr>
          <p:cNvPr id="27" name="Text 24"/>
          <p:cNvSpPr txBox="1"/>
          <p:nvPr/>
        </p:nvSpPr>
        <p:spPr>
          <a:xfrm>
            <a:off x="6300216" y="3547872"/>
            <a:ext cx="2377440" cy="411480"/>
          </a:xfrm>
          <a:prstGeom prst="rect">
            <a:avLst/>
          </a:prstGeom>
          <a:noFill/>
          <a:ln/>
        </p:spPr>
        <p:txBody>
          <a:bodyPr wrap="square" lIns="0" tIns="0" rIns="0" bIns="0" rtlCol="0" anchor="t"/>
          <a:lstStyle/>
          <a:p>
            <a:pPr marL="0" indent="0">
              <a:buNone/>
            </a:pPr>
            <a:r>
              <a:rPr lang="en-US" sz="1200" dirty="0">
                <a:solidFill>
                  <a:srgbClr val="FFFFFF"/>
                </a:solidFill>
                <a:latin typeface="Calibri" pitchFamily="34" charset="0"/>
                <a:ea typeface="Calibri" pitchFamily="34" charset="-122"/>
                <a:cs typeface="Calibri" pitchFamily="34" charset="-120"/>
              </a:rPr>
              <a:t>built-in + SHAP (250 rows)</a:t>
            </a:r>
            <a:endParaRPr lang="en-US" sz="1200" dirty="0"/>
          </a:p>
        </p:txBody>
      </p:sp>
      <p:sp>
        <p:nvSpPr>
          <p:cNvPr id="28" name="Shape 25"/>
          <p:cNvSpPr/>
          <p:nvPr/>
        </p:nvSpPr>
        <p:spPr>
          <a:xfrm>
            <a:off x="8970264" y="3017520"/>
            <a:ext cx="2606040" cy="1051560"/>
          </a:xfrm>
          <a:prstGeom prst="rect">
            <a:avLst/>
          </a:prstGeom>
          <a:solidFill>
            <a:srgbClr val="5B6B7A"/>
          </a:solidFill>
          <a:ln w="12700">
            <a:solidFill>
              <a:srgbClr val="5B6B7A"/>
            </a:solidFill>
            <a:prstDash val="solid"/>
          </a:ln>
        </p:spPr>
        <p:txBody>
          <a:bodyPr/>
          <a:lstStyle/>
          <a:p>
            <a:endParaRPr lang="en-US"/>
          </a:p>
        </p:txBody>
      </p:sp>
      <p:sp>
        <p:nvSpPr>
          <p:cNvPr id="29" name="Text 26"/>
          <p:cNvSpPr txBox="1"/>
          <p:nvPr/>
        </p:nvSpPr>
        <p:spPr>
          <a:xfrm>
            <a:off x="9107424" y="3127248"/>
            <a:ext cx="2377440" cy="36576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8  Test set</a:t>
            </a:r>
            <a:endParaRPr lang="en-US" sz="1500" dirty="0"/>
          </a:p>
        </p:txBody>
      </p:sp>
      <p:sp>
        <p:nvSpPr>
          <p:cNvPr id="30" name="Text 27"/>
          <p:cNvSpPr txBox="1"/>
          <p:nvPr/>
        </p:nvSpPr>
        <p:spPr>
          <a:xfrm>
            <a:off x="9107424" y="3547872"/>
            <a:ext cx="2377440" cy="411480"/>
          </a:xfrm>
          <a:prstGeom prst="rect">
            <a:avLst/>
          </a:prstGeom>
          <a:noFill/>
          <a:ln/>
        </p:spPr>
        <p:txBody>
          <a:bodyPr wrap="square" lIns="0" tIns="0" rIns="0" bIns="0" rtlCol="0" anchor="t"/>
          <a:lstStyle/>
          <a:p>
            <a:pPr marL="0" indent="0">
              <a:buNone/>
            </a:pPr>
            <a:r>
              <a:rPr lang="en-US" sz="1200" dirty="0">
                <a:solidFill>
                  <a:srgbClr val="FFFFFF"/>
                </a:solidFill>
                <a:latin typeface="Calibri" pitchFamily="34" charset="0"/>
                <a:ea typeface="Calibri" pitchFamily="34" charset="-122"/>
                <a:cs typeface="Calibri" pitchFamily="34" charset="-120"/>
              </a:rPr>
              <a:t>held out, not yet scored</a:t>
            </a:r>
            <a:endParaRPr lang="en-US" sz="1200" dirty="0"/>
          </a:p>
        </p:txBody>
      </p:sp>
      <p:sp>
        <p:nvSpPr>
          <p:cNvPr id="31" name="Text 28"/>
          <p:cNvSpPr txBox="1"/>
          <p:nvPr/>
        </p:nvSpPr>
        <p:spPr>
          <a:xfrm>
            <a:off x="548640" y="4251960"/>
            <a:ext cx="10972800" cy="274320"/>
          </a:xfrm>
          <a:prstGeom prst="rect">
            <a:avLst/>
          </a:prstGeom>
          <a:noFill/>
          <a:ln/>
        </p:spPr>
        <p:txBody>
          <a:bodyPr wrap="square" lIns="0" tIns="0" rIns="0" bIns="0" rtlCol="0" anchor="t"/>
          <a:lstStyle/>
          <a:p>
            <a:pPr marL="0" indent="0">
              <a:buNone/>
            </a:pPr>
            <a:r>
              <a:rPr lang="en-US" sz="1100" dirty="0">
                <a:solidFill>
                  <a:srgbClr val="5B6B7A"/>
                </a:solidFill>
                <a:latin typeface="Calibri" pitchFamily="34" charset="0"/>
                <a:ea typeface="Calibri" pitchFamily="34" charset="-122"/>
                <a:cs typeface="Calibri" pitchFamily="34" charset="-120"/>
              </a:rPr>
              <a:t>Navy = before split · Amber = leakage-sensitive · Teal = after split · Grey = not yet done</a:t>
            </a:r>
            <a:endParaRPr lang="en-US" sz="1100" dirty="0"/>
          </a:p>
        </p:txBody>
      </p:sp>
      <p:sp>
        <p:nvSpPr>
          <p:cNvPr id="32" name="Shape 29"/>
          <p:cNvSpPr/>
          <p:nvPr/>
        </p:nvSpPr>
        <p:spPr>
          <a:xfrm>
            <a:off x="548640" y="4663440"/>
            <a:ext cx="11091672" cy="1508760"/>
          </a:xfrm>
          <a:prstGeom prst="rect">
            <a:avLst/>
          </a:prstGeom>
          <a:solidFill>
            <a:srgbClr val="EAF4F6"/>
          </a:solidFill>
          <a:ln w="12700">
            <a:solidFill>
              <a:srgbClr val="EAF4F6"/>
            </a:solidFill>
            <a:prstDash val="solid"/>
          </a:ln>
        </p:spPr>
        <p:txBody>
          <a:bodyPr/>
          <a:lstStyle/>
          <a:p>
            <a:endParaRPr lang="en-US"/>
          </a:p>
        </p:txBody>
      </p:sp>
      <p:sp>
        <p:nvSpPr>
          <p:cNvPr id="33" name="Text 30"/>
          <p:cNvSpPr txBox="1"/>
          <p:nvPr/>
        </p:nvSpPr>
        <p:spPr>
          <a:xfrm>
            <a:off x="777240" y="4754880"/>
            <a:ext cx="3657600" cy="320040"/>
          </a:xfrm>
          <a:prstGeom prst="rect">
            <a:avLst/>
          </a:prstGeom>
          <a:noFill/>
          <a:ln/>
        </p:spPr>
        <p:txBody>
          <a:bodyPr wrap="square" lIns="0" tIns="0" rIns="0" bIns="0" rtlCol="0" anchor="t"/>
          <a:lstStyle/>
          <a:p>
            <a:pPr marL="0" indent="0">
              <a:buNone/>
            </a:pPr>
            <a:r>
              <a:rPr lang="en-US" sz="1600" b="1" dirty="0">
                <a:solidFill>
                  <a:srgbClr val="0B1F33"/>
                </a:solidFill>
                <a:latin typeface="Cambria" pitchFamily="34" charset="0"/>
                <a:ea typeface="Cambria" pitchFamily="34" charset="-122"/>
                <a:cs typeface="Cambria" pitchFamily="34" charset="-120"/>
              </a:rPr>
              <a:t>Automated tests (pytest)</a:t>
            </a:r>
            <a:endParaRPr lang="en-US" sz="1600" dirty="0"/>
          </a:p>
        </p:txBody>
      </p:sp>
      <p:sp>
        <p:nvSpPr>
          <p:cNvPr id="34" name="Text 31"/>
          <p:cNvSpPr txBox="1"/>
          <p:nvPr/>
        </p:nvSpPr>
        <p:spPr>
          <a:xfrm>
            <a:off x="777240" y="5120640"/>
            <a:ext cx="5029200" cy="914400"/>
          </a:xfrm>
          <a:prstGeom prst="rect">
            <a:avLst/>
          </a:prstGeom>
          <a:noFill/>
          <a:ln/>
        </p:spPr>
        <p:txBody>
          <a:bodyPr wrap="square" lIns="0" tIns="0" rIns="0" bIns="0" rtlCol="0" anchor="t"/>
          <a:lstStyle/>
          <a:p>
            <a:pPr marL="0" indent="0">
              <a:buNone/>
            </a:pPr>
            <a:r>
              <a:rPr lang="en-US" sz="1300" dirty="0">
                <a:solidFill>
                  <a:srgbClr val="12202E"/>
                </a:solidFill>
                <a:latin typeface="Calibri" pitchFamily="34" charset="0"/>
                <a:ea typeface="Calibri" pitchFamily="34" charset="-122"/>
                <a:cs typeface="Calibri" pitchFamily="34" charset="-120"/>
              </a:rPr>
              <a:t>12 test functions: features 4 · leakage 2 · metrics 3 · models 3. Reported 100% pass in 1.65 s (not re-run here).</a:t>
            </a:r>
            <a:endParaRPr lang="en-US" sz="1300" dirty="0"/>
          </a:p>
        </p:txBody>
      </p:sp>
      <p:sp>
        <p:nvSpPr>
          <p:cNvPr id="35" name="Text 32"/>
          <p:cNvSpPr txBox="1"/>
          <p:nvPr/>
        </p:nvSpPr>
        <p:spPr>
          <a:xfrm>
            <a:off x="6126480" y="4754880"/>
            <a:ext cx="5349240" cy="1371600"/>
          </a:xfrm>
          <a:prstGeom prst="rect">
            <a:avLst/>
          </a:prstGeom>
          <a:noFill/>
          <a:ln/>
        </p:spPr>
        <p:txBody>
          <a:bodyPr wrap="square" lIns="0" tIns="0" rIns="0" bIns="0" rtlCol="0" anchor="t"/>
          <a:lstStyle/>
          <a:p>
            <a:pPr marL="0" indent="0">
              <a:buNone/>
            </a:pPr>
            <a:r>
              <a:rPr lang="en-US" sz="1300" b="1" dirty="0">
                <a:solidFill>
                  <a:srgbClr val="0E7C86"/>
                </a:solidFill>
                <a:latin typeface="Calibri" pitchFamily="34" charset="0"/>
                <a:ea typeface="Calibri" pitchFamily="34" charset="-122"/>
                <a:cs typeface="Calibri" pitchFamily="34" charset="-120"/>
              </a:rPr>
              <a:t>They check: </a:t>
            </a:r>
            <a:r>
              <a:rPr lang="en-US" sz="1300" dirty="0">
                <a:solidFill>
                  <a:srgbClr val="12202E"/>
                </a:solidFill>
                <a:latin typeface="Calibri" pitchFamily="34" charset="0"/>
                <a:ea typeface="Calibri" pitchFamily="34" charset="-122"/>
                <a:cs typeface="Calibri" pitchFamily="34" charset="-120"/>
              </a:rPr>
              <a:t>bound filtering, log1p, shift-1 lags per station, targets absent from X and from the 38-feature list, metric maths, model loading.</a:t>
            </a:r>
            <a:endParaRPr lang="en-US" sz="1300" dirty="0"/>
          </a:p>
          <a:p>
            <a:pPr marL="0" indent="0">
              <a:buNone/>
            </a:pPr>
            <a:r>
              <a:rPr lang="en-US" sz="1300" b="1" dirty="0">
                <a:solidFill>
                  <a:srgbClr val="D98A1F"/>
                </a:solidFill>
                <a:latin typeface="Calibri" pitchFamily="34" charset="0"/>
                <a:ea typeface="Calibri" pitchFamily="34" charset="-122"/>
                <a:cs typeface="Calibri" pitchFamily="34" charset="-120"/>
              </a:rPr>
              <a:t>They do not show: </a:t>
            </a:r>
            <a:r>
              <a:rPr lang="en-US" sz="1300" dirty="0">
                <a:solidFill>
                  <a:srgbClr val="12202E"/>
                </a:solidFill>
                <a:latin typeface="Calibri" pitchFamily="34" charset="0"/>
                <a:ea typeface="Calibri" pitchFamily="34" charset="-122"/>
                <a:cs typeface="Calibri" pitchFamily="34" charset="-120"/>
              </a:rPr>
              <a:t>that scores generalise to new stations or dates.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marL="0" indent="0">
              <a:buNone/>
            </a:pPr>
            <a:r>
              <a:rPr lang="en-US" sz="1200" b="1" kern="0" spc="300" dirty="0">
                <a:solidFill>
                  <a:srgbClr val="0E7C86"/>
                </a:solidFill>
                <a:latin typeface="Calibri" pitchFamily="34" charset="0"/>
                <a:ea typeface="Calibri" pitchFamily="34" charset="-122"/>
                <a:cs typeface="Calibri" pitchFamily="34" charset="-120"/>
              </a:rPr>
              <a:t>MODELING STRATEGY AND EVALUATION DESIGN</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marL="0" indent="0">
              <a:buNone/>
            </a:pPr>
            <a:r>
              <a:rPr lang="en-US" sz="3000" b="1" dirty="0">
                <a:solidFill>
                  <a:srgbClr val="0B1F33"/>
                </a:solidFill>
                <a:latin typeface="Cambria" pitchFamily="34" charset="0"/>
                <a:ea typeface="Cambria" pitchFamily="34" charset="-122"/>
                <a:cs typeface="Cambria" pitchFamily="34" charset="-120"/>
              </a:rPr>
              <a:t>Three regressors on one random stratified split, with the settings taken from the training notebook</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marL="0" indent="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marL="0" indent="0" algn="r">
              <a:buNone/>
            </a:pPr>
            <a:r>
              <a:rPr lang="en-US" sz="1000" dirty="0">
                <a:solidFill>
                  <a:srgbClr val="5B6B7A"/>
                </a:solidFill>
                <a:latin typeface="Calibri" pitchFamily="34" charset="0"/>
                <a:ea typeface="Calibri" pitchFamily="34" charset="-122"/>
                <a:cs typeface="Calibri" pitchFamily="34" charset="-120"/>
              </a:rPr>
              <a:t>9</a:t>
            </a:r>
            <a:endParaRPr lang="en-US" sz="1000" dirty="0"/>
          </a:p>
        </p:txBody>
      </p:sp>
      <p:sp>
        <p:nvSpPr>
          <p:cNvPr id="7" name="Shape 4"/>
          <p:cNvSpPr/>
          <p:nvPr/>
        </p:nvSpPr>
        <p:spPr>
          <a:xfrm>
            <a:off x="548640" y="1783080"/>
            <a:ext cx="7680960" cy="640080"/>
          </a:xfrm>
          <a:prstGeom prst="rect">
            <a:avLst/>
          </a:prstGeom>
          <a:solidFill>
            <a:srgbClr val="0B1F33"/>
          </a:solidFill>
          <a:ln w="19050">
            <a:solidFill>
              <a:srgbClr val="FFFFFF"/>
            </a:solidFill>
            <a:prstDash val="solid"/>
          </a:ln>
        </p:spPr>
        <p:txBody>
          <a:bodyPr/>
          <a:lstStyle/>
          <a:p>
            <a:endParaRPr lang="en-US"/>
          </a:p>
        </p:txBody>
      </p:sp>
      <p:sp>
        <p:nvSpPr>
          <p:cNvPr id="8" name="Text 5"/>
          <p:cNvSpPr txBox="1"/>
          <p:nvPr/>
        </p:nvSpPr>
        <p:spPr>
          <a:xfrm>
            <a:off x="548640" y="1783080"/>
            <a:ext cx="76809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Train 1,973,731 (70%)</a:t>
            </a:r>
            <a:endParaRPr lang="en-US" sz="1400" dirty="0"/>
          </a:p>
        </p:txBody>
      </p:sp>
      <p:sp>
        <p:nvSpPr>
          <p:cNvPr id="9" name="Shape 6"/>
          <p:cNvSpPr/>
          <p:nvPr/>
        </p:nvSpPr>
        <p:spPr>
          <a:xfrm>
            <a:off x="8229600" y="1783080"/>
            <a:ext cx="1705356" cy="640080"/>
          </a:xfrm>
          <a:prstGeom prst="rect">
            <a:avLst/>
          </a:prstGeom>
          <a:solidFill>
            <a:srgbClr val="0E7C86"/>
          </a:solidFill>
          <a:ln w="19050">
            <a:solidFill>
              <a:srgbClr val="FFFFFF"/>
            </a:solidFill>
            <a:prstDash val="solid"/>
          </a:ln>
        </p:spPr>
        <p:txBody>
          <a:bodyPr/>
          <a:lstStyle/>
          <a:p>
            <a:endParaRPr lang="en-US"/>
          </a:p>
        </p:txBody>
      </p:sp>
      <p:sp>
        <p:nvSpPr>
          <p:cNvPr id="10" name="Text 7"/>
          <p:cNvSpPr txBox="1"/>
          <p:nvPr/>
        </p:nvSpPr>
        <p:spPr>
          <a:xfrm>
            <a:off x="8229600" y="1783080"/>
            <a:ext cx="1705356" cy="64008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Val 422,943 (15%)</a:t>
            </a:r>
            <a:endParaRPr lang="en-US" sz="1100" dirty="0"/>
          </a:p>
        </p:txBody>
      </p:sp>
      <p:sp>
        <p:nvSpPr>
          <p:cNvPr id="11" name="Shape 8"/>
          <p:cNvSpPr/>
          <p:nvPr/>
        </p:nvSpPr>
        <p:spPr>
          <a:xfrm>
            <a:off x="9934956" y="1783080"/>
            <a:ext cx="1705356" cy="640080"/>
          </a:xfrm>
          <a:prstGeom prst="rect">
            <a:avLst/>
          </a:prstGeom>
          <a:solidFill>
            <a:srgbClr val="2EC4B6"/>
          </a:solidFill>
          <a:ln w="19050">
            <a:solidFill>
              <a:srgbClr val="FFFFFF"/>
            </a:solidFill>
            <a:prstDash val="solid"/>
          </a:ln>
        </p:spPr>
        <p:txBody>
          <a:bodyPr/>
          <a:lstStyle/>
          <a:p>
            <a:endParaRPr lang="en-US"/>
          </a:p>
        </p:txBody>
      </p:sp>
      <p:sp>
        <p:nvSpPr>
          <p:cNvPr id="12" name="Text 9"/>
          <p:cNvSpPr txBox="1"/>
          <p:nvPr/>
        </p:nvSpPr>
        <p:spPr>
          <a:xfrm>
            <a:off x="9934956" y="1783080"/>
            <a:ext cx="1705356" cy="640080"/>
          </a:xfrm>
          <a:prstGeom prst="rect">
            <a:avLst/>
          </a:prstGeom>
          <a:noFill/>
          <a:ln/>
        </p:spPr>
        <p:txBody>
          <a:bodyPr wrap="square" lIns="0" tIns="0" rIns="0" bIns="0" rtlCol="0" anchor="ctr"/>
          <a:lstStyle/>
          <a:p>
            <a:pPr marL="0" indent="0" algn="ctr">
              <a:buNone/>
            </a:pPr>
            <a:r>
              <a:rPr lang="en-US" sz="1100" b="1" dirty="0">
                <a:solidFill>
                  <a:srgbClr val="12202E"/>
                </a:solidFill>
                <a:latin typeface="Calibri" pitchFamily="34" charset="0"/>
                <a:ea typeface="Calibri" pitchFamily="34" charset="-122"/>
                <a:cs typeface="Calibri" pitchFamily="34" charset="-120"/>
              </a:rPr>
              <a:t>Test 422,943 (15%)</a:t>
            </a:r>
            <a:endParaRPr lang="en-US" sz="1100" dirty="0"/>
          </a:p>
        </p:txBody>
      </p:sp>
      <p:sp>
        <p:nvSpPr>
          <p:cNvPr id="13" name="Text 10"/>
          <p:cNvSpPr txBox="1"/>
          <p:nvPr/>
        </p:nvSpPr>
        <p:spPr>
          <a:xfrm>
            <a:off x="548640" y="2514600"/>
            <a:ext cx="11064240" cy="274320"/>
          </a:xfrm>
          <a:prstGeom prst="rect">
            <a:avLst/>
          </a:prstGeom>
          <a:noFill/>
          <a:ln/>
        </p:spPr>
        <p:txBody>
          <a:bodyPr wrap="square" lIns="0" tIns="0" rIns="0" bIns="0" rtlCol="0" anchor="t"/>
          <a:lstStyle/>
          <a:p>
            <a:pPr marL="0" indent="0">
              <a:buNone/>
            </a:pPr>
            <a:r>
              <a:rPr lang="en-US" sz="1200" dirty="0">
                <a:solidFill>
                  <a:srgbClr val="5B6B7A"/>
                </a:solidFill>
                <a:latin typeface="Calibri" pitchFamily="34" charset="0"/>
                <a:ea typeface="Calibri" pitchFamily="34" charset="-122"/>
                <a:cs typeface="Calibri" pitchFamily="34" charset="-120"/>
              </a:rPr>
              <a:t>Random, stratified by WQI tier, seed 42 · no station or time hold-out · reported metrics are on validation; the test set has not been scored</a:t>
            </a:r>
            <a:endParaRPr lang="en-US" sz="1200" dirty="0"/>
          </a:p>
        </p:txBody>
      </p:sp>
      <p:sp>
        <p:nvSpPr>
          <p:cNvPr id="14" name="Shape 11"/>
          <p:cNvSpPr/>
          <p:nvPr/>
        </p:nvSpPr>
        <p:spPr>
          <a:xfrm>
            <a:off x="548640" y="3017520"/>
            <a:ext cx="3611880" cy="3017520"/>
          </a:xfrm>
          <a:prstGeom prst="rect">
            <a:avLst/>
          </a:prstGeom>
          <a:solidFill>
            <a:srgbClr val="F4F8FA"/>
          </a:solidFill>
          <a:ln w="12700">
            <a:solidFill>
              <a:srgbClr val="F4F8FA"/>
            </a:solidFill>
            <a:prstDash val="solid"/>
          </a:ln>
        </p:spPr>
        <p:txBody>
          <a:bodyPr/>
          <a:lstStyle/>
          <a:p>
            <a:endParaRPr lang="en-US"/>
          </a:p>
        </p:txBody>
      </p:sp>
      <p:sp>
        <p:nvSpPr>
          <p:cNvPr id="15" name="Text 12"/>
          <p:cNvSpPr txBox="1"/>
          <p:nvPr/>
        </p:nvSpPr>
        <p:spPr>
          <a:xfrm>
            <a:off x="777240" y="3154680"/>
            <a:ext cx="3200400" cy="365760"/>
          </a:xfrm>
          <a:prstGeom prst="rect">
            <a:avLst/>
          </a:prstGeom>
          <a:noFill/>
          <a:ln/>
        </p:spPr>
        <p:txBody>
          <a:bodyPr wrap="square" lIns="0" tIns="0" rIns="0" bIns="0" rtlCol="0" anchor="t"/>
          <a:lstStyle/>
          <a:p>
            <a:pPr marL="0" indent="0">
              <a:buNone/>
            </a:pPr>
            <a:r>
              <a:rPr lang="en-US" sz="2000" b="1" dirty="0">
                <a:solidFill>
                  <a:srgbClr val="0E7C86"/>
                </a:solidFill>
                <a:latin typeface="Cambria" pitchFamily="34" charset="0"/>
                <a:ea typeface="Cambria" pitchFamily="34" charset="-122"/>
                <a:cs typeface="Cambria" pitchFamily="34" charset="-120"/>
              </a:rPr>
              <a:t>Mean baseline</a:t>
            </a:r>
            <a:endParaRPr lang="en-US" sz="2000" dirty="0"/>
          </a:p>
        </p:txBody>
      </p:sp>
      <p:sp>
        <p:nvSpPr>
          <p:cNvPr id="16" name="Text 13"/>
          <p:cNvSpPr txBox="1"/>
          <p:nvPr/>
        </p:nvSpPr>
        <p:spPr>
          <a:xfrm>
            <a:off x="777240" y="3657600"/>
            <a:ext cx="3200400" cy="1463040"/>
          </a:xfrm>
          <a:prstGeom prst="rect">
            <a:avLst/>
          </a:prstGeom>
          <a:noFill/>
          <a:ln/>
        </p:spPr>
        <p:txBody>
          <a:bodyPr wrap="square" lIns="0" tIns="0" rIns="0" bIns="0" rtlCol="0" anchor="t"/>
          <a:lstStyle/>
          <a:p>
            <a:pPr marL="0" indent="0">
              <a:buNone/>
            </a:pPr>
            <a:r>
              <a:rPr lang="en-US" sz="1500" dirty="0">
                <a:solidFill>
                  <a:srgbClr val="12202E"/>
                </a:solidFill>
                <a:latin typeface="Calibri" pitchFamily="34" charset="0"/>
                <a:ea typeface="Calibri" pitchFamily="34" charset="-122"/>
                <a:cs typeface="Calibri" pitchFamily="34" charset="-120"/>
              </a:rPr>
              <a:t>Predicts the training mean (85.05). The floor any model must beat.</a:t>
            </a:r>
            <a:endParaRPr lang="en-US" sz="1500" dirty="0"/>
          </a:p>
        </p:txBody>
      </p:sp>
      <p:sp>
        <p:nvSpPr>
          <p:cNvPr id="17" name="Text 14"/>
          <p:cNvSpPr txBox="1"/>
          <p:nvPr/>
        </p:nvSpPr>
        <p:spPr>
          <a:xfrm>
            <a:off x="777240" y="5212080"/>
            <a:ext cx="3200400" cy="731520"/>
          </a:xfrm>
          <a:prstGeom prst="rect">
            <a:avLst/>
          </a:prstGeom>
          <a:noFill/>
          <a:ln/>
        </p:spPr>
        <p:txBody>
          <a:bodyPr wrap="square" lIns="0" tIns="0" rIns="0" bIns="0" rtlCol="0" anchor="t"/>
          <a:lstStyle/>
          <a:p>
            <a:pPr marL="0" indent="0">
              <a:buNone/>
            </a:pPr>
            <a:r>
              <a:rPr lang="en-US" sz="1300" b="1" dirty="0">
                <a:solidFill>
                  <a:srgbClr val="5B6B7A"/>
                </a:solidFill>
                <a:latin typeface="Calibri" pitchFamily="34" charset="0"/>
                <a:ea typeface="Calibri" pitchFamily="34" charset="-122"/>
                <a:cs typeface="Calibri" pitchFamily="34" charset="-120"/>
              </a:rPr>
              <a:t>No fitting beyond the mean</a:t>
            </a:r>
            <a:endParaRPr lang="en-US" sz="1300" dirty="0"/>
          </a:p>
        </p:txBody>
      </p:sp>
      <p:sp>
        <p:nvSpPr>
          <p:cNvPr id="18" name="Shape 15"/>
          <p:cNvSpPr/>
          <p:nvPr/>
        </p:nvSpPr>
        <p:spPr>
          <a:xfrm>
            <a:off x="4297680" y="3017520"/>
            <a:ext cx="3611880" cy="3017520"/>
          </a:xfrm>
          <a:prstGeom prst="rect">
            <a:avLst/>
          </a:prstGeom>
          <a:solidFill>
            <a:srgbClr val="F4F8FA"/>
          </a:solidFill>
          <a:ln w="12700">
            <a:solidFill>
              <a:srgbClr val="F4F8FA"/>
            </a:solidFill>
            <a:prstDash val="solid"/>
          </a:ln>
        </p:spPr>
        <p:txBody>
          <a:bodyPr/>
          <a:lstStyle/>
          <a:p>
            <a:endParaRPr lang="en-US"/>
          </a:p>
        </p:txBody>
      </p:sp>
      <p:sp>
        <p:nvSpPr>
          <p:cNvPr id="19" name="Text 16"/>
          <p:cNvSpPr txBox="1"/>
          <p:nvPr/>
        </p:nvSpPr>
        <p:spPr>
          <a:xfrm>
            <a:off x="4526280" y="3154680"/>
            <a:ext cx="3200400" cy="365760"/>
          </a:xfrm>
          <a:prstGeom prst="rect">
            <a:avLst/>
          </a:prstGeom>
          <a:noFill/>
          <a:ln/>
        </p:spPr>
        <p:txBody>
          <a:bodyPr wrap="square" lIns="0" tIns="0" rIns="0" bIns="0" rtlCol="0" anchor="t"/>
          <a:lstStyle/>
          <a:p>
            <a:pPr marL="0" indent="0">
              <a:buNone/>
            </a:pPr>
            <a:r>
              <a:rPr lang="en-US" sz="2000" b="1" dirty="0">
                <a:solidFill>
                  <a:srgbClr val="0E7C86"/>
                </a:solidFill>
                <a:latin typeface="Cambria" pitchFamily="34" charset="0"/>
                <a:ea typeface="Cambria" pitchFamily="34" charset="-122"/>
                <a:cs typeface="Cambria" pitchFamily="34" charset="-120"/>
              </a:rPr>
              <a:t>Random Forest</a:t>
            </a:r>
            <a:endParaRPr lang="en-US" sz="2000" dirty="0"/>
          </a:p>
        </p:txBody>
      </p:sp>
      <p:sp>
        <p:nvSpPr>
          <p:cNvPr id="20" name="Text 17"/>
          <p:cNvSpPr txBox="1"/>
          <p:nvPr/>
        </p:nvSpPr>
        <p:spPr>
          <a:xfrm>
            <a:off x="4526280" y="3657600"/>
            <a:ext cx="3200400" cy="1463040"/>
          </a:xfrm>
          <a:prstGeom prst="rect">
            <a:avLst/>
          </a:prstGeom>
          <a:noFill/>
          <a:ln/>
        </p:spPr>
        <p:txBody>
          <a:bodyPr wrap="square" lIns="0" tIns="0" rIns="0" bIns="0" rtlCol="0" anchor="t"/>
          <a:lstStyle/>
          <a:p>
            <a:pPr marL="0" indent="0">
              <a:buNone/>
            </a:pPr>
            <a:r>
              <a:rPr lang="en-US" sz="1500" dirty="0">
                <a:solidFill>
                  <a:srgbClr val="12202E"/>
                </a:solidFill>
                <a:latin typeface="Calibri" pitchFamily="34" charset="0"/>
                <a:ea typeface="Calibri" pitchFamily="34" charset="-122"/>
                <a:cs typeface="Calibri" pitchFamily="34" charset="-120"/>
              </a:rPr>
              <a:t>30 trees, max depth 14, min leaf 5, all 38 features considered per split, seed 42.</a:t>
            </a:r>
            <a:endParaRPr lang="en-US" sz="1500" dirty="0"/>
          </a:p>
        </p:txBody>
      </p:sp>
      <p:sp>
        <p:nvSpPr>
          <p:cNvPr id="21" name="Text 18"/>
          <p:cNvSpPr txBox="1"/>
          <p:nvPr/>
        </p:nvSpPr>
        <p:spPr>
          <a:xfrm>
            <a:off x="4526280" y="5212080"/>
            <a:ext cx="3200400" cy="731520"/>
          </a:xfrm>
          <a:prstGeom prst="rect">
            <a:avLst/>
          </a:prstGeom>
          <a:noFill/>
          <a:ln/>
        </p:spPr>
        <p:txBody>
          <a:bodyPr wrap="square" lIns="0" tIns="0" rIns="0" bIns="0" rtlCol="0" anchor="t"/>
          <a:lstStyle/>
          <a:p>
            <a:pPr marL="0" indent="0">
              <a:buNone/>
            </a:pPr>
            <a:r>
              <a:rPr lang="en-US" sz="1300" b="1" dirty="0">
                <a:solidFill>
                  <a:srgbClr val="5B6B7A"/>
                </a:solidFill>
                <a:latin typeface="Calibri" pitchFamily="34" charset="0"/>
                <a:ea typeface="Calibri" pitchFamily="34" charset="-122"/>
                <a:cs typeface="Calibri" pitchFamily="34" charset="-120"/>
              </a:rPr>
              <a:t>Notebook = saved model</a:t>
            </a:r>
            <a:endParaRPr lang="en-US" sz="1300" dirty="0"/>
          </a:p>
        </p:txBody>
      </p:sp>
      <p:sp>
        <p:nvSpPr>
          <p:cNvPr id="22" name="Shape 19"/>
          <p:cNvSpPr/>
          <p:nvPr/>
        </p:nvSpPr>
        <p:spPr>
          <a:xfrm>
            <a:off x="8046720" y="3017520"/>
            <a:ext cx="3611880" cy="3017520"/>
          </a:xfrm>
          <a:prstGeom prst="rect">
            <a:avLst/>
          </a:prstGeom>
          <a:solidFill>
            <a:srgbClr val="F4F8FA"/>
          </a:solidFill>
          <a:ln w="12700">
            <a:solidFill>
              <a:srgbClr val="F4F8FA"/>
            </a:solidFill>
            <a:prstDash val="solid"/>
          </a:ln>
        </p:spPr>
        <p:txBody>
          <a:bodyPr/>
          <a:lstStyle/>
          <a:p>
            <a:endParaRPr lang="en-US"/>
          </a:p>
        </p:txBody>
      </p:sp>
      <p:sp>
        <p:nvSpPr>
          <p:cNvPr id="23" name="Text 20"/>
          <p:cNvSpPr txBox="1"/>
          <p:nvPr/>
        </p:nvSpPr>
        <p:spPr>
          <a:xfrm>
            <a:off x="8275320" y="3154680"/>
            <a:ext cx="3200400" cy="365760"/>
          </a:xfrm>
          <a:prstGeom prst="rect">
            <a:avLst/>
          </a:prstGeom>
          <a:noFill/>
          <a:ln/>
        </p:spPr>
        <p:txBody>
          <a:bodyPr wrap="square" lIns="0" tIns="0" rIns="0" bIns="0" rtlCol="0" anchor="t"/>
          <a:lstStyle/>
          <a:p>
            <a:pPr marL="0" indent="0">
              <a:buNone/>
            </a:pPr>
            <a:r>
              <a:rPr lang="en-US" sz="2000" b="1" dirty="0">
                <a:solidFill>
                  <a:srgbClr val="0E7C86"/>
                </a:solidFill>
                <a:latin typeface="Cambria" pitchFamily="34" charset="0"/>
                <a:ea typeface="Cambria" pitchFamily="34" charset="-122"/>
                <a:cs typeface="Cambria" pitchFamily="34" charset="-120"/>
              </a:rPr>
              <a:t>XGBoost</a:t>
            </a:r>
            <a:endParaRPr lang="en-US" sz="2000" dirty="0"/>
          </a:p>
        </p:txBody>
      </p:sp>
      <p:sp>
        <p:nvSpPr>
          <p:cNvPr id="24" name="Text 21"/>
          <p:cNvSpPr txBox="1"/>
          <p:nvPr/>
        </p:nvSpPr>
        <p:spPr>
          <a:xfrm>
            <a:off x="8275320" y="3657600"/>
            <a:ext cx="3200400" cy="1463040"/>
          </a:xfrm>
          <a:prstGeom prst="rect">
            <a:avLst/>
          </a:prstGeom>
          <a:noFill/>
          <a:ln/>
        </p:spPr>
        <p:txBody>
          <a:bodyPr wrap="square" lIns="0" tIns="0" rIns="0" bIns="0" rtlCol="0" anchor="t"/>
          <a:lstStyle/>
          <a:p>
            <a:pPr marL="0" indent="0">
              <a:buNone/>
            </a:pPr>
            <a:r>
              <a:rPr lang="en-US" sz="1500" dirty="0">
                <a:solidFill>
                  <a:srgbClr val="12202E"/>
                </a:solidFill>
                <a:latin typeface="Calibri" pitchFamily="34" charset="0"/>
                <a:ea typeface="Calibri" pitchFamily="34" charset="-122"/>
                <a:cs typeface="Calibri" pitchFamily="34" charset="-120"/>
              </a:rPr>
              <a:t>≤150 rounds, depth 6, η 0.08, subsample 0.8, colsample 0.8; early stopping (20) on validation; best round 149.</a:t>
            </a:r>
            <a:endParaRPr lang="en-US" sz="1500" dirty="0"/>
          </a:p>
        </p:txBody>
      </p:sp>
      <p:sp>
        <p:nvSpPr>
          <p:cNvPr id="25" name="Text 22"/>
          <p:cNvSpPr txBox="1"/>
          <p:nvPr/>
        </p:nvSpPr>
        <p:spPr>
          <a:xfrm>
            <a:off x="8275320" y="5212080"/>
            <a:ext cx="3200400" cy="731520"/>
          </a:xfrm>
          <a:prstGeom prst="rect">
            <a:avLst/>
          </a:prstGeom>
          <a:noFill/>
          <a:ln/>
        </p:spPr>
        <p:txBody>
          <a:bodyPr wrap="square" lIns="0" tIns="0" rIns="0" bIns="0" rtlCol="0" anchor="t"/>
          <a:lstStyle/>
          <a:p>
            <a:pPr marL="0" indent="0">
              <a:buNone/>
            </a:pPr>
            <a:r>
              <a:rPr lang="en-US" sz="1300" b="1" dirty="0">
                <a:solidFill>
                  <a:srgbClr val="5B6B7A"/>
                </a:solidFill>
                <a:latin typeface="Calibri" pitchFamily="34" charset="0"/>
                <a:ea typeface="Calibri" pitchFamily="34" charset="-122"/>
                <a:cs typeface="Calibri" pitchFamily="34" charset="-120"/>
              </a:rPr>
              <a:t>Early stopping uses the validation set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marL="0" indent="0">
              <a:buNone/>
            </a:pPr>
            <a:r>
              <a:rPr lang="en-US" sz="1200" b="1" kern="0" spc="300" dirty="0">
                <a:solidFill>
                  <a:srgbClr val="0E7C86"/>
                </a:solidFill>
                <a:latin typeface="Calibri" pitchFamily="34" charset="0"/>
                <a:ea typeface="Calibri" pitchFamily="34" charset="-122"/>
                <a:cs typeface="Calibri" pitchFamily="34" charset="-120"/>
              </a:rPr>
              <a:t>MODEL BENCHMARKING</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marL="0" indent="0">
              <a:buNone/>
            </a:pPr>
            <a:r>
              <a:rPr lang="en-US" sz="3000" b="1" dirty="0">
                <a:solidFill>
                  <a:srgbClr val="0B1F33"/>
                </a:solidFill>
                <a:latin typeface="Cambria" pitchFamily="34" charset="0"/>
                <a:ea typeface="Cambria" pitchFamily="34" charset="-122"/>
                <a:cs typeface="Cambria" pitchFamily="34" charset="-120"/>
              </a:rPr>
              <a:t>Tree ensembles reproduce the index almost exactly on validation rows</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marL="0" indent="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marL="0" indent="0" algn="r">
              <a:buNone/>
            </a:pPr>
            <a:r>
              <a:rPr lang="en-US" sz="1000" dirty="0">
                <a:solidFill>
                  <a:srgbClr val="5B6B7A"/>
                </a:solidFill>
                <a:latin typeface="Calibri" pitchFamily="34" charset="0"/>
                <a:ea typeface="Calibri" pitchFamily="34" charset="-122"/>
                <a:cs typeface="Calibri" pitchFamily="34" charset="-120"/>
              </a:rPr>
              <a:t>10</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85216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457200">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Model</a:t>
                      </a:r>
                      <a:endParaRPr lang="en-US" sz="14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0B1F33"/>
                    </a:solidFill>
                  </a:tcPr>
                </a:tc>
                <a:tc>
                  <a:txBody>
                    <a:bodyPr/>
                    <a:lstStyle/>
                    <a:p>
                      <a:pPr marL="0" indent="0" algn="r">
                        <a:buNone/>
                      </a:pPr>
                      <a:r>
                        <a:rPr lang="en-US" sz="1400" b="1" dirty="0">
                          <a:solidFill>
                            <a:srgbClr val="FFFFFF"/>
                          </a:solidFill>
                          <a:latin typeface="Calibri" pitchFamily="34" charset="0"/>
                          <a:ea typeface="Calibri" pitchFamily="34" charset="-122"/>
                          <a:cs typeface="Calibri" pitchFamily="34" charset="-120"/>
                        </a:rPr>
                        <a:t>MAE</a:t>
                      </a:r>
                      <a:endParaRPr lang="en-US" sz="14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0B1F33"/>
                    </a:solidFill>
                  </a:tcPr>
                </a:tc>
                <a:tc>
                  <a:txBody>
                    <a:bodyPr/>
                    <a:lstStyle/>
                    <a:p>
                      <a:pPr marL="0" indent="0" algn="r">
                        <a:buNone/>
                      </a:pPr>
                      <a:r>
                        <a:rPr lang="en-US" sz="1400" b="1" dirty="0">
                          <a:solidFill>
                            <a:srgbClr val="FFFFFF"/>
                          </a:solidFill>
                          <a:latin typeface="Calibri" pitchFamily="34" charset="0"/>
                          <a:ea typeface="Calibri" pitchFamily="34" charset="-122"/>
                          <a:cs typeface="Calibri" pitchFamily="34" charset="-120"/>
                        </a:rPr>
                        <a:t>RMSE</a:t>
                      </a:r>
                      <a:endParaRPr lang="en-US" sz="14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0B1F33"/>
                    </a:solidFill>
                  </a:tcPr>
                </a:tc>
                <a:tc>
                  <a:txBody>
                    <a:bodyPr/>
                    <a:lstStyle/>
                    <a:p>
                      <a:pPr marL="0" indent="0" algn="r">
                        <a:buNone/>
                      </a:pPr>
                      <a:r>
                        <a:rPr lang="en-US" sz="1400" b="1" dirty="0">
                          <a:solidFill>
                            <a:srgbClr val="FFFFFF"/>
                          </a:solidFill>
                          <a:latin typeface="Calibri" pitchFamily="34" charset="0"/>
                          <a:ea typeface="Calibri" pitchFamily="34" charset="-122"/>
                          <a:cs typeface="Calibri" pitchFamily="34" charset="-120"/>
                        </a:rPr>
                        <a:t>R²</a:t>
                      </a:r>
                      <a:endParaRPr lang="en-US" sz="14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457200">
                <a:tc>
                  <a:txBody>
                    <a:bodyPr/>
                    <a:lstStyle/>
                    <a:p>
                      <a:pPr marL="0" indent="0" algn="l">
                        <a:buNone/>
                      </a:pPr>
                      <a:r>
                        <a:rPr lang="en-US" sz="1400" dirty="0">
                          <a:solidFill>
                            <a:srgbClr val="12202E"/>
                          </a:solidFill>
                          <a:latin typeface="Calibri" pitchFamily="34" charset="0"/>
                          <a:ea typeface="Calibri" pitchFamily="34" charset="-122"/>
                          <a:cs typeface="Calibri" pitchFamily="34" charset="-120"/>
                        </a:rPr>
                        <a:t>Mean baseline</a:t>
                      </a:r>
                      <a:endParaRPr lang="en-US" sz="14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marL="0" indent="0" algn="r">
                        <a:buNone/>
                      </a:pPr>
                      <a:r>
                        <a:rPr lang="en-US" sz="1400" dirty="0">
                          <a:solidFill>
                            <a:srgbClr val="12202E"/>
                          </a:solidFill>
                          <a:latin typeface="Calibri" pitchFamily="34" charset="0"/>
                          <a:ea typeface="Calibri" pitchFamily="34" charset="-122"/>
                          <a:cs typeface="Calibri" pitchFamily="34" charset="-120"/>
                        </a:rPr>
                        <a:t>14.130</a:t>
                      </a:r>
                      <a:endParaRPr lang="en-US" sz="14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marL="0" indent="0" algn="r">
                        <a:buNone/>
                      </a:pPr>
                      <a:r>
                        <a:rPr lang="en-US" sz="1400" dirty="0">
                          <a:solidFill>
                            <a:srgbClr val="12202E"/>
                          </a:solidFill>
                          <a:latin typeface="Calibri" pitchFamily="34" charset="0"/>
                          <a:ea typeface="Calibri" pitchFamily="34" charset="-122"/>
                          <a:cs typeface="Calibri" pitchFamily="34" charset="-120"/>
                        </a:rPr>
                        <a:t>17.656</a:t>
                      </a:r>
                      <a:endParaRPr lang="en-US" sz="14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marL="0" indent="0" algn="r">
                        <a:buNone/>
                      </a:pPr>
                      <a:r>
                        <a:rPr lang="en-US" sz="1400" dirty="0">
                          <a:solidFill>
                            <a:srgbClr val="12202E"/>
                          </a:solidFill>
                          <a:latin typeface="Calibri" pitchFamily="34" charset="0"/>
                          <a:ea typeface="Calibri" pitchFamily="34" charset="-122"/>
                          <a:cs typeface="Calibri" pitchFamily="34" charset="-120"/>
                        </a:rPr>
                        <a:t>0.0000</a:t>
                      </a:r>
                      <a:endParaRPr lang="en-US" sz="14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400" b="1" dirty="0">
                          <a:solidFill>
                            <a:srgbClr val="12202E"/>
                          </a:solidFill>
                          <a:latin typeface="Calibri" pitchFamily="34" charset="0"/>
                          <a:ea typeface="Calibri" pitchFamily="34" charset="-122"/>
                          <a:cs typeface="Calibri" pitchFamily="34" charset="-120"/>
                        </a:rPr>
                        <a:t>Random Forest</a:t>
                      </a:r>
                      <a:endParaRPr lang="en-US" sz="14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EAF4F6"/>
                    </a:solidFill>
                  </a:tcPr>
                </a:tc>
                <a:tc>
                  <a:txBody>
                    <a:bodyPr/>
                    <a:lstStyle/>
                    <a:p>
                      <a:pPr marL="0" indent="0" algn="r">
                        <a:buNone/>
                      </a:pPr>
                      <a:r>
                        <a:rPr lang="en-US" sz="1400" b="1" dirty="0">
                          <a:solidFill>
                            <a:srgbClr val="12202E"/>
                          </a:solidFill>
                          <a:latin typeface="Calibri" pitchFamily="34" charset="0"/>
                          <a:ea typeface="Calibri" pitchFamily="34" charset="-122"/>
                          <a:cs typeface="Calibri" pitchFamily="34" charset="-120"/>
                        </a:rPr>
                        <a:t>0.052</a:t>
                      </a:r>
                      <a:endParaRPr lang="en-US" sz="14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EAF4F6"/>
                    </a:solidFill>
                  </a:tcPr>
                </a:tc>
                <a:tc>
                  <a:txBody>
                    <a:bodyPr/>
                    <a:lstStyle/>
                    <a:p>
                      <a:pPr marL="0" indent="0" algn="r">
                        <a:buNone/>
                      </a:pPr>
                      <a:r>
                        <a:rPr lang="en-US" sz="1400" b="1" dirty="0">
                          <a:solidFill>
                            <a:srgbClr val="12202E"/>
                          </a:solidFill>
                          <a:latin typeface="Calibri" pitchFamily="34" charset="0"/>
                          <a:ea typeface="Calibri" pitchFamily="34" charset="-122"/>
                          <a:cs typeface="Calibri" pitchFamily="34" charset="-120"/>
                        </a:rPr>
                        <a:t>0.208</a:t>
                      </a:r>
                      <a:endParaRPr lang="en-US" sz="14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EAF4F6"/>
                    </a:solidFill>
                  </a:tcPr>
                </a:tc>
                <a:tc>
                  <a:txBody>
                    <a:bodyPr/>
                    <a:lstStyle/>
                    <a:p>
                      <a:pPr marL="0" indent="0" algn="r">
                        <a:buNone/>
                      </a:pPr>
                      <a:r>
                        <a:rPr lang="en-US" sz="1400" b="1" dirty="0">
                          <a:solidFill>
                            <a:srgbClr val="12202E"/>
                          </a:solidFill>
                          <a:latin typeface="Calibri" pitchFamily="34" charset="0"/>
                          <a:ea typeface="Calibri" pitchFamily="34" charset="-122"/>
                          <a:cs typeface="Calibri" pitchFamily="34" charset="-120"/>
                        </a:rPr>
                        <a:t>0.9999</a:t>
                      </a:r>
                      <a:endParaRPr lang="en-US" sz="14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EAF4F6"/>
                    </a:solidFill>
                  </a:tcPr>
                </a:tc>
                <a:extLst>
                  <a:ext uri="{0D108BD9-81ED-4DB2-BD59-A6C34878D82A}">
                    <a16:rowId xmlns:a16="http://schemas.microsoft.com/office/drawing/2014/main" val="10002"/>
                  </a:ext>
                </a:extLst>
              </a:tr>
              <a:tr h="457200">
                <a:tc>
                  <a:txBody>
                    <a:bodyPr/>
                    <a:lstStyle/>
                    <a:p>
                      <a:pPr marL="0" indent="0" algn="l">
                        <a:buNone/>
                      </a:pPr>
                      <a:r>
                        <a:rPr lang="en-US" sz="1400" dirty="0">
                          <a:solidFill>
                            <a:srgbClr val="12202E"/>
                          </a:solidFill>
                          <a:latin typeface="Calibri" pitchFamily="34" charset="0"/>
                          <a:ea typeface="Calibri" pitchFamily="34" charset="-122"/>
                          <a:cs typeface="Calibri" pitchFamily="34" charset="-120"/>
                        </a:rPr>
                        <a:t>XGBoost</a:t>
                      </a:r>
                      <a:endParaRPr lang="en-US" sz="14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marL="0" indent="0" algn="r">
                        <a:buNone/>
                      </a:pPr>
                      <a:r>
                        <a:rPr lang="en-US" sz="1400" dirty="0">
                          <a:solidFill>
                            <a:srgbClr val="12202E"/>
                          </a:solidFill>
                          <a:latin typeface="Calibri" pitchFamily="34" charset="0"/>
                          <a:ea typeface="Calibri" pitchFamily="34" charset="-122"/>
                          <a:cs typeface="Calibri" pitchFamily="34" charset="-120"/>
                        </a:rPr>
                        <a:t>0.161</a:t>
                      </a:r>
                      <a:endParaRPr lang="en-US" sz="14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marL="0" indent="0" algn="r">
                        <a:buNone/>
                      </a:pPr>
                      <a:r>
                        <a:rPr lang="en-US" sz="1400" dirty="0">
                          <a:solidFill>
                            <a:srgbClr val="12202E"/>
                          </a:solidFill>
                          <a:latin typeface="Calibri" pitchFamily="34" charset="0"/>
                          <a:ea typeface="Calibri" pitchFamily="34" charset="-122"/>
                          <a:cs typeface="Calibri" pitchFamily="34" charset="-120"/>
                        </a:rPr>
                        <a:t>0.437</a:t>
                      </a:r>
                      <a:endParaRPr lang="en-US" sz="14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marL="0" indent="0" algn="r">
                        <a:buNone/>
                      </a:pPr>
                      <a:r>
                        <a:rPr lang="en-US" sz="1400" dirty="0">
                          <a:solidFill>
                            <a:srgbClr val="12202E"/>
                          </a:solidFill>
                          <a:latin typeface="Calibri" pitchFamily="34" charset="0"/>
                          <a:ea typeface="Calibri" pitchFamily="34" charset="-122"/>
                          <a:cs typeface="Calibri" pitchFamily="34" charset="-120"/>
                        </a:rPr>
                        <a:t>0.9994</a:t>
                      </a:r>
                      <a:endParaRPr lang="en-US" sz="1400" dirty="0">
                        <a:latin typeface="Calibri" charset="0"/>
                        <a:ea typeface="Calibri" charset="0"/>
                        <a:cs typeface="Calibri" charset="0"/>
                      </a:endParaRPr>
                    </a:p>
                  </a:txBody>
                  <a:tcPr>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8" name="Text 4"/>
          <p:cNvSpPr txBox="1"/>
          <p:nvPr/>
        </p:nvSpPr>
        <p:spPr>
          <a:xfrm>
            <a:off x="548640" y="4206240"/>
            <a:ext cx="5852160" cy="822960"/>
          </a:xfrm>
          <a:prstGeom prst="rect">
            <a:avLst/>
          </a:prstGeom>
          <a:noFill/>
          <a:ln/>
        </p:spPr>
        <p:txBody>
          <a:bodyPr wrap="square" lIns="0" tIns="0" rIns="0" bIns="0" rtlCol="0" anchor="t"/>
          <a:lstStyle/>
          <a:p>
            <a:pPr marL="0" indent="0">
              <a:buNone/>
            </a:pPr>
            <a:endParaRPr lang="en-US" sz="1200" dirty="0"/>
          </a:p>
        </p:txBody>
      </p:sp>
      <p:graphicFrame>
        <p:nvGraphicFramePr>
          <p:cNvPr id="9" name="Chart 0"/>
          <p:cNvGraphicFramePr/>
          <p:nvPr/>
        </p:nvGraphicFramePr>
        <p:xfrm>
          <a:off x="6675120" y="1691640"/>
          <a:ext cx="4965192" cy="329184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5"/>
          <p:cNvSpPr/>
          <p:nvPr/>
        </p:nvSpPr>
        <p:spPr>
          <a:xfrm>
            <a:off x="548640" y="5212080"/>
            <a:ext cx="11091672" cy="868680"/>
          </a:xfrm>
          <a:prstGeom prst="rect">
            <a:avLst/>
          </a:prstGeom>
          <a:solidFill>
            <a:srgbClr val="FFF3DC"/>
          </a:solidFill>
          <a:ln w="12700">
            <a:solidFill>
              <a:srgbClr val="FFF3DC"/>
            </a:solidFill>
            <a:prstDash val="solid"/>
          </a:ln>
        </p:spPr>
        <p:txBody>
          <a:bodyPr/>
          <a:lstStyle/>
          <a:p>
            <a:endParaRPr lang="en-US"/>
          </a:p>
        </p:txBody>
      </p:sp>
      <p:sp>
        <p:nvSpPr>
          <p:cNvPr id="6" name="Text 6"/>
          <p:cNvSpPr txBox="1"/>
          <p:nvPr/>
        </p:nvSpPr>
        <p:spPr>
          <a:xfrm>
            <a:off x="777240" y="5212080"/>
            <a:ext cx="10698480" cy="868680"/>
          </a:xfrm>
          <a:prstGeom prst="rect">
            <a:avLst/>
          </a:prstGeom>
          <a:noFill/>
          <a:ln/>
        </p:spPr>
        <p:txBody>
          <a:bodyPr wrap="square" lIns="0" tIns="0" rIns="0" bIns="0" rtlCol="0" anchor="ctr"/>
          <a:lstStyle/>
          <a:p>
            <a:pPr marL="0" indent="0">
              <a:buNone/>
            </a:pPr>
            <a:r>
              <a:rPr lang="en-US" sz="1300" b="1" dirty="0">
                <a:solidFill>
                  <a:srgbClr val="D98A1F"/>
                </a:solidFill>
                <a:latin typeface="Calibri" pitchFamily="34" charset="0"/>
                <a:ea typeface="Calibri" pitchFamily="34" charset="-122"/>
                <a:cs typeface="Calibri" pitchFamily="34" charset="-120"/>
              </a:rPr>
              <a:t>Qualification  </a:t>
            </a:r>
            <a:r>
              <a:rPr lang="en-US" sz="1300" dirty="0">
                <a:solidFill>
                  <a:srgbClr val="12202E"/>
                </a:solidFill>
                <a:latin typeface="Calibri" pitchFamily="34" charset="0"/>
                <a:ea typeface="Calibri" pitchFamily="34" charset="-122"/>
                <a:cs typeface="Calibri" pitchFamily="34" charset="-120"/>
              </a:rPr>
              <a:t>These scores measure how well each model reconstructs the CCME index from same-time measurements on randomly held-out rows (the repo’s own notebook says so). They do not show forecasting skill. Latency omitted: not measured in the repo.</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marL="0" indent="0">
              <a:buNone/>
            </a:pPr>
            <a:r>
              <a:rPr lang="en-US" sz="1200" b="1" kern="0" spc="300" dirty="0">
                <a:solidFill>
                  <a:srgbClr val="0E7C86"/>
                </a:solidFill>
                <a:latin typeface="Calibri" pitchFamily="34" charset="0"/>
                <a:ea typeface="Calibri" pitchFamily="34" charset="-122"/>
                <a:cs typeface="Calibri" pitchFamily="34" charset="-120"/>
              </a:rPr>
              <a:t>WHAT DRIVES THE PREDICTIONS</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marL="0" indent="0">
              <a:buNone/>
            </a:pPr>
            <a:r>
              <a:rPr lang="en-US" sz="3000" b="1" dirty="0">
                <a:solidFill>
                  <a:srgbClr val="0B1F33"/>
                </a:solidFill>
                <a:latin typeface="Cambria" pitchFamily="34" charset="0"/>
                <a:ea typeface="Cambria" pitchFamily="34" charset="-122"/>
                <a:cs typeface="Cambria" pitchFamily="34" charset="-120"/>
              </a:rPr>
              <a:t>Orthophosphate dominates the models — a property of the index and data, not a causal finding</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marL="0" indent="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marL="0" indent="0" algn="r">
              <a:buNone/>
            </a:pPr>
            <a:r>
              <a:rPr lang="en-US" sz="1000" dirty="0">
                <a:solidFill>
                  <a:srgbClr val="5B6B7A"/>
                </a:solidFill>
                <a:latin typeface="Calibri" pitchFamily="34" charset="0"/>
                <a:ea typeface="Calibri" pitchFamily="34" charset="-122"/>
                <a:cs typeface="Calibri" pitchFamily="34" charset="-120"/>
              </a:rPr>
              <a:t>11</a:t>
            </a:r>
            <a:endParaRPr lang="en-US" sz="1000" dirty="0"/>
          </a:p>
        </p:txBody>
      </p:sp>
      <p:graphicFrame>
        <p:nvGraphicFramePr>
          <p:cNvPr id="7" name="Chart 0"/>
          <p:cNvGraphicFramePr/>
          <p:nvPr/>
        </p:nvGraphicFramePr>
        <p:xfrm>
          <a:off x="548640" y="1691640"/>
          <a:ext cx="6309360" cy="3657600"/>
        </p:xfrm>
        <a:graphic>
          <a:graphicData uri="http://schemas.openxmlformats.org/drawingml/2006/chart">
            <c:chart xmlns:c="http://schemas.openxmlformats.org/drawingml/2006/chart" xmlns:r="http://schemas.openxmlformats.org/officeDocument/2006/relationships" r:id="rId3"/>
          </a:graphicData>
        </a:graphic>
      </p:graphicFrame>
      <p:pic>
        <p:nvPicPr>
          <p:cNvPr id="8" name="Image 0" descr="/home/claude/w/img2/16_MODEL_shap_summary_beeswarm.png"/>
          <p:cNvPicPr>
            <a:picLocks noChangeAspect="1"/>
          </p:cNvPicPr>
          <p:nvPr/>
        </p:nvPicPr>
        <p:blipFill>
          <a:blip r:embed="rId4"/>
          <a:stretch>
            <a:fillRect/>
          </a:stretch>
        </p:blipFill>
        <p:spPr>
          <a:xfrm>
            <a:off x="7178040" y="1691640"/>
            <a:ext cx="3657600" cy="3493008"/>
          </a:xfrm>
          <a:prstGeom prst="rect">
            <a:avLst/>
          </a:prstGeom>
        </p:spPr>
      </p:pic>
      <p:sp>
        <p:nvSpPr>
          <p:cNvPr id="9" name="Text 4"/>
          <p:cNvSpPr txBox="1"/>
          <p:nvPr/>
        </p:nvSpPr>
        <p:spPr>
          <a:xfrm>
            <a:off x="7178040" y="5212080"/>
            <a:ext cx="4480560" cy="274320"/>
          </a:xfrm>
          <a:prstGeom prst="rect">
            <a:avLst/>
          </a:prstGeom>
          <a:noFill/>
          <a:ln/>
        </p:spPr>
        <p:txBody>
          <a:bodyPr wrap="square" lIns="0" tIns="0" rIns="0" bIns="0" rtlCol="0" anchor="t"/>
          <a:lstStyle/>
          <a:p>
            <a:pPr marL="0" indent="0">
              <a:buNone/>
            </a:pPr>
            <a:r>
              <a:rPr lang="en-US" sz="1100" dirty="0">
                <a:solidFill>
                  <a:srgbClr val="5B6B7A"/>
                </a:solidFill>
                <a:latin typeface="Calibri" pitchFamily="34" charset="0"/>
                <a:ea typeface="Calibri" pitchFamily="34" charset="-122"/>
                <a:cs typeface="Calibri" pitchFamily="34" charset="-120"/>
              </a:rPr>
              <a:t>TreeSHAP beeswarm, XGBoost, 250 validation rows (repo graph 16)</a:t>
            </a:r>
            <a:endParaRPr lang="en-US" sz="1100" dirty="0"/>
          </a:p>
        </p:txBody>
      </p:sp>
      <p:sp>
        <p:nvSpPr>
          <p:cNvPr id="10" name="Shape 5"/>
          <p:cNvSpPr/>
          <p:nvPr/>
        </p:nvSpPr>
        <p:spPr>
          <a:xfrm>
            <a:off x="548640" y="5577840"/>
            <a:ext cx="11091672" cy="685800"/>
          </a:xfrm>
          <a:prstGeom prst="rect">
            <a:avLst/>
          </a:prstGeom>
          <a:solidFill>
            <a:srgbClr val="FFF3DC"/>
          </a:solidFill>
          <a:ln w="12700">
            <a:solidFill>
              <a:srgbClr val="FFF3DC"/>
            </a:solidFill>
            <a:prstDash val="solid"/>
          </a:ln>
        </p:spPr>
        <p:txBody>
          <a:bodyPr/>
          <a:lstStyle/>
          <a:p>
            <a:endParaRPr lang="en-US"/>
          </a:p>
        </p:txBody>
      </p:sp>
      <p:sp>
        <p:nvSpPr>
          <p:cNvPr id="11" name="Text 6"/>
          <p:cNvSpPr txBox="1"/>
          <p:nvPr/>
        </p:nvSpPr>
        <p:spPr>
          <a:xfrm>
            <a:off x="777240" y="5577840"/>
            <a:ext cx="10698480" cy="685800"/>
          </a:xfrm>
          <a:prstGeom prst="rect">
            <a:avLst/>
          </a:prstGeom>
          <a:noFill/>
          <a:ln/>
        </p:spPr>
        <p:txBody>
          <a:bodyPr wrap="square" lIns="0" tIns="0" rIns="0" bIns="0" rtlCol="0" anchor="ctr"/>
          <a:lstStyle/>
          <a:p>
            <a:pPr marL="0" indent="0">
              <a:buNone/>
            </a:pPr>
            <a:r>
              <a:rPr lang="en-US" sz="1300" b="1" dirty="0">
                <a:solidFill>
                  <a:srgbClr val="D98A1F"/>
                </a:solidFill>
                <a:latin typeface="Calibri" pitchFamily="34" charset="0"/>
                <a:ea typeface="Calibri" pitchFamily="34" charset="-122"/>
                <a:cs typeface="Calibri" pitchFamily="34" charset="-120"/>
              </a:rPr>
              <a:t>Qualification  </a:t>
            </a:r>
            <a:r>
              <a:rPr lang="en-US" sz="1300" dirty="0">
                <a:solidFill>
                  <a:srgbClr val="12202E"/>
                </a:solidFill>
                <a:latin typeface="Calibri" pitchFamily="34" charset="0"/>
                <a:ea typeface="Calibri" pitchFamily="34" charset="-122"/>
                <a:cs typeface="Calibri" pitchFamily="34" charset="-120"/>
              </a:rPr>
              <a:t>Importance describes the model, not the river. Orthophosphate + log variant: 88.5% of RF impurity, 76.4% of XGBoost gain; not “88% of split decisions”. The station lag ranks 6th in XGBoost (1.5%).</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marL="0" indent="0">
              <a:buNone/>
            </a:pPr>
            <a:r>
              <a:rPr lang="en-US" sz="1200" b="1" kern="0" spc="300" dirty="0">
                <a:solidFill>
                  <a:srgbClr val="0E7C86"/>
                </a:solidFill>
                <a:latin typeface="Calibri" pitchFamily="34" charset="0"/>
                <a:ea typeface="Calibri" pitchFamily="34" charset="-122"/>
                <a:cs typeface="Calibri" pitchFamily="34" charset="-120"/>
              </a:rPr>
              <a:t>LIMITATIONS, STATUS AND NEXT STEPS</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marL="0" indent="0">
              <a:buNone/>
            </a:pPr>
            <a:r>
              <a:rPr lang="en-US" sz="3000" b="1" dirty="0">
                <a:solidFill>
                  <a:srgbClr val="0B1F33"/>
                </a:solidFill>
                <a:latin typeface="Cambria" pitchFamily="34" charset="0"/>
                <a:ea typeface="Cambria" pitchFamily="34" charset="-122"/>
                <a:cs typeface="Cambria" pitchFamily="34" charset="-120"/>
              </a:rPr>
              <a:t>Phase 1 delivers a tested tree baseline; stricter validation and deep learning come next</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marL="0" indent="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marL="0" indent="0" algn="r">
              <a:buNone/>
            </a:pPr>
            <a:r>
              <a:rPr lang="en-US" sz="1000" dirty="0">
                <a:solidFill>
                  <a:srgbClr val="5B6B7A"/>
                </a:solidFill>
                <a:latin typeface="Calibri" pitchFamily="34" charset="0"/>
                <a:ea typeface="Calibri" pitchFamily="34" charset="-122"/>
                <a:cs typeface="Calibri" pitchFamily="34" charset="-120"/>
              </a:rPr>
              <a:t>12</a:t>
            </a:r>
            <a:endParaRPr lang="en-US" sz="1000" dirty="0"/>
          </a:p>
        </p:txBody>
      </p:sp>
      <p:sp>
        <p:nvSpPr>
          <p:cNvPr id="7" name="Shape 4"/>
          <p:cNvSpPr/>
          <p:nvPr/>
        </p:nvSpPr>
        <p:spPr>
          <a:xfrm>
            <a:off x="548640" y="1737360"/>
            <a:ext cx="3611880" cy="3611880"/>
          </a:xfrm>
          <a:prstGeom prst="rect">
            <a:avLst/>
          </a:prstGeom>
          <a:solidFill>
            <a:srgbClr val="F4F8FA"/>
          </a:solidFill>
          <a:ln w="12700">
            <a:solidFill>
              <a:srgbClr val="F4F8FA"/>
            </a:solidFill>
            <a:prstDash val="solid"/>
          </a:ln>
        </p:spPr>
        <p:txBody>
          <a:bodyPr/>
          <a:lstStyle/>
          <a:p>
            <a:endParaRPr lang="en-US"/>
          </a:p>
        </p:txBody>
      </p:sp>
      <p:sp>
        <p:nvSpPr>
          <p:cNvPr id="8" name="Text 5"/>
          <p:cNvSpPr txBox="1"/>
          <p:nvPr/>
        </p:nvSpPr>
        <p:spPr>
          <a:xfrm>
            <a:off x="731520" y="1874520"/>
            <a:ext cx="3291840" cy="365760"/>
          </a:xfrm>
          <a:prstGeom prst="rect">
            <a:avLst/>
          </a:prstGeom>
          <a:noFill/>
          <a:ln/>
        </p:spPr>
        <p:txBody>
          <a:bodyPr wrap="square" lIns="0" tIns="0" rIns="0" bIns="0" rtlCol="0" anchor="t"/>
          <a:lstStyle/>
          <a:p>
            <a:pPr marL="0" indent="0">
              <a:buNone/>
            </a:pPr>
            <a:r>
              <a:rPr lang="en-US" sz="1700" b="1" dirty="0">
                <a:solidFill>
                  <a:srgbClr val="0E7C86"/>
                </a:solidFill>
                <a:latin typeface="Cambria" pitchFamily="34" charset="0"/>
                <a:ea typeface="Cambria" pitchFamily="34" charset="-122"/>
                <a:cs typeface="Cambria" pitchFamily="34" charset="-120"/>
              </a:rPr>
              <a:t>Confirmed from code and outputs</a:t>
            </a:r>
            <a:endParaRPr lang="en-US" sz="1700" dirty="0"/>
          </a:p>
        </p:txBody>
      </p:sp>
      <p:sp>
        <p:nvSpPr>
          <p:cNvPr id="9" name="Text 6"/>
          <p:cNvSpPr txBox="1"/>
          <p:nvPr/>
        </p:nvSpPr>
        <p:spPr>
          <a:xfrm>
            <a:off x="731520" y="2423160"/>
            <a:ext cx="3291840" cy="28346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Country imbalance: England ≈75% of rows</a:t>
            </a: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Random split; no station or time hold-out</a:t>
            </a: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Validation metrics only; test set unscored</a:t>
            </a:r>
            <a:endParaRPr lang="en-US" sz="1400" dirty="0"/>
          </a:p>
          <a:p>
            <a:pPr marL="342900" indent="-342900">
              <a:spcAft>
                <a:spcPts val="800"/>
              </a:spcAft>
              <a:buSzPct val="100000"/>
              <a:buChar char="•"/>
            </a:pPr>
            <a:endParaRPr lang="en-US" sz="1400" dirty="0"/>
          </a:p>
        </p:txBody>
      </p:sp>
      <p:sp>
        <p:nvSpPr>
          <p:cNvPr id="10" name="Shape 7"/>
          <p:cNvSpPr/>
          <p:nvPr/>
        </p:nvSpPr>
        <p:spPr>
          <a:xfrm>
            <a:off x="4297680" y="1737360"/>
            <a:ext cx="3611880" cy="3611880"/>
          </a:xfrm>
          <a:prstGeom prst="rect">
            <a:avLst/>
          </a:prstGeom>
          <a:solidFill>
            <a:srgbClr val="FFF3DC"/>
          </a:solidFill>
          <a:ln w="12700">
            <a:solidFill>
              <a:srgbClr val="FFF3DC"/>
            </a:solidFill>
            <a:prstDash val="solid"/>
          </a:ln>
        </p:spPr>
        <p:txBody>
          <a:bodyPr/>
          <a:lstStyle/>
          <a:p>
            <a:endParaRPr lang="en-US"/>
          </a:p>
        </p:txBody>
      </p:sp>
      <p:sp>
        <p:nvSpPr>
          <p:cNvPr id="11" name="Text 8"/>
          <p:cNvSpPr txBox="1"/>
          <p:nvPr/>
        </p:nvSpPr>
        <p:spPr>
          <a:xfrm>
            <a:off x="4480560" y="1874520"/>
            <a:ext cx="3291840" cy="365760"/>
          </a:xfrm>
          <a:prstGeom prst="rect">
            <a:avLst/>
          </a:prstGeom>
          <a:noFill/>
          <a:ln/>
        </p:spPr>
        <p:txBody>
          <a:bodyPr wrap="square" lIns="0" tIns="0" rIns="0" bIns="0" rtlCol="0" anchor="t"/>
          <a:lstStyle/>
          <a:p>
            <a:pPr marL="0" indent="0">
              <a:buNone/>
            </a:pPr>
            <a:r>
              <a:rPr lang="en-US" sz="1700" b="1" dirty="0">
                <a:solidFill>
                  <a:srgbClr val="D98A1F"/>
                </a:solidFill>
                <a:latin typeface="Cambria" pitchFamily="34" charset="0"/>
                <a:ea typeface="Cambria" pitchFamily="34" charset="-122"/>
                <a:cs typeface="Cambria" pitchFamily="34" charset="-120"/>
              </a:rPr>
              <a:t>Open / not verified</a:t>
            </a:r>
            <a:endParaRPr lang="en-US" sz="1700" dirty="0"/>
          </a:p>
        </p:txBody>
      </p:sp>
      <p:sp>
        <p:nvSpPr>
          <p:cNvPr id="12" name="Text 9"/>
          <p:cNvSpPr txBox="1"/>
          <p:nvPr/>
        </p:nvSpPr>
        <p:spPr>
          <a:xfrm>
            <a:off x="4480560" y="2423160"/>
            <a:ext cx="3291840" cy="28346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Whether results hold for under-represented countries</a:t>
            </a: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Effect of dropping exceedance_counter</a:t>
            </a: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Duplicates across partitions</a:t>
            </a: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Inference latency (not measured)</a:t>
            </a:r>
            <a:endParaRPr lang="en-US" sz="1400" dirty="0"/>
          </a:p>
        </p:txBody>
      </p:sp>
      <p:sp>
        <p:nvSpPr>
          <p:cNvPr id="13" name="Shape 10"/>
          <p:cNvSpPr/>
          <p:nvPr/>
        </p:nvSpPr>
        <p:spPr>
          <a:xfrm>
            <a:off x="8046720" y="1737360"/>
            <a:ext cx="3611880" cy="3611880"/>
          </a:xfrm>
          <a:prstGeom prst="rect">
            <a:avLst/>
          </a:prstGeom>
          <a:solidFill>
            <a:srgbClr val="F4F8FA"/>
          </a:solidFill>
          <a:ln w="12700">
            <a:solidFill>
              <a:srgbClr val="F4F8FA"/>
            </a:solidFill>
            <a:prstDash val="solid"/>
          </a:ln>
        </p:spPr>
        <p:txBody>
          <a:bodyPr/>
          <a:lstStyle/>
          <a:p>
            <a:endParaRPr lang="en-US"/>
          </a:p>
        </p:txBody>
      </p:sp>
      <p:sp>
        <p:nvSpPr>
          <p:cNvPr id="14" name="Text 11"/>
          <p:cNvSpPr txBox="1"/>
          <p:nvPr/>
        </p:nvSpPr>
        <p:spPr>
          <a:xfrm>
            <a:off x="8229600" y="1874520"/>
            <a:ext cx="3291840" cy="365760"/>
          </a:xfrm>
          <a:prstGeom prst="rect">
            <a:avLst/>
          </a:prstGeom>
          <a:noFill/>
          <a:ln/>
        </p:spPr>
        <p:txBody>
          <a:bodyPr wrap="square" lIns="0" tIns="0" rIns="0" bIns="0" rtlCol="0" anchor="t"/>
          <a:lstStyle/>
          <a:p>
            <a:pPr marL="0" indent="0">
              <a:buNone/>
            </a:pPr>
            <a:r>
              <a:rPr lang="en-US" sz="1700" b="1" dirty="0">
                <a:solidFill>
                  <a:srgbClr val="0B1F33"/>
                </a:solidFill>
                <a:latin typeface="Cambria" pitchFamily="34" charset="0"/>
                <a:ea typeface="Cambria" pitchFamily="34" charset="-122"/>
                <a:cs typeface="Cambria" pitchFamily="34" charset="-120"/>
              </a:rPr>
              <a:t>Planned (not done)</a:t>
            </a:r>
            <a:endParaRPr lang="en-US" sz="1700" dirty="0"/>
          </a:p>
        </p:txBody>
      </p:sp>
      <p:sp>
        <p:nvSpPr>
          <p:cNvPr id="15" name="Text 12"/>
          <p:cNvSpPr txBox="1"/>
          <p:nvPr/>
        </p:nvSpPr>
        <p:spPr>
          <a:xfrm>
            <a:off x="8229600" y="2423160"/>
            <a:ext cx="3291840" cy="28346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Station-held-out and time-forward splits</a:t>
            </a: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Score the held-out test set</a:t>
            </a:r>
            <a:endParaRPr lang="en-US" sz="1400" dirty="0"/>
          </a:p>
          <a:p>
            <a:pPr marL="342900" indent="-342900">
              <a:spcAft>
                <a:spcPts val="800"/>
              </a:spcAft>
              <a:buSzPct val="100000"/>
              <a:buChar char="•"/>
            </a:pP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Phase 2: multi-task neural network</a:t>
            </a:r>
            <a:endParaRPr lang="en-US" sz="1400" dirty="0"/>
          </a:p>
        </p:txBody>
      </p:sp>
      <p:sp>
        <p:nvSpPr>
          <p:cNvPr id="16" name="Text 13"/>
          <p:cNvSpPr txBox="1"/>
          <p:nvPr/>
        </p:nvSpPr>
        <p:spPr>
          <a:xfrm>
            <a:off x="548640" y="5532120"/>
            <a:ext cx="11064240" cy="548640"/>
          </a:xfrm>
          <a:prstGeom prst="rect">
            <a:avLst/>
          </a:prstGeom>
          <a:noFill/>
          <a:ln/>
        </p:spPr>
        <p:txBody>
          <a:bodyPr wrap="square" lIns="0" tIns="0" rIns="0" bIns="0" rtlCol="0" anchor="t"/>
          <a:lstStyle/>
          <a:p>
            <a:pPr marL="0" indent="0">
              <a:buNone/>
            </a:pPr>
            <a:r>
              <a:rPr lang="en-US" sz="1500" b="1" dirty="0">
                <a:solidFill>
                  <a:srgbClr val="0B1F33"/>
                </a:solidFill>
                <a:latin typeface="Calibri" pitchFamily="34" charset="0"/>
                <a:ea typeface="Calibri" pitchFamily="34" charset="-122"/>
                <a:cs typeface="Calibri" pitchFamily="34" charset="-120"/>
              </a:rPr>
              <a:t>Deep learning: no neural-network code or results exist in the repository, so none are claimed. Phase 2 is planned.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0B1F33"/>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marL="0" indent="0">
              <a:buNone/>
            </a:pPr>
            <a:r>
              <a:rPr lang="en-US" sz="1200" b="1" kern="0" spc="300" dirty="0">
                <a:solidFill>
                  <a:srgbClr val="2EC4B6"/>
                </a:solidFill>
                <a:latin typeface="Calibri" pitchFamily="34" charset="0"/>
                <a:ea typeface="Calibri" pitchFamily="34" charset="-122"/>
                <a:cs typeface="Calibri" pitchFamily="34" charset="-120"/>
              </a:rPr>
              <a:t>CONCLUSION, TEAM AND REFERENCES</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A reproducible tree baseline — with a clear route to a stricter evaluation</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marL="0" indent="0">
              <a:buNone/>
            </a:pPr>
            <a:r>
              <a:rPr lang="en-US" sz="1000" dirty="0">
                <a:solidFill>
                  <a:srgbClr val="9FB6C6"/>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marL="0" indent="0" algn="r">
              <a:buNone/>
            </a:pPr>
            <a:r>
              <a:rPr lang="en-US" sz="1000" dirty="0">
                <a:solidFill>
                  <a:srgbClr val="9FB6C6"/>
                </a:solidFill>
                <a:latin typeface="Calibri" pitchFamily="34" charset="0"/>
                <a:ea typeface="Calibri" pitchFamily="34" charset="-122"/>
                <a:cs typeface="Calibri" pitchFamily="34" charset="-120"/>
              </a:rPr>
              <a:t>13</a:t>
            </a:r>
            <a:endParaRPr lang="en-US" sz="1000" dirty="0"/>
          </a:p>
        </p:txBody>
      </p:sp>
      <p:sp>
        <p:nvSpPr>
          <p:cNvPr id="7" name="Text 4"/>
          <p:cNvSpPr txBox="1"/>
          <p:nvPr/>
        </p:nvSpPr>
        <p:spPr>
          <a:xfrm>
            <a:off x="548640" y="1691640"/>
            <a:ext cx="5577840" cy="2377440"/>
          </a:xfrm>
          <a:prstGeom prst="rect">
            <a:avLst/>
          </a:prstGeom>
          <a:noFill/>
          <a:ln/>
        </p:spPr>
        <p:txBody>
          <a:bodyPr wrap="square" lIns="0" tIns="0" rIns="0" bIns="0" rtlCol="0" anchor="t"/>
          <a:lstStyle/>
          <a:p>
            <a:pPr marL="0" indent="0">
              <a:spcAft>
                <a:spcPts val="1000"/>
              </a:spcAft>
              <a:buNone/>
            </a:pPr>
            <a:r>
              <a:rPr lang="en-US" sz="1500" b="1" dirty="0">
                <a:solidFill>
                  <a:srgbClr val="2EC4B6"/>
                </a:solidFill>
                <a:latin typeface="Calibri" pitchFamily="34" charset="0"/>
                <a:ea typeface="Calibri" pitchFamily="34" charset="-122"/>
                <a:cs typeface="Calibri" pitchFamily="34" charset="-120"/>
              </a:rPr>
              <a:t>Built: </a:t>
            </a:r>
            <a:r>
              <a:rPr lang="en-US" sz="1500" dirty="0">
                <a:solidFill>
                  <a:srgbClr val="FFFFFF"/>
                </a:solidFill>
                <a:latin typeface="Calibri" pitchFamily="34" charset="0"/>
                <a:ea typeface="Calibri" pitchFamily="34" charset="-122"/>
                <a:cs typeface="Calibri" pitchFamily="34" charset="-120"/>
              </a:rPr>
              <a:t>audited 2.82 M-row dataset, 38 chemistry-driven features, RF and XGBoost benchmarks, SHAP, 12 tests.</a:t>
            </a:r>
            <a:endParaRPr lang="en-US" sz="1500" dirty="0"/>
          </a:p>
          <a:p>
            <a:pPr marL="0" indent="0">
              <a:spcAft>
                <a:spcPts val="1000"/>
              </a:spcAft>
              <a:buNone/>
            </a:pPr>
            <a:r>
              <a:rPr lang="en-US" sz="1500" b="1" dirty="0">
                <a:solidFill>
                  <a:srgbClr val="2EC4B6"/>
                </a:solidFill>
                <a:latin typeface="Calibri" pitchFamily="34" charset="0"/>
                <a:ea typeface="Calibri" pitchFamily="34" charset="-122"/>
                <a:cs typeface="Calibri" pitchFamily="34" charset="-120"/>
              </a:rPr>
              <a:t>Strongest finding: </a:t>
            </a:r>
            <a:r>
              <a:rPr lang="en-US" sz="1500" dirty="0">
                <a:solidFill>
                  <a:srgbClr val="FFFFFF"/>
                </a:solidFill>
                <a:latin typeface="Calibri" pitchFamily="34" charset="0"/>
                <a:ea typeface="Calibri" pitchFamily="34" charset="-122"/>
                <a:cs typeface="Calibri" pitchFamily="34" charset="-120"/>
              </a:rPr>
              <a:t>trees reconstruct the CCME index with validation MAE 0.05 (RF) to 0.16 (XGBoost).</a:t>
            </a:r>
            <a:endParaRPr lang="en-US" sz="1500" dirty="0"/>
          </a:p>
          <a:p>
            <a:pPr marL="0" indent="0">
              <a:spcAft>
                <a:spcPts val="1000"/>
              </a:spcAft>
              <a:buNone/>
            </a:pPr>
            <a:r>
              <a:rPr lang="en-US" sz="1500" b="1" dirty="0">
                <a:solidFill>
                  <a:srgbClr val="F2B45A"/>
                </a:solidFill>
                <a:latin typeface="Calibri" pitchFamily="34" charset="0"/>
                <a:ea typeface="Calibri" pitchFamily="34" charset="-122"/>
                <a:cs typeface="Calibri" pitchFamily="34" charset="-120"/>
              </a:rPr>
              <a:t>Key caveat: </a:t>
            </a:r>
            <a:r>
              <a:rPr lang="en-US" sz="1500" dirty="0">
                <a:solidFill>
                  <a:srgbClr val="FFFFFF"/>
                </a:solidFill>
                <a:latin typeface="Calibri" pitchFamily="34" charset="0"/>
                <a:ea typeface="Calibri" pitchFamily="34" charset="-122"/>
                <a:cs typeface="Calibri" pitchFamily="34" charset="-120"/>
              </a:rPr>
              <a:t>the target is a formula of the inputs and the split is random; next, station-held-out and time-forward evaluation.</a:t>
            </a:r>
            <a:endParaRPr lang="en-US" sz="1500" dirty="0"/>
          </a:p>
        </p:txBody>
      </p:sp>
      <p:sp>
        <p:nvSpPr>
          <p:cNvPr id="8" name="Text 5"/>
          <p:cNvSpPr txBox="1"/>
          <p:nvPr/>
        </p:nvSpPr>
        <p:spPr>
          <a:xfrm>
            <a:off x="548640" y="3931920"/>
            <a:ext cx="5486400" cy="320040"/>
          </a:xfrm>
          <a:prstGeom prst="rect">
            <a:avLst/>
          </a:prstGeom>
          <a:noFill/>
          <a:ln/>
        </p:spPr>
        <p:txBody>
          <a:bodyPr wrap="square" lIns="0" tIns="0" rIns="0" bIns="0" rtlCol="0" anchor="t"/>
          <a:lstStyle/>
          <a:p>
            <a:pPr marL="0" indent="0">
              <a:buNone/>
            </a:pPr>
            <a:r>
              <a:rPr lang="en-US" sz="1600" b="1" dirty="0">
                <a:solidFill>
                  <a:srgbClr val="FFFFFF"/>
                </a:solidFill>
                <a:latin typeface="Cambria" pitchFamily="34" charset="0"/>
                <a:ea typeface="Cambria" pitchFamily="34" charset="-122"/>
                <a:cs typeface="Cambria" pitchFamily="34" charset="-120"/>
              </a:rPr>
              <a:t>Team and roles</a:t>
            </a:r>
            <a:endParaRPr lang="en-US" sz="1600" dirty="0"/>
          </a:p>
        </p:txBody>
      </p:sp>
      <p:sp>
        <p:nvSpPr>
          <p:cNvPr id="9" name="Text 6"/>
          <p:cNvSpPr txBox="1"/>
          <p:nvPr/>
        </p:nvSpPr>
        <p:spPr>
          <a:xfrm>
            <a:off x="548640" y="4297680"/>
            <a:ext cx="5577840" cy="1920240"/>
          </a:xfrm>
          <a:prstGeom prst="rect">
            <a:avLst/>
          </a:prstGeom>
          <a:noFill/>
          <a:ln/>
        </p:spPr>
        <p:txBody>
          <a:bodyPr wrap="square" lIns="0" tIns="0" rIns="0" bIns="0" rtlCol="0" anchor="t"/>
          <a:lstStyle/>
          <a:p>
            <a:pPr marL="0" indent="0">
              <a:spcAft>
                <a:spcPts val="300"/>
              </a:spcAft>
              <a:buNone/>
            </a:pPr>
            <a:r>
              <a:rPr lang="en-US" sz="1200" dirty="0">
                <a:solidFill>
                  <a:srgbClr val="BFD6E2"/>
                </a:solidFill>
                <a:latin typeface="Calibri" pitchFamily="34" charset="0"/>
                <a:ea typeface="Calibri" pitchFamily="34" charset="-122"/>
                <a:cs typeface="Calibri" pitchFamily="34" charset="-120"/>
              </a:rPr>
              <a:t>Mayank Sharma – EDA &amp; repository management lead</a:t>
            </a:r>
            <a:endParaRPr lang="en-US" sz="1200" dirty="0"/>
          </a:p>
          <a:p>
            <a:pPr marL="0" indent="0">
              <a:spcAft>
                <a:spcPts val="300"/>
              </a:spcAft>
              <a:buNone/>
            </a:pPr>
            <a:r>
              <a:rPr lang="en-US" sz="1200" dirty="0">
                <a:solidFill>
                  <a:srgbClr val="BFD6E2"/>
                </a:solidFill>
                <a:latin typeface="Calibri" pitchFamily="34" charset="0"/>
                <a:ea typeface="Calibri" pitchFamily="34" charset="-122"/>
                <a:cs typeface="Calibri" pitchFamily="34" charset="-120"/>
              </a:rPr>
              <a:t>Aman Soni – model training lead (baseline, RF, XGBoost)</a:t>
            </a:r>
            <a:endParaRPr lang="en-US" sz="1200" dirty="0"/>
          </a:p>
          <a:p>
            <a:pPr marL="0" indent="0">
              <a:spcAft>
                <a:spcPts val="300"/>
              </a:spcAft>
              <a:buNone/>
            </a:pPr>
            <a:r>
              <a:rPr lang="en-US" sz="1200" dirty="0">
                <a:solidFill>
                  <a:srgbClr val="BFD6E2"/>
                </a:solidFill>
                <a:latin typeface="Calibri" pitchFamily="34" charset="0"/>
                <a:ea typeface="Calibri" pitchFamily="34" charset="-122"/>
                <a:cs typeface="Calibri" pitchFamily="34" charset="-120"/>
              </a:rPr>
              <a:t>Aaryan Gera – data preprocessing</a:t>
            </a:r>
            <a:endParaRPr lang="en-US" sz="1200" dirty="0"/>
          </a:p>
          <a:p>
            <a:pPr marL="0" indent="0">
              <a:spcAft>
                <a:spcPts val="300"/>
              </a:spcAft>
              <a:buNone/>
            </a:pPr>
            <a:r>
              <a:rPr lang="en-US" sz="1200" dirty="0">
                <a:solidFill>
                  <a:srgbClr val="BFD6E2"/>
                </a:solidFill>
                <a:latin typeface="Calibri" pitchFamily="34" charset="0"/>
                <a:ea typeface="Calibri" pitchFamily="34" charset="-122"/>
                <a:cs typeface="Calibri" pitchFamily="34" charset="-120"/>
              </a:rPr>
              <a:t>Chaitanya Kumar – feature engineering &amp; pipeline</a:t>
            </a:r>
            <a:endParaRPr lang="en-US" sz="1200" dirty="0"/>
          </a:p>
          <a:p>
            <a:pPr marL="0" indent="0">
              <a:spcAft>
                <a:spcPts val="300"/>
              </a:spcAft>
              <a:buNone/>
            </a:pPr>
            <a:r>
              <a:rPr lang="en-US" sz="1200" dirty="0">
                <a:solidFill>
                  <a:srgbClr val="BFD6E2"/>
                </a:solidFill>
                <a:latin typeface="Calibri" pitchFamily="34" charset="0"/>
                <a:ea typeface="Calibri" pitchFamily="34" charset="-122"/>
                <a:cs typeface="Calibri" pitchFamily="34" charset="-120"/>
              </a:rPr>
              <a:t>Ankit Kumar Pandey – model evaluation &amp; validation</a:t>
            </a:r>
            <a:endParaRPr lang="en-US" sz="1200" dirty="0"/>
          </a:p>
          <a:p>
            <a:pPr marL="0" indent="0">
              <a:spcAft>
                <a:spcPts val="300"/>
              </a:spcAft>
              <a:buNone/>
            </a:pPr>
            <a:r>
              <a:rPr lang="en-US" sz="1200" dirty="0">
                <a:solidFill>
                  <a:srgbClr val="BFD6E2"/>
                </a:solidFill>
                <a:latin typeface="Calibri" pitchFamily="34" charset="0"/>
                <a:ea typeface="Calibri" pitchFamily="34" charset="-122"/>
                <a:cs typeface="Calibri" pitchFamily="34" charset="-120"/>
              </a:rPr>
              <a:t>Pranav Sehgal – research, documentation &amp; presentation</a:t>
            </a:r>
            <a:endParaRPr lang="en-US" sz="1200" dirty="0"/>
          </a:p>
        </p:txBody>
      </p:sp>
      <p:sp>
        <p:nvSpPr>
          <p:cNvPr id="10" name="Text 7"/>
          <p:cNvSpPr txBox="1"/>
          <p:nvPr/>
        </p:nvSpPr>
        <p:spPr>
          <a:xfrm>
            <a:off x="6583680" y="1691640"/>
            <a:ext cx="5029200" cy="320040"/>
          </a:xfrm>
          <a:prstGeom prst="rect">
            <a:avLst/>
          </a:prstGeom>
          <a:noFill/>
          <a:ln/>
        </p:spPr>
        <p:txBody>
          <a:bodyPr wrap="square" lIns="0" tIns="0" rIns="0" bIns="0" rtlCol="0" anchor="t"/>
          <a:lstStyle/>
          <a:p>
            <a:pPr marL="0" indent="0">
              <a:buNone/>
            </a:pPr>
            <a:r>
              <a:rPr lang="en-US" sz="1600" b="1" dirty="0">
                <a:solidFill>
                  <a:srgbClr val="FFFFFF"/>
                </a:solidFill>
                <a:latin typeface="Cambria" pitchFamily="34" charset="0"/>
                <a:ea typeface="Cambria" pitchFamily="34" charset="-122"/>
                <a:cs typeface="Cambria" pitchFamily="34" charset="-120"/>
              </a:rPr>
              <a:t>References</a:t>
            </a:r>
            <a:endParaRPr lang="en-US" sz="1600" dirty="0"/>
          </a:p>
        </p:txBody>
      </p:sp>
      <p:sp>
        <p:nvSpPr>
          <p:cNvPr id="11" name="Text 8"/>
          <p:cNvSpPr txBox="1"/>
          <p:nvPr/>
        </p:nvSpPr>
        <p:spPr>
          <a:xfrm>
            <a:off x="6583680" y="2057400"/>
            <a:ext cx="5029200" cy="3017520"/>
          </a:xfrm>
          <a:prstGeom prst="rect">
            <a:avLst/>
          </a:prstGeom>
          <a:noFill/>
          <a:ln/>
        </p:spPr>
        <p:txBody>
          <a:bodyPr wrap="square" lIns="0" tIns="0" rIns="0" bIns="0" rtlCol="0" anchor="t"/>
          <a:lstStyle/>
          <a:p>
            <a:pPr marL="0" indent="0">
              <a:spcAft>
                <a:spcPts val="500"/>
              </a:spcAft>
              <a:buNone/>
            </a:pPr>
            <a:r>
              <a:rPr lang="en-US" sz="1200" dirty="0">
                <a:solidFill>
                  <a:srgbClr val="BFD6E2"/>
                </a:solidFill>
                <a:latin typeface="Calibri" pitchFamily="34" charset="0"/>
                <a:ea typeface="Calibri" pitchFamily="34" charset="-122"/>
                <a:cs typeface="Calibri" pitchFamily="34" charset="-120"/>
              </a:rPr>
              <a:t>Breiman, L. (2001) Random Forests. Machine Learning 45(1), 5–32</a:t>
            </a:r>
            <a:endParaRPr lang="en-US" sz="1200" dirty="0"/>
          </a:p>
          <a:p>
            <a:pPr marL="0" indent="0">
              <a:spcAft>
                <a:spcPts val="500"/>
              </a:spcAft>
              <a:buNone/>
            </a:pPr>
            <a:r>
              <a:rPr lang="en-US" sz="1200" dirty="0">
                <a:solidFill>
                  <a:srgbClr val="BFD6E2"/>
                </a:solidFill>
                <a:latin typeface="Calibri" pitchFamily="34" charset="0"/>
                <a:ea typeface="Calibri" pitchFamily="34" charset="-122"/>
                <a:cs typeface="Calibri" pitchFamily="34" charset="-120"/>
              </a:rPr>
              <a:t>Chen, T. &amp; Guestrin, C. (2016) XGBoost: A Scalable Tree Boosting System. Proc. ACM SIGKDD, 785–794</a:t>
            </a:r>
            <a:endParaRPr lang="en-US" sz="1200" dirty="0"/>
          </a:p>
        </p:txBody>
      </p:sp>
      <p:sp>
        <p:nvSpPr>
          <p:cNvPr id="12" name="Text 9"/>
          <p:cNvSpPr txBox="1"/>
          <p:nvPr/>
        </p:nvSpPr>
        <p:spPr>
          <a:xfrm>
            <a:off x="6583680" y="5303520"/>
            <a:ext cx="5029200" cy="822960"/>
          </a:xfrm>
          <a:prstGeom prst="rect">
            <a:avLst/>
          </a:prstGeom>
          <a:noFill/>
          <a:ln/>
        </p:spPr>
        <p:txBody>
          <a:bodyPr wrap="square" lIns="0" tIns="0" rIns="0" bIns="0" rtlCol="0" anchor="t"/>
          <a:lstStyle/>
          <a:p>
            <a:pPr marL="0" indent="0">
              <a:buNone/>
            </a:pPr>
            <a:r>
              <a:rPr lang="en-US" sz="1100" dirty="0">
                <a:solidFill>
                  <a:srgbClr val="9FB6C6"/>
                </a:solidFill>
                <a:latin typeface="Calibri" pitchFamily="34" charset="0"/>
                <a:ea typeface="Calibri" pitchFamily="34" charset="-122"/>
                <a:cs typeface="Calibri" pitchFamily="34" charset="-120"/>
              </a:rPr>
              <a:t>Data: agencies listed in the repo’s DataCollectionSources sheet (data.gov.uk, USGS/EPA, EPA Ireland, MEE China, ECCC). Code: github.com/MAYANKSHARMA01010/Semester_5_AML_DL</a:t>
            </a:r>
            <a:endParaRPr lang="en-US" sz="1100" dirty="0"/>
          </a:p>
        </p:txBody>
      </p:sp>
    </p:spTree>
  </p:cSld>
  <p:clrMapOvr>
    <a:masterClrMapping/>
  </p:clrMapOvr>
</p:sld>
</file>

<file path=ppt/theme/theme1.xml><?xml version="1.0" encoding="utf-8"?>
<a:theme xmlns:a="http://schemas.openxmlformats.org/drawingml/2006/main" name="AquaAudit">
  <a:themeElements>
    <a:clrScheme name="AquaAudit">
      <a:dk1>
        <a:srgbClr val="12202E"/>
      </a:dk1>
      <a:lt1>
        <a:srgbClr val="FFFFFF"/>
      </a:lt1>
      <a:dk2>
        <a:srgbClr val="0B1F33"/>
      </a:dk2>
      <a:lt2>
        <a:srgbClr val="F4F8FA"/>
      </a:lt2>
      <a:accent1>
        <a:srgbClr val="0E7C86"/>
      </a:accent1>
      <a:accent2>
        <a:srgbClr val="2EC4B6"/>
      </a:accent2>
      <a:accent3>
        <a:srgbClr val="D98A1F"/>
      </a:accent3>
      <a:accent4>
        <a:srgbClr val="B5483A"/>
      </a:accent4>
      <a:accent5>
        <a:srgbClr val="3E6FA3"/>
      </a:accent5>
      <a:accent6>
        <a:srgbClr val="5B6B7A"/>
      </a:accent6>
      <a:hlink>
        <a:srgbClr val="0E7C86"/>
      </a:hlink>
      <a:folHlink>
        <a:srgbClr val="5B6B7A"/>
      </a:folHlink>
    </a:clrScheme>
    <a:fontScheme name="AquaAud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2675</Words>
  <Application>Microsoft Macintosh PowerPoint</Application>
  <PresentationFormat>Widescreen</PresentationFormat>
  <Paragraphs>267</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AquaAudit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Surface Water Quality Prediction — Project 18 (Final)</dc:title>
  <dc:subject>PptxGenJS Presentation</dc:subject>
  <dc:creator>Project 18 team</dc:creator>
  <cp:lastModifiedBy>Mayank Sharma</cp:lastModifiedBy>
  <cp:revision>2</cp:revision>
  <dcterms:created xsi:type="dcterms:W3CDTF">2026-10-28T04:01:15Z</dcterms:created>
  <dcterms:modified xsi:type="dcterms:W3CDTF">2026-10-28T08:05:31Z</dcterms:modified>
</cp:coreProperties>
</file>