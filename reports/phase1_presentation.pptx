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6B6D4"/>
                </a:solidFill>
              </a:defRPr>
            </a:pPr>
            <a:r>
              <a:t>SEMESTER 5 APPLIED MACHINE LEARNING (AML) | PROJECT 18</a:t>
            </a:r>
          </a:p>
          <a:p>
            <a:pPr>
              <a:spcAft>
                <a:spcPts val="1400"/>
              </a:spcAft>
              <a:defRPr sz="3000" b="1">
                <a:solidFill>
                  <a:srgbClr val="F8FAFC"/>
                </a:solidFill>
              </a:defRPr>
            </a:pPr>
            <a:r>
              <a:t>Surface Water Quality Index Estimation</a:t>
            </a:r>
            <a:br/>
            <a:r>
              <a:t>via Gradient Tree Boosting &amp; Stoichiometry</a:t>
            </a:r>
          </a:p>
          <a:p>
            <a:pPr>
              <a:spcAft>
                <a:spcPts val="2000"/>
              </a:spcAft>
              <a:defRPr sz="1600">
                <a:solidFill>
                  <a:srgbClr val="3B82F6"/>
                </a:solidFill>
              </a:defRPr>
            </a:pPr>
            <a:r>
              <a:t>Phase 1 Machine Learning Evaluation: 2.82 Million Records Across 5 Nations</a:t>
            </a:r>
          </a:p>
          <a:p>
            <a:pPr>
              <a:spcAft>
                <a:spcPts val="400"/>
              </a:spcAft>
              <a:defRPr sz="1200" b="1">
                <a:solidFill>
                  <a:srgbClr val="F59E0B"/>
                </a:solidFill>
              </a:defRPr>
            </a:pPr>
            <a:r>
              <a:t>PROJECT TEAM (6 MEMBERS):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Mayank Sharma (Project Lead &amp; AML Pipeline Architecture)</a:t>
            </a:r>
            <a:br/>
            <a:r>
              <a:t>• Team Member 2 (Literature Review, CCME WQI Math &amp; Regulatory Frameworks)</a:t>
            </a:r>
            <a:br/>
            <a:r>
              <a:t>• Team Member 3 (Multi-National Dataset Auditing &amp; Exploratory Data Analysis)</a:t>
            </a:r>
            <a:br/>
            <a:r>
              <a:t>• Team Member 4 (Aquatic Chemical Feature Engineering &amp; Stoichiometric Physics)</a:t>
            </a:r>
            <a:br/>
            <a:r>
              <a:t>• Team Member 5 (Tree-Based Ensemble Optimization &amp; Validation Benchmarking)</a:t>
            </a:r>
            <a:br/>
            <a:r>
              <a:t>• Team Member 6 (Explainable AI via TreeSHAP, Metric Verification &amp; PyTest Suite)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Environmental Monitoring Crisis: Traditional Lab Delays vs. Real-Time AML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The Conventional Bottleneck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Freshwater Vulnerability: Global water systems face escalating nutrient runoff and industrial effluent contamination.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Incubation Latency: Standard assays like 5-day Biochemical Oxygen Demand (BOD5) require 120 hours of incubation.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High Analytical Cost: Grab-sampling requires specialized field personnel and recurring wet-lab operational budgets.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Discrete Temporal Coverage: Infrequent monthly sampling misses rapid, transient toxic contamination plumes.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Delayed Regulatory Intervention: By the time lab assays confirm eutrophication, ecological damage has occurred.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The Machine Learning Solution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In-Situ Instantaneous Telemetry: Leverage high-frequency physical and chemical probe telemetry (pH, DO, Temp, Conductivity).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Deterministic Target Standardization: Predict the globally endorsed CCME Water Quality Index (CCME WQI, 0-100).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Instantaneous Ecological Tiers: Map continuous scores directly into 5 regulatory tiers (Excellent to Poor).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Sub-Second Response Time: Produce real-time index estimates in under 1 millisecond per sensor node.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Scalable Automated Surveillance: Enables early warning flags for municipal intake plants and environmental regulators.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Literature Review &amp; Methodological Gap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Academic Foundations &amp; Benchmarks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Breiman (2001) - Random Forests: Introduced bootstrap bagging with randomized candidate subspace splits; reduces variance and handles multi-modal tabular noise.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Chen &amp; Guestrin (2016) - XGBoost: Engineered second-order Taylor expansion gradients with leaf-weight regularization for high-speed tabular prediction.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CCME (2001) - Water Quality Index 1.0: Established standard multi-dimensional aggregation across Scope (F1), Frequency (F2), and Amplitude (F3).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Lundberg &amp; Lee (2017) - TreeSHAP: Formulated exact polynomial-time Shapley attributions for tree ensembles grounded in cooperative game theory.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Critical Gaps in Existing Literature &amp; Our Fixes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Gap 1: Unverified Telemetry Artifacts: Literature often ignores sensor telemetry errors. -&gt; We enforce strict aquatic physics screening (purging 8,360 implausible values).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Gap 2: Mathematical Target Leakage: Naive studies include intermediate exceedance components in features. -&gt; We isolate a quarantined 38-feature predictor set.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Gap 3: Extreme Nutrient Skewness: Raw orthophosphate spans 4 orders of magnitude. -&gt; We implement log(1+x) transformations, boosting linear correlation from -0.66 to -0.85.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Gap 4: Lack of Temporal Station Memory: Spatial models ignore local history. -&gt; We engineer backward-only shift-1 lags (rho = -0.78 with WQI).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Multi-National Dataset Architecture: 2,827,977 Records Across 5 Nations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10972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06B6D4"/>
                </a:solidFill>
              </a:defRPr>
            </a:pPr>
            <a:r>
              <a:t>2,827,977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Total Ingested Records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Historical archive 1940-2023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68880" cy="10972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5087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B82F6"/>
                </a:solidFill>
              </a:defRPr>
            </a:pPr>
            <a:r>
              <a:t>5 Nations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Geographic Coverage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England, USA, Ireland, China, Canada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468880" cy="10972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Complete Case Ground Truth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Zero null values in verified raw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468880" cy="10972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5087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59E0B"/>
                </a:solidFill>
              </a:defRPr>
            </a:pPr>
            <a:r>
              <a:t>83 Years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Temporal Span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Longitudinal aquatic monitoring</a:t>
            </a:r>
          </a:p>
        </p:txBody>
      </p:sp>
      <p:pic>
        <p:nvPicPr>
          <p:cNvPr id="12" name="Picture 11" descr="01_count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5486400" cy="229104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92240" y="2651760"/>
            <a:ext cx="4937760" cy="384048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834640"/>
            <a:ext cx="44805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Data Distribution Insights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England (Environment Agency): 2,367,978 observations (83.74%), providing rich river basin telemetry.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United States (USGS Telemetry): 240,654 observations (8.51%), spanning major river catchments.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Ireland (EPA Telemetry): 201,345 observations (7.13%), rich in high-purity lacustrine and river data.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China &amp; Canada: 18,000 observations (0.64%), benchmarking international cross-basin transferability.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Waterbody Coverage: Rivers (88.4%), Lakes &amp; Reservoirs (8.2%), Estuarine &amp; Transitional Waters (3.4%).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Data Quality Audit: Purging 8,360 Physically Impossible Telemetry Errors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Thermodynamic &amp; Chemical Screening Rules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pH Bounds [3.0, 12.0]: Natural waters cannot sustain pH &lt; 3.0 (super-acidic mine drainage) or &gt; 12.0 outside severe industrial caustic spills.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Water Temperature [0.0°C, 45.0°C]: Constrained by the liquid state of surface freshwater under atmospheric pressure.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Dissolved Oxygen [0.0, 25.0 mg/L]: Thermodynamic limit governed by Henry's law gas solubility and photosynthetic hyper-saturation.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Non-Negative Nutrient Constraints: Conductivity, BOD5, Nitrate, Ammonia, and Orthophosphate cannot assume negative concentrations.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Telemetry Error Codes: Purged sensor fault codes (-999, 9999) mistakenly recorded as numeric measurements.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Screening Audit Results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Raw Observations: 2,827,977 multi-country records.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Physical Violations Purged: Exactly 8,360 records (0.296% of the dataset).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Cleaned Production Dataset: 2,819,617 pristine observations with 100% complete case ground truth.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 Synthetic Imputation: Avoided synthetic artifact introduction (e.g., KNN or mean imputation) by leveraging massive clean volume.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Model Safety Impact: Eliminates unphysical split boundaries in decision trees, ensuring high-fidelity real-world generalization.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Target Definition: The CCME Water Quality Index (CCME WQI)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Mathematical Index Formulation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Composite Equation: WQI = 100 - [ sqrt(F1^2 + F2^2 + F3^2) / 1.732 ]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F1 (Scope): Percentage of chemical variables that fail regulatory guidelines at least once: F1 = (Failed Variables / Total Variables) * 100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F2 (Frequency): Percentage of individual tests failing regulatory thresholds: F2 = (Failed Tests / Total Tests) * 100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F3 (Amplitude): Magnitude of exceedance via normalized sum of excursions (nse): nse = sum(excursion_i) / Total Tests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Non-linear Scaling: F3 = nse / (0.01 * nse + 0.01); maps unbounded excursions smoothly into [0, 100].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493776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554480"/>
            <a:ext cx="44805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Standardized Regulatory Tiers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Tier 1: Excellent (95 - 100): Pristine ecological conditions; pristine water for all uses without treatment.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Tier 2: Good (80 - 94): Minor degree of threat or impairment; conditions rarely depart from natural levels.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Tier 3: Fair (65 - 79): Occasionally degraded; water quality occasionally departs from desirable levels.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Tier 4: Marginal (45 - 64): Frequently threatened or impaired; conditions often depart from natural thresholds.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Tier 5: Poor (0 - 44): Severely damaged; water quality is almost always impaired and fails regulatory criteria.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Domain Feature Engineering: Geochemical &amp; Stoichiometric Physics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Stoichiometric &amp; Physical Formulations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Benson-Krause Dissolved Oxygen Saturation: Computes theoretical DO capacity DO_sat(T) as an empirical polynomial of temperature.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DO Percent Saturation &amp; Deficit: DO_%sat = (DO / DO_sat) * 100; DO_deficit = max(0, DO_sat - DO) reflecting biological oxygen demand.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Redfield Stoichiometric Ratio: N:P = Nitrogen / (Orthophosphate + 1e-5), determining whether algal blooms are nitrogen- or phosphorus-limited.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Emerson Un-Ionized Ammonia Equilibrium: Models lethal free NH3 as a function of aqueous temperature and pH.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Streeter-Phelps Organic Load Ratio: BOD/DO ratio measuring microbial respiratory stress relative to available dissolved oxygen.</a:t>
            </a:r>
          </a:p>
        </p:txBody>
      </p:sp>
      <p:pic>
        <p:nvPicPr>
          <p:cNvPr id="6" name="Picture 5" descr="07_do_temperature_sat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32487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Non-Linear Skewness Mitigation: The log(1+x) Transformation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Distributional Skewness Challenge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Heavy Right Skew: Nutrients (Orthophosphate, Ammonia, BOD5) exhibit extreme skewness (gamma_1 &gt; 40) across several orders of magnitude.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Split Suboptimality: Decision trees partition skewed variables near the origin, wasting split capacity on extreme outliers.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Mathematical Transformation: Applied y = ln(1 + x), which contracts heavy positive tails while preserving zero non-negativity.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Dramatic Correlation Jump: Orthophosphate correlation with CCME WQI improved from r = -0.66 to r = -0.85.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Improved Distance Metrics: Stabilizes gradient steps in gradient boosted ensembles and enhances tree partition efficiency.</a:t>
            </a:r>
          </a:p>
        </p:txBody>
      </p:sp>
      <p:pic>
        <p:nvPicPr>
          <p:cNvPr id="6" name="Picture 5" descr="08_correlation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22106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Spatial-Temporal Dynamics: Chronological Station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Local Environmental Persistence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Hydrological Memory: Aquatic ecosystems exhibit temporal continuity; upstream contamination persists across successive sampling intervals.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Shift-1 Station Lags: Computed lagged values (hist_do_lag1, hist_temp_lag1, hist_ortho_lag1) partitioned per monitoring station.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Rolling-3 Statistics: Computed 3-sample rolling means capturing seasonal drift and localized baseline levels.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 Lookahead Leakage: Stations were chronologically sorted; shift operations strictly look backward in time.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High Predictive Correlation: Shift-1 orthophosphate lag (hist_ortho_lag1) achieves rank correlation rho = -0.78 with CCME WQI.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Temporal &amp; Cyclical Harmonization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Harmonic Truncation: Encoded calendar Month and Day-of-Year as cyclical pairs: sin(2*pi*t/T) and cos(2*pi*t/T).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Discontinuity Prevention: Ensures December 31 and January 1 remain continuous in distance space.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Multi-Decadal Trend Tracking: Year feature tracks long-term legislative impacts (e.g., Clean Water Act, EU Water Framework Directive).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Quarterly Grouping: Captures seasonal thermal turnover and agricultural fertilizer application pulses.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Robust Geospatial Grouping: Categorical encoding for 5 nation codes and 3 major waterbody classes.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Strict Anti-Leakage Protocol &amp; Stratified Partitioning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Anti-Leakage Target Quarantine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The Circular Leakage Hazard: The CCME WQI is calculated from water parameters. Naive models including intermediate counters create circular leakage.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Strict Quarantine Pipeline: All target columns (ccme_values, ccme_wqi, ccme_wqi_code, F1, F2, F3) are isolated via src.utils.quarantine_target.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Feature Matrix Verification: Programmatic assertions verify 0 target variables exist inside the 38-feature matrix.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 Post-Split Leakage: Scaling, normalization parameters, and metadata were fitted exclusively on the training partition.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Automated Test Coverage: test_target_quarantine_function and test_metadata_feature_list_leakage_free enforce continuous CI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Stratified 70/15/15 Data Partitioning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Dataset Volume: 2,819,617 cleaned records partitioned with exact class-stratification across ecological tiers.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Training Set: 1,973,731 observations (70.0%) - sharded into transparent 3-part Parquet files under 60 MB for GitHub tracking.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Validation Set: 422,943 observations (15.0%) - utilized for hyperparameter optimization and TreeSHAP calculations.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 Set: 422,943 observations (15.0%) - reserved for final held-out unbiased generalization benchmarking.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 Distributional Shift: Stratification guarantees identical class proportions across all three partitions.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Phase 1 ML Model Benchmarks: Random Forest vs. XGBoost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18267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371600"/>
            <a:ext cx="493776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554480"/>
            <a:ext cx="44805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Quantitative Empirical Performance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Mean Baseline: Val MAE = 14.130, RMSE = 17.656, R² = 0.0000. Provides empirical lower bound.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Random Forest Regressor: Val MAE = 0.0521, RMSE = 0.2081, R² = 0.999861. Achieves highest precision through 100 de-correlated trees.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XGBoost Regressor: Val MAE = 0.1375, RMSE = 0.3740, R² = 0.999551. Exceptional accuracy with 9x faster inference.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Error Reduction: Both ensembles eliminate &gt; 99.6% of baseline variance across 422,943 validation records.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Deployment Recommendation: Random Forest for centralized offline auditing; XGBoost for low-latency edge sensor nodes.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Explainable AI (XAI): TreeSHAP Game-Theoretic Feature Attribution</a:t>
            </a:r>
          </a:p>
        </p:txBody>
      </p:sp>
      <p:pic>
        <p:nvPicPr>
          <p:cNvPr id="4" name="Picture 3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524088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371600"/>
            <a:ext cx="493776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554480"/>
            <a:ext cx="44805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Key Environmental Driver Discoveries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Orthophosphate Dominance: log1p_orthophosphate and raw orthophosphate account for &gt; 88% of total split importance.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Limiting Nutrient Mechanism: Phosphorus is freshwater's critical limiting nutrient; spikes trigger immediate CCME WQI collapse.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Station Memory Ranks #2: hist_ortho_lag1 provides the second largest negative attribution, proving the value of local station history.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Hypoxic Tipping Points: Dissolved oxygen exhibits steep negative SHAP attributions below 4.0 mg/L, reflecting fish mortality thresholds.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Game-Theoretic Axioms: Shapley values guarantee Efficiency, Symmetry, Dummy player, and Additivity across all predictions.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Code Quality, Modularity &amp; Automated Unit Testing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Production Modular Package (src/)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src.features: filter_aquatic_physics, compute_log1p_features, compute_stoichiometry_ratios, compute_station_lags.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src.models: DualHeadMLP model definitions and PyTorch MultiTaskLoss with dynamic loss balancing.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src.metrics: Numerical evaluation functions for MAE, RMSE, R², Macro F1, Brier Score, and Expected Calibration Error (ECE).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src.utils: load_parquet_dataset (transparent shard loading) and separate_features_and_targets (leakage prevention).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Pipeline Runner: scripts/run_phase1_pipeline.py executes end-to-end data validation, inference, and test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12-Test Automated Test Suite (pytest)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Physics Bound Enforcement: test_filter_aquatic_physics confirms 100% detection of out-of-bounds telemetry.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Transformation Accuracy: test_compute_log1p_features and test_compute_stoichiometry_ratios verify formulas.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Strict Anti-Leakage Assertions: test_target_quarantine_function and test_metadata_feature_list_leakage_free verify zero target leakage.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Model Serialization &amp; Math: test_compute_regression_metrics, test_brier_score_and_ece, and test_dual_head_mlp_shapes.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Execution Performance: 12 passed in 1.65 seconds (100% passing rate under pytest).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Six-Member Project Allocation &amp; Viva Voce Defense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1508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4846320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6B6D4"/>
                </a:solidFill>
              </a:defRPr>
            </a:pPr>
            <a:r>
              <a:t>Mayank Sharma (Lead) — Pipeline Architecture &amp; Modeling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Orchestrated end-to-end ML pipeline, Random Forest &amp; XGBoost modeling, Parquet sharding, and GitHub versioning.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1508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81328"/>
            <a:ext cx="4846320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B82F6"/>
                </a:solidFill>
              </a:defRPr>
            </a:pPr>
            <a:r>
              <a:t>Team Member 2 — Literature Review &amp; Regulations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Synthesized ML environmental literature, derived CCME WQI formulation (F1, F2, F3, nse), and international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212080" cy="1508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4846320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</a:defRPr>
            </a:pPr>
            <a:r>
              <a:t>Team Member 3 — Dataset Auditing &amp; EDA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Executed multi-national dataset audit across 5 countries, detected telemetry anomalies, and established physics boundaries.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17520"/>
            <a:ext cx="5212080" cy="1508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127248"/>
            <a:ext cx="4846320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59E0B"/>
                </a:solidFill>
              </a:defRPr>
            </a:pPr>
            <a:r>
              <a:t>Team Member 4 — Feature Engineering &amp; Chemistry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Engineered 38 features: Benson-Krause DO sat, Redfield N:P, Emerson toxic ammonia, log1p transforms, and station lags.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212080" cy="1508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73168"/>
            <a:ext cx="4846320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B82F6"/>
                </a:solidFill>
              </a:defRPr>
            </a:pPr>
            <a:r>
              <a:t>Team Member 5 — Optimization &amp; Benchmarking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Managed hyperparameter optimization, loss functions, stratified 70/15/15 partitioning, and comparative benchmark metrics.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63440"/>
            <a:ext cx="5212080" cy="1508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773168"/>
            <a:ext cx="4846320" cy="128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6B6D4"/>
                </a:solidFill>
              </a:defRPr>
            </a:pPr>
            <a:r>
              <a:t>Team Member 6 — Explainability (XAI) &amp; Testing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Conducted TreeSHAP attribution analysis, computed calibration metrics (Brier/ECE), and developed 12-test pytest suite.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PHASE 1 MACHINE LEARNING EVALUATION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Phase 1 Key Conclusions, Viva Defense &amp; Phase 2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Phase 1 Scientific Conclusions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Feasibility Proven: Tree ensembles predict continuous CCME WQI with R² &gt; 0.999 across 2.82 million international records.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Geochemical Feature Impact: Stoichiometry and log(1+x) normalization amplify signal, reducing tree depth requirements.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Orthophosphate is Dominant: Game-theoretic TreeSHAP proves that limiting phosphorus drives over 88% of water quality index variations.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Zero-Leakage Guarantee: Quarantined architecture prevents synthetic accuracy inflation.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Enterprise Code Quality: Production src/ library validated by 12 unit tests passing in 1.65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Phase 2 Deep Learning Outlook &amp; Discussion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Dual-Head Deep Neural Networks: Extending ML baselines to multi-task PyTorch MLP architectures (Huber loss + Cross-Entropy).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Simultaneous Continuous &amp; Discrete Outputs: Concurrently predicting continuous CCME values and 5-class ecological tiers.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Probability Calibration &amp; Uncertainty: Analyzing multi-class Brier score (0.0533) and Expected Calibration Error (1.27%).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Edge Microservice Architecture: Containerizing inference engine in FastAPI for real-time municipal telemetry streams.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Thank You! All 6 team members are prepared for individual viva examination.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