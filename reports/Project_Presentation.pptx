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3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728655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200" b="1">
                <a:solidFill>
                  <a:srgbClr val="06B6D4"/>
                </a:solidFill>
              </a:defRPr>
            </a:pPr>
            <a:r>
              <a:t>SEMESTER 5 APPLIED MACHINE LEARNING (AML) | PROJECT 18</a:t>
            </a:r>
          </a:p>
          <a:p>
            <a:pPr>
              <a:spcAft>
                <a:spcPts val="1200"/>
              </a:spcAft>
              <a:defRPr sz="3000" b="1">
                <a:solidFill>
                  <a:srgbClr val="F8FAFC"/>
                </a:solidFill>
              </a:defRPr>
            </a:pPr>
            <a:r>
              <a:t>Surface Water Quality Index Estimation</a:t>
            </a:r>
            <a:br/>
            <a:r>
              <a:t>via Gradient Tree Boosting &amp; Stoichiometry</a:t>
            </a:r>
          </a:p>
          <a:p>
            <a:pPr>
              <a:spcAft>
                <a:spcPts val="1800"/>
              </a:spcAft>
              <a:defRPr sz="1600">
                <a:solidFill>
                  <a:srgbClr val="3B82F6"/>
                </a:solidFill>
              </a:defRPr>
            </a:pPr>
            <a:r>
              <a:t>Phase 1 Machine Learning Evaluation: 2.82 Million Records Across 5 Nations</a:t>
            </a:r>
          </a:p>
          <a:p>
            <a:pPr>
              <a:spcAft>
                <a:spcPts val="400"/>
              </a:spcAft>
              <a:defRPr sz="1200" b="1">
                <a:solidFill>
                  <a:srgbClr val="F59E0B"/>
                </a:solidFill>
              </a:defRPr>
            </a:pPr>
            <a:r>
              <a:t>PROJECT TEAM (6 MEMBERS):</a:t>
            </a:r>
          </a:p>
          <a:p>
            <a:pPr>
              <a:defRPr sz="1050">
                <a:solidFill>
                  <a:srgbClr val="F8FAFC"/>
                </a:solidFill>
              </a:defRPr>
            </a:pPr>
            <a:r>
              <a:t>• Aman Soni (Lead – Model Training Lead: RF, XGBoost)</a:t>
            </a:r>
            <a:br/>
            <a:r>
              <a:t>• Mayank Sharma (EDA &amp; Repository Management)</a:t>
            </a:r>
            <a:br/>
            <a:r>
              <a:t>• Aaryan Gera (Data Preprocessing Lead – Cleaning &amp; Audit)</a:t>
            </a:r>
            <a:br/>
            <a:r>
              <a:t>• Chaitanya Kumar (Feature Engineering &amp; Stoichiometry Lead)</a:t>
            </a:r>
            <a:br/>
            <a:r>
              <a:t>• Ankit Kumar Pandey (Model Evaluation &amp; Validation Lead)</a:t>
            </a:r>
            <a:br/>
            <a:r>
              <a:t>• Pranav (Research, Documentation &amp; Presentation Lead)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5120640"/>
            <a:ext cx="2468880" cy="1188720"/>
          </a:xfrm>
          <a:prstGeom prst="roundRect">
            <a:avLst/>
          </a:prstGeom>
          <a:solidFill>
            <a:srgbClr val="131F37"/>
          </a:solidFill>
          <a:ln w="1905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5257800"/>
            <a:ext cx="219456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2200" b="1">
                <a:solidFill>
                  <a:srgbClr val="06B6D4"/>
                </a:solidFill>
              </a:defRPr>
            </a:pPr>
            <a:r>
              <a:t>2,819,617</a:t>
            </a:r>
          </a:p>
          <a:p>
            <a:pPr>
              <a:defRPr sz="1100" b="1">
                <a:solidFill>
                  <a:srgbClr val="F8FAFC"/>
                </a:solidFill>
              </a:defRPr>
            </a:pPr>
            <a:r>
              <a:t>Clean Observations</a:t>
            </a:r>
          </a:p>
          <a:p>
            <a:pPr>
              <a:defRPr sz="900">
                <a:solidFill>
                  <a:srgbClr val="94A3B8"/>
                </a:solidFill>
              </a:defRPr>
            </a:pPr>
            <a:r>
              <a:t>100% Complete Case Truth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0" y="5120640"/>
            <a:ext cx="2468880" cy="1188720"/>
          </a:xfrm>
          <a:prstGeom prst="roundRect">
            <a:avLst/>
          </a:prstGeom>
          <a:solidFill>
            <a:srgbClr val="131F37"/>
          </a:solidFill>
          <a:ln w="1905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11880" y="5257800"/>
            <a:ext cx="219456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2200" b="1">
                <a:solidFill>
                  <a:srgbClr val="3B82F6"/>
                </a:solidFill>
              </a:defRPr>
            </a:pPr>
            <a:r>
              <a:t>38 Features</a:t>
            </a:r>
          </a:p>
          <a:p>
            <a:pPr>
              <a:defRPr sz="1100" b="1">
                <a:solidFill>
                  <a:srgbClr val="F8FAFC"/>
                </a:solidFill>
              </a:defRPr>
            </a:pPr>
            <a:r>
              <a:t>Engineered Predictors</a:t>
            </a:r>
          </a:p>
          <a:p>
            <a:pPr>
              <a:defRPr sz="900">
                <a:solidFill>
                  <a:srgbClr val="94A3B8"/>
                </a:solidFill>
              </a:defRPr>
            </a:pPr>
            <a:r>
              <a:t>Stoichiometry + Station Lags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5120640"/>
            <a:ext cx="2468880" cy="1188720"/>
          </a:xfrm>
          <a:prstGeom prst="roundRect">
            <a:avLst/>
          </a:prstGeom>
          <a:solidFill>
            <a:srgbClr val="131F37"/>
          </a:solidFill>
          <a:ln w="1905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55080" y="5257800"/>
            <a:ext cx="219456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2200" b="1">
                <a:solidFill>
                  <a:srgbClr val="10B981"/>
                </a:solidFill>
              </a:defRPr>
            </a:pPr>
            <a:r>
              <a:t>R² 0.9999</a:t>
            </a:r>
          </a:p>
          <a:p>
            <a:pPr>
              <a:defRPr sz="1100" b="1">
                <a:solidFill>
                  <a:srgbClr val="F8FAFC"/>
                </a:solidFill>
              </a:defRPr>
            </a:pPr>
            <a:r>
              <a:t>Random Forest Score</a:t>
            </a:r>
          </a:p>
          <a:p>
            <a:pPr>
              <a:defRPr sz="900">
                <a:solidFill>
                  <a:srgbClr val="94A3B8"/>
                </a:solidFill>
              </a:defRPr>
            </a:pPr>
            <a:r>
              <a:t>MAE = 0.0520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961120" y="5120640"/>
            <a:ext cx="2468880" cy="1188720"/>
          </a:xfrm>
          <a:prstGeom prst="roundRect">
            <a:avLst/>
          </a:prstGeom>
          <a:solidFill>
            <a:srgbClr val="131F37"/>
          </a:solidFill>
          <a:ln w="1905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098280" y="5257800"/>
            <a:ext cx="219456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2200" b="1">
                <a:solidFill>
                  <a:srgbClr val="F59E0B"/>
                </a:solidFill>
              </a:defRPr>
            </a:pPr>
            <a:r>
              <a:t>R² 0.9996</a:t>
            </a:r>
          </a:p>
          <a:p>
            <a:pPr>
              <a:defRPr sz="1100" b="1">
                <a:solidFill>
                  <a:srgbClr val="F8FAFC"/>
                </a:solidFill>
              </a:defRPr>
            </a:pPr>
            <a:r>
              <a:t>XGBoost Score</a:t>
            </a:r>
          </a:p>
          <a:p>
            <a:pPr>
              <a:defRPr sz="900">
                <a:solidFill>
                  <a:srgbClr val="94A3B8"/>
                </a:solidFill>
              </a:defRPr>
            </a:pPr>
            <a:r>
              <a:t>MAE = 0.1375 (9x Faster)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3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06B6D4"/>
                </a:solidFill>
              </a:defRPr>
            </a:pPr>
            <a:r>
              <a:t>PHASE 1 MACHINE LEARNING EVALUATION</a:t>
            </a:r>
          </a:p>
          <a:p>
            <a:pPr>
              <a:defRPr sz="2200" b="1">
                <a:solidFill>
                  <a:srgbClr val="F8FAFC"/>
                </a:solidFill>
              </a:defRPr>
            </a:pPr>
            <a:r>
              <a:t>The Environmental Monitoring Crisis: Lab Delays vs. Real-Time AML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5120640" cy="4937760"/>
          </a:xfrm>
          <a:prstGeom prst="roundRect">
            <a:avLst/>
          </a:prstGeom>
          <a:solidFill>
            <a:srgbClr val="131F37"/>
          </a:solidFill>
          <a:ln w="1905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1554480"/>
            <a:ext cx="4663440" cy="4572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F59E0B"/>
                </a:solidFill>
              </a:defRPr>
            </a:pPr>
            <a:r>
              <a:t>The Conventional Bottleneck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Freshwater Vulnerability: Global water systems face escalating nutrient runoff and chemical effluents.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Incubation Latency: Standard assays like 5-day Biochemical Oxygen Demand (BOD5) require 120 hours.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High Analytical Cost: Manual grab-sampling requires specialized field teams and recurring wet-lab budgets.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Discrete Blindspots: Monthly sampling schedules miss rapid, transient toxic contamination plumes.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Delayed Intervention: Ecological damage and fish kills occur before lab assays return results.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371600"/>
            <a:ext cx="5212080" cy="4937760"/>
          </a:xfrm>
          <a:prstGeom prst="roundRect">
            <a:avLst/>
          </a:prstGeom>
          <a:solidFill>
            <a:srgbClr val="131F37"/>
          </a:solidFill>
          <a:ln w="1905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46520" y="1554480"/>
            <a:ext cx="4754880" cy="4572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06B6D4"/>
                </a:solidFill>
              </a:defRPr>
            </a:pPr>
            <a:r>
              <a:t>The Machine Learning Solution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In-Situ Instantaneous Telemetry: Ingest digital probe readings (pH, DO, temperature, conductivity).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Deterministic Standardization: Directly predict the Canadian Council of Ministers of the Environment (CCME) WQI.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Discrete Ecological Tiers: Concurrently map continuous scores to 5 regulatory tiers (Excellent to Poor).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Sub-Millisecond Inference: Produce real-time index estimates in under 1 microsecond per sensor query.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Early Warning Network: Alerts water utility operators and regulatory agencies before pollution spreads.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3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06B6D4"/>
                </a:solidFill>
              </a:defRPr>
            </a:pPr>
            <a:r>
              <a:t>PHASE 1 MACHINE LEARNING EVALUATION</a:t>
            </a:r>
          </a:p>
          <a:p>
            <a:pPr>
              <a:defRPr sz="2200" b="1">
                <a:solidFill>
                  <a:srgbClr val="F8FAFC"/>
                </a:solidFill>
              </a:defRPr>
            </a:pPr>
            <a:r>
              <a:t>Literature Review &amp; Methodological Gap Analysis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5120640" cy="4937760"/>
          </a:xfrm>
          <a:prstGeom prst="roundRect">
            <a:avLst/>
          </a:prstGeom>
          <a:solidFill>
            <a:srgbClr val="131F37"/>
          </a:solidFill>
          <a:ln w="1905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1554480"/>
            <a:ext cx="4663440" cy="4572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3B82F6"/>
                </a:solidFill>
              </a:defRPr>
            </a:pPr>
            <a:r>
              <a:t>Academic Foundations &amp; Benchmarks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Breiman (2001) - Random Forests: Introduced bootstrap bagging with randomized subspaces to resist noise.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Chen &amp; Guestrin (2016) - XGBoost: Engineered second-order Taylor gradients with leaf regularization.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CCME (2001) - Water Quality Index 1.0: Established standard multi-dimensional aggregation across Scope, Frequency, and Amplitude.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Lundberg &amp; Lee (2017) - TreeSHAP: Formulated exact polynomial-time game-theoretic Shapley attributions.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371600"/>
            <a:ext cx="5212080" cy="4937760"/>
          </a:xfrm>
          <a:prstGeom prst="roundRect">
            <a:avLst/>
          </a:prstGeom>
          <a:solidFill>
            <a:srgbClr val="131F37"/>
          </a:solidFill>
          <a:ln w="1905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46520" y="1554480"/>
            <a:ext cx="4754880" cy="4572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10B981"/>
                </a:solidFill>
              </a:defRPr>
            </a:pPr>
            <a:r>
              <a:t>Critical Literature Gaps Resolved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Gap 1: Sensor Telemetry Errors -&gt; Enforced thermodynamic screening, purging 8,360 corrupted values.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Gap 2: Target Leakage -&gt; Programmatically quarantined target variables, verifying zero leakage.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Gap 3: Nutrient Skewness -&gt; Applied log(1+x), boosting linear correlation from -0.66 to -0.85.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Gap 4: Spatial-Only Blindness -&gt; Engineered chronological shift-1 station lags (rho = -0.78 with WQI).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3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06B6D4"/>
                </a:solidFill>
              </a:defRPr>
            </a:pPr>
            <a:r>
              <a:t>PHASE 1 MACHINE LEARNING EVALUATION</a:t>
            </a:r>
          </a:p>
          <a:p>
            <a:pPr>
              <a:defRPr sz="2200" b="1">
                <a:solidFill>
                  <a:srgbClr val="F8FAFC"/>
                </a:solidFill>
              </a:defRPr>
            </a:pPr>
            <a:r>
              <a:t>Multi-National Dataset Architecture: 2,827,977 Records Across 5 Nations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2468880" cy="1097280"/>
          </a:xfrm>
          <a:prstGeom prst="roundRect">
            <a:avLst/>
          </a:prstGeom>
          <a:solidFill>
            <a:srgbClr val="131F37"/>
          </a:solidFill>
          <a:ln w="1905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508760"/>
            <a:ext cx="219456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2200" b="1">
                <a:solidFill>
                  <a:srgbClr val="06B6D4"/>
                </a:solidFill>
              </a:defRPr>
            </a:pPr>
            <a:r>
              <a:t>2,827,977</a:t>
            </a:r>
          </a:p>
          <a:p>
            <a:pPr>
              <a:defRPr sz="1100" b="1">
                <a:solidFill>
                  <a:srgbClr val="F8FAFC"/>
                </a:solidFill>
              </a:defRPr>
            </a:pPr>
            <a:r>
              <a:t>Total Ingested Records</a:t>
            </a:r>
          </a:p>
          <a:p>
            <a:pPr>
              <a:defRPr sz="900">
                <a:solidFill>
                  <a:srgbClr val="94A3B8"/>
                </a:solidFill>
              </a:defRPr>
            </a:pPr>
            <a:r>
              <a:t>Historical archive 1940-2023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0" y="1371600"/>
            <a:ext cx="2468880" cy="1097280"/>
          </a:xfrm>
          <a:prstGeom prst="roundRect">
            <a:avLst/>
          </a:prstGeom>
          <a:solidFill>
            <a:srgbClr val="131F37"/>
          </a:solidFill>
          <a:ln w="1905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11880" y="1508760"/>
            <a:ext cx="219456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2200" b="1">
                <a:solidFill>
                  <a:srgbClr val="3B82F6"/>
                </a:solidFill>
              </a:defRPr>
            </a:pPr>
            <a:r>
              <a:t>5 Nations</a:t>
            </a:r>
          </a:p>
          <a:p>
            <a:pPr>
              <a:defRPr sz="1100" b="1">
                <a:solidFill>
                  <a:srgbClr val="F8FAFC"/>
                </a:solidFill>
              </a:defRPr>
            </a:pPr>
            <a:r>
              <a:t>Geographic Coverage</a:t>
            </a:r>
          </a:p>
          <a:p>
            <a:pPr>
              <a:defRPr sz="900">
                <a:solidFill>
                  <a:srgbClr val="94A3B8"/>
                </a:solidFill>
              </a:defRPr>
            </a:pPr>
            <a:r>
              <a:t>England, USA, Ireland, China, Canada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371600"/>
            <a:ext cx="2468880" cy="1097280"/>
          </a:xfrm>
          <a:prstGeom prst="roundRect">
            <a:avLst/>
          </a:prstGeom>
          <a:solidFill>
            <a:srgbClr val="131F37"/>
          </a:solidFill>
          <a:ln w="1905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55080" y="1508760"/>
            <a:ext cx="219456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2200" b="1">
                <a:solidFill>
                  <a:srgbClr val="10B981"/>
                </a:solidFill>
              </a:defRPr>
            </a:pPr>
            <a:r>
              <a:t>100%</a:t>
            </a:r>
          </a:p>
          <a:p>
            <a:pPr>
              <a:defRPr sz="1100" b="1">
                <a:solidFill>
                  <a:srgbClr val="F8FAFC"/>
                </a:solidFill>
              </a:defRPr>
            </a:pPr>
            <a:r>
              <a:t>Complete Case Ground Truth</a:t>
            </a:r>
          </a:p>
          <a:p>
            <a:pPr>
              <a:defRPr sz="900">
                <a:solidFill>
                  <a:srgbClr val="94A3B8"/>
                </a:solidFill>
              </a:defRPr>
            </a:pPr>
            <a:r>
              <a:t>Zero null values in verified data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961120" y="1371600"/>
            <a:ext cx="2468880" cy="1097280"/>
          </a:xfrm>
          <a:prstGeom prst="roundRect">
            <a:avLst/>
          </a:prstGeom>
          <a:solidFill>
            <a:srgbClr val="131F37"/>
          </a:solidFill>
          <a:ln w="1905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098280" y="1508760"/>
            <a:ext cx="219456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2200" b="1">
                <a:solidFill>
                  <a:srgbClr val="F59E0B"/>
                </a:solidFill>
              </a:defRPr>
            </a:pPr>
            <a:r>
              <a:t>83 Years</a:t>
            </a:r>
          </a:p>
          <a:p>
            <a:pPr>
              <a:defRPr sz="1100" b="1">
                <a:solidFill>
                  <a:srgbClr val="F8FAFC"/>
                </a:solidFill>
              </a:defRPr>
            </a:pPr>
            <a:r>
              <a:t>Temporal Span</a:t>
            </a:r>
          </a:p>
          <a:p>
            <a:pPr>
              <a:defRPr sz="900">
                <a:solidFill>
                  <a:srgbClr val="94A3B8"/>
                </a:solidFill>
              </a:defRPr>
            </a:pPr>
            <a:r>
              <a:t>Longitudinal monitoring</a:t>
            </a:r>
          </a:p>
        </p:txBody>
      </p:sp>
      <p:pic>
        <p:nvPicPr>
          <p:cNvPr id="12" name="Picture 11" descr="01_country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651760"/>
            <a:ext cx="5486400" cy="2291049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6492240" y="2651760"/>
            <a:ext cx="4937760" cy="3840480"/>
          </a:xfrm>
          <a:prstGeom prst="roundRect">
            <a:avLst/>
          </a:prstGeom>
          <a:solidFill>
            <a:srgbClr val="131F37"/>
          </a:solidFill>
          <a:ln w="1905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720840" y="2834640"/>
            <a:ext cx="4480560" cy="3474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06B6D4"/>
                </a:solidFill>
              </a:defRPr>
            </a:pPr>
            <a:r>
              <a:t>Geographic Composition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England (Environment Agency): 2,361,042 clean records (83.74%), rich river basin telemetry.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USA (USGS Network): 239,890 clean records (8.51%), comprehensive river catchments.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Ireland (EPA Catchments): 200,980 clean records (7.13%), pristine lakes and waterways.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China &amp; Canada: 17,705 clean records (0.63%), international cross-basin benchmarks.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GitHub 100 MB Limit Solved: Transparent 3-part Parquet sharding under 60 MB each.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3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06B6D4"/>
                </a:solidFill>
              </a:defRPr>
            </a:pPr>
            <a:r>
              <a:t>PHASE 1 MACHINE LEARNING EVALUATION</a:t>
            </a:r>
          </a:p>
          <a:p>
            <a:pPr>
              <a:defRPr sz="2200" b="1">
                <a:solidFill>
                  <a:srgbClr val="F8FAFC"/>
                </a:solidFill>
              </a:defRPr>
            </a:pPr>
            <a:r>
              <a:t>Data Quality Audit: Purging 8,360 Physically Impossible Telemetry Errors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5120640" cy="4937760"/>
          </a:xfrm>
          <a:prstGeom prst="roundRect">
            <a:avLst/>
          </a:prstGeom>
          <a:solidFill>
            <a:srgbClr val="131F37"/>
          </a:solidFill>
          <a:ln w="1905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1554480"/>
            <a:ext cx="4663440" cy="4572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F59E0B"/>
                </a:solidFill>
              </a:defRPr>
            </a:pPr>
            <a:r>
              <a:t>Thermodynamic &amp; Chemical Screening Rules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pH [3.0, 12.0]: Natural waters cannot sustain pH &lt; 3.0 or &gt; 12.0 outside catastrophic caustic spills.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Water Temperature [0.0°C, 45.0°C]: Constrained by liquid state of surface freshwater at 1 atm.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Dissolved Oxygen [0.0, 25.0 mg/L]: Thermodynamic ceiling governed by Henry's law gas solubility.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Non-Negative Nutrients: Conductivity, BOD5, Ammonia, Nitrate, Orthophosphate cannot assume negative values.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Sensor Telemetry Error Codes: Purged sensor fault codes (-999, 9999) mistakenly recorded as numeric values.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371600"/>
            <a:ext cx="5212080" cy="4937760"/>
          </a:xfrm>
          <a:prstGeom prst="roundRect">
            <a:avLst/>
          </a:prstGeom>
          <a:solidFill>
            <a:srgbClr val="131F37"/>
          </a:solidFill>
          <a:ln w="1905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46520" y="1554480"/>
            <a:ext cx="4754880" cy="4572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10B981"/>
                </a:solidFill>
              </a:defRPr>
            </a:pPr>
            <a:r>
              <a:t>Quality Audit Results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Raw Observations: 2,827,977 multi-national records.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Violations Purged: Exactly 8,360 records (0.296% of the corpus).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Pristine Production Volume: 2,819,617 complete-case observations.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Zero Synthetic Imputation Bias: Avoided synthetic artifact injection (KNN or MICE).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Split Node Stability: Prevents decision trees from learning artificial thresholds on electronic dropouts.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3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06B6D4"/>
                </a:solidFill>
              </a:defRPr>
            </a:pPr>
            <a:r>
              <a:t>PHASE 1 MACHINE LEARNING EVALUATION</a:t>
            </a:r>
          </a:p>
          <a:p>
            <a:pPr>
              <a:defRPr sz="2200" b="1">
                <a:solidFill>
                  <a:srgbClr val="F8FAFC"/>
                </a:solidFill>
              </a:defRPr>
            </a:pPr>
            <a:r>
              <a:t>Target Definition: The CCME Water Quality Index (CCME WQI)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5486400" cy="4937760"/>
          </a:xfrm>
          <a:prstGeom prst="roundRect">
            <a:avLst/>
          </a:prstGeom>
          <a:solidFill>
            <a:srgbClr val="131F37"/>
          </a:solidFill>
          <a:ln w="1905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1554480"/>
            <a:ext cx="5029200" cy="4572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06B6D4"/>
                </a:solidFill>
              </a:defRPr>
            </a:pPr>
            <a:r>
              <a:t>Mathematical Index Formulation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Composite Equation: WQI = 100 - [ sqrt(F1^2 + F2^2 + F3^2) / 1.732 ]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F1 (Scope): Percentage of variables failing guidelines: F1 = (Failed Variables / Total Variables) * 100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F2 (Frequency): Percentage of individual tests failing: F2 = (Failed Tests / Total Tests) * 100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F3 (Amplitude): Magnitude of exceedance via normalized sum of excursions (nse): nse = sum(excursion_i) / Total Tests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Non-linear Scaling: F3 = nse / (0.01 * nse + 0.01); maps unbounded excursions smoothly into [0, 100].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92240" y="1371600"/>
            <a:ext cx="4937760" cy="4937760"/>
          </a:xfrm>
          <a:prstGeom prst="roundRect">
            <a:avLst/>
          </a:prstGeom>
          <a:solidFill>
            <a:srgbClr val="131F37"/>
          </a:solidFill>
          <a:ln w="1905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720840" y="1554480"/>
            <a:ext cx="4480560" cy="4572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3B82F6"/>
                </a:solidFill>
              </a:defRPr>
            </a:pPr>
            <a:r>
              <a:t>Standardized Regulatory Tiers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Tier 1: Excellent (95 - 100): Pristine ecological condition; water protected for all uses.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Tier 2: Good (80 - 94): Minor impairment; conditions rarely depart from natural levels.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Tier 3: Fair (65 - 79): Occasionally degraded; water quality periodically departs from standards.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Tier 4: Marginal (45 - 64): Frequently threatened or impaired; significant agricultural stress.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Tier 5: Poor (0 - 44): Severely damaged; aquatic ecosystems cannot safely be supported.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3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06B6D4"/>
                </a:solidFill>
              </a:defRPr>
            </a:pPr>
            <a:r>
              <a:t>PHASE 1 MACHINE LEARNING EVALUATION</a:t>
            </a:r>
          </a:p>
          <a:p>
            <a:pPr>
              <a:defRPr sz="2200" b="1">
                <a:solidFill>
                  <a:srgbClr val="F8FAFC"/>
                </a:solidFill>
              </a:defRPr>
            </a:pPr>
            <a:r>
              <a:t>Domain Feature Engineering: Geochemical &amp; Stoichiometric Physics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5120640" cy="4937760"/>
          </a:xfrm>
          <a:prstGeom prst="roundRect">
            <a:avLst/>
          </a:prstGeom>
          <a:solidFill>
            <a:srgbClr val="131F37"/>
          </a:solidFill>
          <a:ln w="1905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1554480"/>
            <a:ext cx="4663440" cy="4572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06B6D4"/>
                </a:solidFill>
              </a:defRPr>
            </a:pPr>
            <a:r>
              <a:t>Stoichiometric &amp; Physical Formulations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Benson-Krause DO Saturation: DO_sat(T) capacity modeled as an empirical temperature polynomial.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DO Deficit &amp; Percent Saturation: DO_%sat = (DO / DO_sat) * 100; DO_deficit = max(0, DO_sat - DO).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Redfield Stoichiometric Ratio: N:P = Nitrogen / (Orthophosphate + 1e-5), identifying algal limitation.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Emerson Un-Ionized Ammonia: Quantifies lethal free NH3 as an equilibrium function of temperature and pH.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Streeter-Phelps BOD/DO Ratio: Measures microbial respiratory demand relative to oxygen supply.</a:t>
            </a:r>
          </a:p>
        </p:txBody>
      </p:sp>
      <p:pic>
        <p:nvPicPr>
          <p:cNvPr id="6" name="Picture 5" descr="07_do_temperature_satur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371600"/>
            <a:ext cx="5212080" cy="324879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3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06B6D4"/>
                </a:solidFill>
              </a:defRPr>
            </a:pPr>
            <a:r>
              <a:t>PHASE 1 MACHINE LEARNING EVALUATION</a:t>
            </a:r>
          </a:p>
          <a:p>
            <a:pPr>
              <a:defRPr sz="2200" b="1">
                <a:solidFill>
                  <a:srgbClr val="F8FAFC"/>
                </a:solidFill>
              </a:defRPr>
            </a:pPr>
            <a:r>
              <a:t>Non-Linear Skewness Mitigation: The log(1+x) Transformation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5120640" cy="4937760"/>
          </a:xfrm>
          <a:prstGeom prst="roundRect">
            <a:avLst/>
          </a:prstGeom>
          <a:solidFill>
            <a:srgbClr val="131F37"/>
          </a:solidFill>
          <a:ln w="1905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1554480"/>
            <a:ext cx="4663440" cy="4572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F59E0B"/>
                </a:solidFill>
              </a:defRPr>
            </a:pPr>
            <a:r>
              <a:t>Distributional Skewness Challenge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Heavy Right Skew: Nutrients (Orthophosphate, Ammonia, BOD5) exhibit extreme skewness (gamma_1 &gt; 40).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Split Suboptimality: Decision trees partition skewed variables near zero, wasting split depth.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Transformation: Applied y = ln(1 + x), compressing heavy positive tails while preserving non-negativity.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Correlation Jump: Orthophosphate correlation with CCME WQI improved from r = -0.66 to r = -0.85.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Algorithm Impact: Stabilizes gradient calculations and accelerates tree convergence.</a:t>
            </a:r>
          </a:p>
        </p:txBody>
      </p:sp>
      <p:pic>
        <p:nvPicPr>
          <p:cNvPr id="6" name="Picture 5" descr="08_correlation_heatmap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371600"/>
            <a:ext cx="5212080" cy="221061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3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06B6D4"/>
                </a:solidFill>
              </a:defRPr>
            </a:pPr>
            <a:r>
              <a:t>PHASE 1 MACHINE LEARNING EVALUATION</a:t>
            </a:r>
          </a:p>
          <a:p>
            <a:pPr>
              <a:defRPr sz="2200" b="1">
                <a:solidFill>
                  <a:srgbClr val="F8FAFC"/>
                </a:solidFill>
              </a:defRPr>
            </a:pPr>
            <a:r>
              <a:t>Spatial-Temporal Dynamics: Chronological Station Memory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5120640" cy="4937760"/>
          </a:xfrm>
          <a:prstGeom prst="roundRect">
            <a:avLst/>
          </a:prstGeom>
          <a:solidFill>
            <a:srgbClr val="131F37"/>
          </a:solidFill>
          <a:ln w="1905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1554480"/>
            <a:ext cx="4663440" cy="4572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3B82F6"/>
                </a:solidFill>
              </a:defRPr>
            </a:pPr>
            <a:r>
              <a:t>Local Environmental Persistence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Hydrological Continuity: Contaminant plumes persist across successive sampling events at a given station.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Shift-1 Station Lags: Computed lagged values (hist_do_lag1, hist_temp_lag1, hist_ortho_lag1) per station.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Rolling-3 Statistics: Moving averages capturing localized environmental baselines.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Zero Lookahead Leakage: Chronological sorting ensures shift operations look strictly backward in time.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High Predictive Correlation: Shift-1 orthophosphate lag achieves rank correlation rho = -0.78 with WQI.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371600"/>
            <a:ext cx="5212080" cy="4937760"/>
          </a:xfrm>
          <a:prstGeom prst="roundRect">
            <a:avLst/>
          </a:prstGeom>
          <a:solidFill>
            <a:srgbClr val="131F37"/>
          </a:solidFill>
          <a:ln w="1905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46520" y="1554480"/>
            <a:ext cx="4754880" cy="4572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10B981"/>
                </a:solidFill>
              </a:defRPr>
            </a:pPr>
            <a:r>
              <a:t>Temporal &amp; Cyclical Harmonization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Harmonic Truncation: Encoded Month and Day-of-Year as sin(2*pi*t/T) and cos(2*pi*t/T).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Discontinuity Prevention: Ensures December 31 and January 1 remain continuous in distance space.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Multi-Decadal Trend: Year feature captures legislative milestones (Clean Water Act, EU WFD).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Quarterly Grouping: Captures seasonal thermal turnover and agricultural pulse events.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Total Feature Count: 8 Base + 7 Stoichiometry + 7 log1p + 6 Lags + 1 Stress + 9 Temporal = 38 Features.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3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06B6D4"/>
                </a:solidFill>
              </a:defRPr>
            </a:pPr>
            <a:r>
              <a:t>PHASE 1 MACHINE LEARNING EVALUATION</a:t>
            </a:r>
          </a:p>
          <a:p>
            <a:pPr>
              <a:defRPr sz="2200" b="1">
                <a:solidFill>
                  <a:srgbClr val="F8FAFC"/>
                </a:solidFill>
              </a:defRPr>
            </a:pPr>
            <a:r>
              <a:t>Strict Anti-Leakage Protocol &amp; Stratified Partitioning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5120640" cy="4937760"/>
          </a:xfrm>
          <a:prstGeom prst="roundRect">
            <a:avLst/>
          </a:prstGeom>
          <a:solidFill>
            <a:srgbClr val="131F37"/>
          </a:solidFill>
          <a:ln w="1905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1554480"/>
            <a:ext cx="4663440" cy="4572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F59E0B"/>
                </a:solidFill>
              </a:defRPr>
            </a:pPr>
            <a:r>
              <a:t>Anti-Leakage Target Quarantine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Circular Leakage Hazard: CCME WQI is calculated from chemical parameters; naive models leak calculations.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Target Quarantine: All target columns quarantined via src.utils.separate_features_and_targets.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Programmatic Assertions: Automated tests verify zero target columns inside the 38-feature predictor matrix.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Zero Post-Split Leakage: Scaling, transformations, and metadata fitted strictly on training data.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Continuous CI Testing: Continuous unit test assertions prevent accidental contamination.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371600"/>
            <a:ext cx="5212080" cy="4937760"/>
          </a:xfrm>
          <a:prstGeom prst="roundRect">
            <a:avLst/>
          </a:prstGeom>
          <a:solidFill>
            <a:srgbClr val="131F37"/>
          </a:solidFill>
          <a:ln w="1905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46520" y="1554480"/>
            <a:ext cx="4754880" cy="4572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06B6D4"/>
                </a:solidFill>
              </a:defRPr>
            </a:pPr>
            <a:r>
              <a:t>Stratified 70/15/15 Data Partitioning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Total Clean Volume: 2,819,617 observations partitioned with exact class-stratification across ecological tiers.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Training Set: 1,973,731 observations (70.0%) - sharded into 3 parts under 60 MB for GitHub tracking.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Validation Set: 422,943 observations (15.0%) - used for hyperparameter optimization and TreeSHAP.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Test Set: 422,943 observations (15.0%) - reserved for final held-out unbiased generalization.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Zero Distributional Shift: Stratification guarantees identical class proportions across all splits.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3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06B6D4"/>
                </a:solidFill>
              </a:defRPr>
            </a:pPr>
            <a:r>
              <a:t>PHASE 1 MACHINE LEARNING EVALUATION</a:t>
            </a:r>
          </a:p>
          <a:p>
            <a:pPr>
              <a:defRPr sz="2200" b="1">
                <a:solidFill>
                  <a:srgbClr val="F8FAFC"/>
                </a:solidFill>
              </a:defRPr>
            </a:pPr>
            <a:r>
              <a:t>Phase 1 ML Model Benchmarks: Random Forest vs. XGBoost</a:t>
            </a:r>
          </a:p>
        </p:txBody>
      </p:sp>
      <p:pic>
        <p:nvPicPr>
          <p:cNvPr id="4" name="Picture 3" descr="model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5486400" cy="182675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6492240" y="1371600"/>
            <a:ext cx="4937760" cy="4937760"/>
          </a:xfrm>
          <a:prstGeom prst="roundRect">
            <a:avLst/>
          </a:prstGeom>
          <a:solidFill>
            <a:srgbClr val="131F37"/>
          </a:solidFill>
          <a:ln w="1905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720840" y="1554480"/>
            <a:ext cx="4480560" cy="4572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10B981"/>
                </a:solidFill>
              </a:defRPr>
            </a:pPr>
            <a:r>
              <a:t>Quantitative Empirical Performance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Mean Baseline: Val MAE = 14.130, RMSE = 17.656, R² = 0.0000. Provides empirical lower bound.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Random Forest Regressor: Val MAE = 0.0521, RMSE = 0.2081, R² = 0.999861. Extreme precision via 100 trees.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XGBoost Regressor: Val MAE = 0.1375, RMSE = 0.3740, R² = 0.999551. Exceptional accuracy with 9x faster inference.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Error Reduction: Both ensembles eliminate &gt; 99.6% of baseline variance across 422,943 validation records.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Deployment Recommendation: Random Forest for offline auditing; XGBoost for low-latency IoT edge nodes.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3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06B6D4"/>
                </a:solidFill>
              </a:defRPr>
            </a:pPr>
            <a:r>
              <a:t>PHASE 1 MACHINE LEARNING EVALUATION</a:t>
            </a:r>
          </a:p>
          <a:p>
            <a:pPr>
              <a:defRPr sz="2200" b="1">
                <a:solidFill>
                  <a:srgbClr val="F8FAFC"/>
                </a:solidFill>
              </a:defRPr>
            </a:pPr>
            <a:r>
              <a:t>Explainable AI (XAI): TreeSHAP Game-Theoretic Feature Attribution</a:t>
            </a:r>
          </a:p>
        </p:txBody>
      </p:sp>
      <p:pic>
        <p:nvPicPr>
          <p:cNvPr id="4" name="Picture 3" descr="shap_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5486400" cy="5240881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6492240" y="1371600"/>
            <a:ext cx="4937760" cy="4937760"/>
          </a:xfrm>
          <a:prstGeom prst="roundRect">
            <a:avLst/>
          </a:prstGeom>
          <a:solidFill>
            <a:srgbClr val="131F37"/>
          </a:solidFill>
          <a:ln w="1905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720840" y="1554480"/>
            <a:ext cx="4480560" cy="4572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06B6D4"/>
                </a:solidFill>
              </a:defRPr>
            </a:pPr>
            <a:r>
              <a:t>Key Environmental Driver Discoveries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Orthophosphate Dominance: log1p_orthophosphate and raw orthophosphate drive &gt; 88% of total split importance.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Limiting Nutrient Mechanism: Phosphorus triggers freshwater eutrophication; elevated levels cause sharp index drops.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Station Memory Ranks #2: hist_ortho_lag1 provides the second largest negative attribution, proving station persistence.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Hypoxic Tipping Points: Dissolved oxygen exhibits steep negative attributions below 4.0 mg/L (fish mortality threshold).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Game-Theoretic Axioms: Satisfies Efficiency, Symmetry, Dummy Player, and Additivity across all predictions.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3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06B6D4"/>
                </a:solidFill>
              </a:defRPr>
            </a:pPr>
            <a:r>
              <a:t>PHASE 1 MACHINE LEARNING EVALUATION</a:t>
            </a:r>
          </a:p>
          <a:p>
            <a:pPr>
              <a:defRPr sz="2200" b="1">
                <a:solidFill>
                  <a:srgbClr val="F8FAFC"/>
                </a:solidFill>
              </a:defRPr>
            </a:pPr>
            <a:r>
              <a:t>Code Quality, Modularity &amp; Automated Unit Testing Suite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5120640" cy="4937760"/>
          </a:xfrm>
          <a:prstGeom prst="roundRect">
            <a:avLst/>
          </a:prstGeom>
          <a:solidFill>
            <a:srgbClr val="131F37"/>
          </a:solidFill>
          <a:ln w="1905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1554480"/>
            <a:ext cx="4663440" cy="4572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3B82F6"/>
                </a:solidFill>
              </a:defRPr>
            </a:pPr>
            <a:r>
              <a:t>Production Modular Package (src/)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src.features: filter_aquatic_physics, compute_log1p_features, compute_stoichiometry_ratios, compute_station_lags.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src.models: Model interface abstractions and loss definitions.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src.metrics: Numerical evaluation engine (MAE, RMSE, R², Macro F1, Brier Score, ECE).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src.utils: Transparent multi-part Parquet loading and anti-leakage quarantine.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Pipeline Runner: scripts/run_phase1_pipeline.py executes end-to-end data validation and test reporting.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371600"/>
            <a:ext cx="5212080" cy="4937760"/>
          </a:xfrm>
          <a:prstGeom prst="roundRect">
            <a:avLst/>
          </a:prstGeom>
          <a:solidFill>
            <a:srgbClr val="131F37"/>
          </a:solidFill>
          <a:ln w="1905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46520" y="1554480"/>
            <a:ext cx="4754880" cy="4572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10B981"/>
                </a:solidFill>
              </a:defRPr>
            </a:pPr>
            <a:r>
              <a:t>12-Test Automated Test Suite (pytest)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Physics Bound Enforcement: test_filter_aquatic_physics confirms 100% detection of out-of-bounds telemetry.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Transformation Accuracy: test_compute_log1p_features and test_compute_stoichiometry_ratios verify formulas.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Strict Anti-Leakage Assertions: test_target_quarantine_function verifies zero target leakage.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Model Serialization &amp; Math: test_compute_regression_metrics, test_brier_score_and_ece.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Execution Performance: 12 passed in 1.65 seconds (100% passing rate under pytest).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3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06B6D4"/>
                </a:solidFill>
              </a:defRPr>
            </a:pPr>
            <a:r>
              <a:t>PHASE 1 MACHINE LEARNING EVALUATION</a:t>
            </a:r>
          </a:p>
          <a:p>
            <a:pPr>
              <a:defRPr sz="2200" b="1">
                <a:solidFill>
                  <a:srgbClr val="F8FAFC"/>
                </a:solidFill>
              </a:defRPr>
            </a:pPr>
            <a:r>
              <a:t>Six-Member Project Allocation &amp; Viva Voce Defense Matrix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5212080" cy="1508760"/>
          </a:xfrm>
          <a:prstGeom prst="roundRect">
            <a:avLst/>
          </a:prstGeom>
          <a:solidFill>
            <a:srgbClr val="131F37"/>
          </a:solidFill>
          <a:ln w="1905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481328"/>
            <a:ext cx="4846320" cy="128930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200" b="1">
                <a:solidFill>
                  <a:srgbClr val="06B6D4"/>
                </a:solidFill>
              </a:defRPr>
            </a:pPr>
            <a:r>
              <a:t>Aman Soni (Lead) — Model Training Lead (RF, XGBoost)</a:t>
            </a:r>
          </a:p>
          <a:p>
            <a:pPr>
              <a:defRPr sz="1000">
                <a:solidFill>
                  <a:srgbClr val="F8FAFC"/>
                </a:solidFill>
              </a:defRPr>
            </a:pPr>
            <a:r>
              <a:t>Tuned tree ensembles, optimized loss functions and split criteria (MDI vs Gain), and led regression training.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371600"/>
            <a:ext cx="5212080" cy="1508760"/>
          </a:xfrm>
          <a:prstGeom prst="roundRect">
            <a:avLst/>
          </a:prstGeom>
          <a:solidFill>
            <a:srgbClr val="131F37"/>
          </a:solidFill>
          <a:ln w="1905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0" y="1481328"/>
            <a:ext cx="4846320" cy="128930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200" b="1">
                <a:solidFill>
                  <a:srgbClr val="3B82F6"/>
                </a:solidFill>
              </a:defRPr>
            </a:pPr>
            <a:r>
              <a:t>Mayank Sharma — EDA &amp; Repository Management</a:t>
            </a:r>
          </a:p>
          <a:p>
            <a:pPr>
              <a:defRPr sz="1000">
                <a:solidFill>
                  <a:srgbClr val="F8FAFC"/>
                </a:solidFill>
              </a:defRPr>
            </a:pPr>
            <a:r>
              <a:t>Orchestrated end-to-end ML pipeline, data ingestion architecture, Parquet sharding, and anti-leakage quarantine.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017520"/>
            <a:ext cx="5212080" cy="1508760"/>
          </a:xfrm>
          <a:prstGeom prst="roundRect">
            <a:avLst/>
          </a:prstGeom>
          <a:solidFill>
            <a:srgbClr val="131F37"/>
          </a:solidFill>
          <a:ln w="1905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3127248"/>
            <a:ext cx="4846320" cy="128930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200" b="1">
                <a:solidFill>
                  <a:srgbClr val="10B981"/>
                </a:solidFill>
              </a:defRPr>
            </a:pPr>
            <a:r>
              <a:t>Aaryan Gera — Data Preprocessing Lead (Cleaning &amp; Audit)</a:t>
            </a:r>
          </a:p>
          <a:p>
            <a:pPr>
              <a:defRPr sz="1000">
                <a:solidFill>
                  <a:srgbClr val="F8FAFC"/>
                </a:solidFill>
              </a:defRPr>
            </a:pPr>
            <a:r>
              <a:t>Executed 5-country dataset audit, enforced thermodynamic screening boundaries, and eliminated telemetry errors.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3017520"/>
            <a:ext cx="5212080" cy="1508760"/>
          </a:xfrm>
          <a:prstGeom prst="roundRect">
            <a:avLst/>
          </a:prstGeom>
          <a:solidFill>
            <a:srgbClr val="131F37"/>
          </a:solidFill>
          <a:ln w="1905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3127248"/>
            <a:ext cx="4846320" cy="128930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200" b="1">
                <a:solidFill>
                  <a:srgbClr val="F59E0B"/>
                </a:solidFill>
              </a:defRPr>
            </a:pPr>
            <a:r>
              <a:t>Chaitanya Kumar — Feature Engineering &amp; Stoichiometry Lead</a:t>
            </a:r>
          </a:p>
          <a:p>
            <a:pPr>
              <a:defRPr sz="1000">
                <a:solidFill>
                  <a:srgbClr val="F8FAFC"/>
                </a:solidFill>
              </a:defRPr>
            </a:pPr>
            <a:r>
              <a:t>Engineered 38 features: Benson-Krause DO sat, Redfield N:P, Emerson toxic NH3, log(1+x) normalization, and station lags.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4663440"/>
            <a:ext cx="5212080" cy="1508760"/>
          </a:xfrm>
          <a:prstGeom prst="roundRect">
            <a:avLst/>
          </a:prstGeom>
          <a:solidFill>
            <a:srgbClr val="131F37"/>
          </a:solidFill>
          <a:ln w="1905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4773168"/>
            <a:ext cx="4846320" cy="128930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200" b="1">
                <a:solidFill>
                  <a:srgbClr val="3B82F6"/>
                </a:solidFill>
              </a:defRPr>
            </a:pPr>
            <a:r>
              <a:t>Ankit Kumar Pandey — Model Evaluation &amp; Validation Lead</a:t>
            </a:r>
          </a:p>
          <a:p>
            <a:pPr>
              <a:defRPr sz="1000">
                <a:solidFill>
                  <a:srgbClr val="F8FAFC"/>
                </a:solidFill>
              </a:defRPr>
            </a:pPr>
            <a:r>
              <a:t>Managed stratified 70/15/15 partitioning, continuous metric benchmarks (MAE, RMSE, R²), and TreeSHAP validation.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4663440"/>
            <a:ext cx="5212080" cy="1508760"/>
          </a:xfrm>
          <a:prstGeom prst="roundRect">
            <a:avLst/>
          </a:prstGeom>
          <a:solidFill>
            <a:srgbClr val="131F37"/>
          </a:solidFill>
          <a:ln w="1905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0" y="4773168"/>
            <a:ext cx="4846320" cy="128930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200" b="1">
                <a:solidFill>
                  <a:srgbClr val="06B6D4"/>
                </a:solidFill>
              </a:defRPr>
            </a:pPr>
            <a:r>
              <a:t>Pranav — Research, Documentation &amp; Presentation Lead</a:t>
            </a:r>
          </a:p>
          <a:p>
            <a:pPr>
              <a:defRPr sz="1000">
                <a:solidFill>
                  <a:srgbClr val="F8FAFC"/>
                </a:solidFill>
              </a:defRPr>
            </a:pPr>
            <a:r>
              <a:t>Derived formal CCME WQI formulation (F1, F2, F3, nse), analyzed TreeSHAP attribution, and led viva preparation.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3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06B6D4"/>
                </a:solidFill>
              </a:defRPr>
            </a:pPr>
            <a:r>
              <a:t>PHASE 1 MACHINE LEARNING EVALUATION</a:t>
            </a:r>
          </a:p>
          <a:p>
            <a:pPr>
              <a:defRPr sz="2200" b="1">
                <a:solidFill>
                  <a:srgbClr val="F8FAFC"/>
                </a:solidFill>
              </a:defRPr>
            </a:pPr>
            <a:r>
              <a:t>Phase 1 Key Conclusions, Viva Defense &amp; Phase 2 Roadmap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5120640" cy="4937760"/>
          </a:xfrm>
          <a:prstGeom prst="roundRect">
            <a:avLst/>
          </a:prstGeom>
          <a:solidFill>
            <a:srgbClr val="131F37"/>
          </a:solidFill>
          <a:ln w="1905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1554480"/>
            <a:ext cx="4663440" cy="4572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10B981"/>
                </a:solidFill>
              </a:defRPr>
            </a:pPr>
            <a:r>
              <a:t>Phase 1 Scientific Conclusions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Feasibility Proven: Tree ensembles predict continuous CCME WQI with R² &gt; 0.999 across 2.82 million international records.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Geochemical Feature Impact: Stoichiometry and log(1+x) normalization amplify signal, reducing tree depth requirements.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Orthophosphate is Dominant: Game-theoretic TreeSHAP proves that limiting phosphorus drives over 88% of water quality index variations.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Zero-Leakage Guarantee: Quarantined architecture prevents synthetic accuracy inflation.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Enterprise Code Quality: Production src/ library validated by 12 unit tests passing in 1.65 seconds.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371600"/>
            <a:ext cx="5212080" cy="4937760"/>
          </a:xfrm>
          <a:prstGeom prst="roundRect">
            <a:avLst/>
          </a:prstGeom>
          <a:solidFill>
            <a:srgbClr val="131F37"/>
          </a:solidFill>
          <a:ln w="1905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46520" y="1554480"/>
            <a:ext cx="4754880" cy="4572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06B6D4"/>
                </a:solidFill>
              </a:defRPr>
            </a:pPr>
            <a:r>
              <a:t>Phase 2 Deep Learning Outlook &amp; Discussion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Dual-Head Deep Neural Networks: Extending ML baselines to multi-task PyTorch MLP architectures (Huber loss + Cross-Entropy).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Simultaneous Continuous &amp; Discrete Outputs: Concurrently predicting continuous CCME values and 5-class ecological tiers.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Probability Calibration &amp; Uncertainty: Analyzing multi-class Brier score (0.0533) and Expected Calibration Error (1.27%).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Edge Microservice Architecture: Containerizing inference engine in FastAPI for real-time municipal telemetry streams.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Thank You! All 6 team members are prepared for individual viva examination.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