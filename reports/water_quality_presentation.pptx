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29260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2DD4BF"/>
                </a:solidFill>
              </a:defRPr>
            </a:pPr>
            <a:r>
              <a:t>SEMESTER 5 AML &amp; DL CAPSTONE PROJECT • 2.82M OBSERVATIONS</a:t>
            </a:r>
          </a:p>
          <a:p>
            <a:pPr>
              <a:spcAft>
                <a:spcPts val="600"/>
              </a:spcAft>
              <a:defRPr sz="3600" b="1">
                <a:solidFill>
                  <a:srgbClr val="F8FAFC"/>
                </a:solidFill>
              </a:defRPr>
            </a:pPr>
            <a:r>
              <a:t>Water Quality Index Prediction &amp; Classification</a:t>
            </a:r>
          </a:p>
          <a:p>
            <a:pPr>
              <a:spcAft>
                <a:spcPts val="1800"/>
              </a:spcAft>
              <a:defRPr sz="1800">
                <a:solidFill>
                  <a:srgbClr val="38BDF8"/>
                </a:solidFill>
              </a:defRPr>
            </a:pPr>
            <a:r>
              <a:t>Ensemble Gradient Boosting vs. Dual-Head Deep Neural Networks Across 5 Nations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Author: Mayank Sharma  |  GitHub: @MAYANKSHARMA01010/Semester_5_AML_DL  | 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2468880" cy="12801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2DD4BF"/>
                </a:solidFill>
              </a:defRPr>
            </a:pPr>
            <a:r>
              <a:t>2,819,617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Clean Records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Complete Case Ground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937760"/>
            <a:ext cx="2468880" cy="12801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50749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</a:defRPr>
            </a:pPr>
            <a:r>
              <a:t>0.9999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Random Forest R²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Val MAE: 0.0521 Index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2468880" cy="12801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0749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38BDF8"/>
                </a:solidFill>
              </a:defRPr>
            </a:pPr>
            <a:r>
              <a:t>96.09%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Dual-Head DL Acc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97.49% Recall on 'Poor'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937760"/>
            <a:ext cx="2468880" cy="12801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50749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59E0B"/>
                </a:solidFill>
              </a:defRPr>
            </a:pPr>
            <a:r>
              <a:t>38 Features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Engineered Inputs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Log1p + Lags + Guidance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Environmental Motivation &amp;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02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The Problem: Latency in Water Testing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Traditional water testing relies on physical grab sampling and multi-day laboratory assays (e.g., 5-day BOD assays).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Delayed contamination reporting prevents rapid municipal response to toxic runoff and industrial chemical spills.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Regulatory water indices like CCME WQI are mathematically rigorous but cumbersome to compute manually across irregular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The Solution: Hybrid AML &amp; DL Telemetry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Curated 2.82M sensor observations (1940-2023) across England, USA, Ireland, China, and Canada.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Engineered 38 features with log1p skewness taming, chronological station lags, and guideline stress flags.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Deployed both tree ensembles (Random Forest, XGBoost) and a Multi-Task Dual-Head PyTorch MLP.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Key Achievements &amp; Breakthroughs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 Integrity: Disproved the '35% missing data' myth; proved 100% complete case ground truth (0 nulls) across 14 columns.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Domain Physical Cleaning: Removed only 8,360 rows (0.296%) with physically impossible sensor values (negative concentrations, abnormal pH).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State-of-the-Art Accuracy: Random Forest attained R² = 0.9999; PyTorch Dual-Head MLP achieved 96.09% accuracy and 97.49% recall on critical 'Poor' water quality tier.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Production Version Control: Resolved GitHub's 100 MB per-file limit using transparent 3-part Parquet sharding (~53 MB each).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Understanding the Target: Canadian Council of Ministers WQI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Mathematical Formulation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The Canadian Council of Ministers of the Environment (CCME) WQI combines three distinct compliance factors: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CCME WQI = 100 - [ sqrt(F1² + F2² + F3²) / 1.732 ]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F1 (Scope): % of chemical variables failing to meet objectives at least once during surveillance period.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F2 (Frequency): % of individual analytical measurements that violate permissible limits.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F3 (Amplitude): Magnitude of exceedances, computed via normalized sum of excursions (nse).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Scalar output spans 0 (severely degraded) to 100 (pristine natural quality).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Piecewise non-linear formulation creates sharp regression thresholds ideal for tree and deep learning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937760" cy="8686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Excellent: 95 –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 quality is protected with virtual absence of threat or impairment.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423160"/>
            <a:ext cx="4937760" cy="8686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Good: 80 – 94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Conditions rarely depart from natural or desirable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383280"/>
            <a:ext cx="4937760" cy="8686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Fair: 65 – 79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Conditions sometimes depart from natural levels; quality occasionally compromised.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343400"/>
            <a:ext cx="4937760" cy="8686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5262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Marginal: 45 – 64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 quality is frequently impaired; conditions often depart from desirable levels.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5303520"/>
            <a:ext cx="4937760" cy="8686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4864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Poor: 0 – 44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Water quality is almost always impaired; poses chronic threat to aquatic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Provenance &amp; Cleaning Triage: Establishing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926080"/>
                <a:gridCol w="3230575"/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Previous Misconception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Empirical Ground Truth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Action Taken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Geographic Scope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Unchecked inclusion of India &amp; Australia scrapers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 authentic validated nations: England, USA, Ireland, China, Canada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Purged unaligned scrapers; rebuilt dataset from raw verified files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Missing Data Audit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Belief that dataset had ~35% missing values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 null values across all 2,827,977 rows and 14 columns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Implemented 100% Complete Case Analysis; rejected synthetic imputation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Sensor Calibration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Raw telemetry assumed physically valid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Sensors exhibit zero-drift and negative values (BOD &lt; 0, DO &lt; 0)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Enforced aquatic chemistry domain constraints on all chemical sensors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Outlier Handling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Arbitrary statistical IQR clipping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IQR clipping destroys true pollution shock spikes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Retained real chemical spikes; only purged non-physical sensor faults (0.296%)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Scientific Takeaway on Complete Case Analysis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Why no KNN or MICE imputation? Imputing 35% synthetic values would distort delicate stoichiometric nutrient ratios (N:P) and artificial guidelines.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Confirming 0 nulls ground truth preserved complete chemical fidelity for all 2,819,617 training and validation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Domain Physical Outlier Filtering: Aquatic Chemistry Bounds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280160"/>
                <a:gridCol w="100584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Sensor Unit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Valid Physical Range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Violations Found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Chemical Rationale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pH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pH Units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3.0 – 12.0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345 rows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Acid rain limit is ~pH 3.0; caustic industrial bleach exceeds pH 12.0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 – 45.0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128 rows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Water freezes below 0°C; natural surface ambient rarely exceeds 45°C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Dissolved Oxygen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 – 25.0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892 rows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Negative DO is impossible; 25 mg/L is super-saturation physical limit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Conductivity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µS/cm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≥ 0.0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512 rows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Conductance represents ionic concentration and cannot be negative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BOD5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≥ 0.0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1,240 rows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Microbial oxygen demand cannot be negative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Nutrients (N, P, NH4)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≥ 0.0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5,243 rows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Negative mass concentration indicates instrument zero-point calibration drift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463040"/>
            <a:ext cx="3566160" cy="11887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60020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F43F5E"/>
                </a:solidFill>
              </a:defRPr>
            </a:pPr>
            <a:r>
              <a:t>8,360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Rows Removed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0.296% of dataset (Instrument Faults)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788920"/>
            <a:ext cx="3566160" cy="11887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9260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</a:defRPr>
            </a:pPr>
            <a:r>
              <a:t>2,819,617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Preserved Rows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99.704% retention of genuine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114800"/>
            <a:ext cx="356616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29768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Engineering Principle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Statistical IQR clipping is destructive for environmental modeling because true industrial pollution events manifest as extreme upper outliers.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We strictly removed only physically impossible telemetry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Global Landscape: Geographic &amp; Waterbody Distributions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06 / 18</a:t>
            </a:r>
          </a:p>
        </p:txBody>
      </p:sp>
      <p:pic>
        <p:nvPicPr>
          <p:cNvPr id="7" name="Picture 6" descr="01_count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176496"/>
          </a:xfrm>
          <a:prstGeom prst="rect">
            <a:avLst/>
          </a:prstGeom>
        </p:spPr>
      </p:pic>
      <p:pic>
        <p:nvPicPr>
          <p:cNvPr id="8" name="Picture 7" descr="02_waterbod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0412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Geographical Representation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England represents 75.5% of surveillance stations, reflecting the UK Environment Agency's dense monitoring grid.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USA (14.4%), Ireland (8.3%), China (1.6%), and Canada (0.1%) provide multi-continental hydrological diversity.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12 Waterbody Classes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Rivers dominate the dataset (65.3%), followed by Canals (10.1%) and Lakes (8.2%).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Estuarine, coastal, and groundwater bodies capture brackish salinity transitions and distinct ecological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83 Years of Environmental Surveillance: 1940 to 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07 / 18</a:t>
            </a:r>
          </a:p>
        </p:txBody>
      </p:sp>
      <p:pic>
        <p:nvPicPr>
          <p:cNvPr id="7" name="Picture 6" descr="03_tempora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2071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840480" cy="23774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Historical Surveillance Dynamics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Dataset spans 83 years of environmental monitoring across international hydrological basins.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Pre-1990: Sparse baseline sampling focused on acute municipal sanitary concerns and industrial outflows.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Post-2000: Massive exponential acceleration driven by the EU Water Framework Directive and modern sensor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023360"/>
            <a:ext cx="38404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Temporal Feature Engineering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Continuous monitoring requires explicit cyclical time representations.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Engineered Sine/Cosine harmonic transforms on month and day-of-year: month_sin, month_cos.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Enables ML models to capture summer eutrophication and winter dissolved oxygen surges seamlessly.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Sensor Distributions &amp; Geochemical Thermodynamics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08 / 18</a:t>
            </a:r>
          </a:p>
        </p:txBody>
      </p:sp>
      <p:pic>
        <p:nvPicPr>
          <p:cNvPr id="7" name="Picture 6" descr="07_do_temperature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248798"/>
          </a:xfrm>
          <a:prstGeom prst="rect">
            <a:avLst/>
          </a:prstGeom>
        </p:spPr>
      </p:pic>
      <p:pic>
        <p:nvPicPr>
          <p:cNvPr id="8" name="Picture 7" descr="09_np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185146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Henry's Law &amp; Dissolved Oxygen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 vs. Temperature exhibits negative non-linear curvature obeying Benson &amp; Krause solubility equations.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Thermal pollution directly suppresses dissolved oxygen capacity, triggering hypoxic stress in summer.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Redfield Stoichiometry (N:P Ratio)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92.4% of samples exhibit N:P ratios well above the classical 16:1 Redfield oceanic baseline.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Confirms that phosphorus (Orthophosphate) is the critical limiting nutrient driving freshwater eutrophication.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Engineering: Taming Skewness via Log1p Transforms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09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645920"/>
                <a:gridCol w="1645920"/>
                <a:gridCol w="2407615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Chemical Parameter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Raw Skewness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Log1p Skewness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Raw Correlation (r)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Log1p Correlation (r)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Predictive Gain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Orthophosphate (P)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+14.82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+0.91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-0.6582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-0.8491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+29.0% Linear Gain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Total Oxidised Nitrogen (N)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+6.41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-0.3120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-0.4812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+54.2% Linear Gain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Ammoniacal Nitrogen (NH4)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+21.15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+1.14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-0.2450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-0.4385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+79.0% Linear Gain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Biochemical Oxygen Demand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+18.90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+1.05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-0.3812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-0.5120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+34.3% Linear Gain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N:P Stoichiometry Ratio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+32.40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+0.0120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+0.5210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Order of Magnitude Boost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5212080" cy="18288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Why Log1p Was Essential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Environmental pollutants span 4 to 5 orders of magnitude due to industrial discharge pulses.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Un-normalized distributions cause gradient explosion in neural networks and sub-optimal splitting in tree regressors.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Applying y = log(1 + x) compresses extreme tails while preserving zero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212080" cy="18288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The Orthophosphate Breakthrough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Orthophosphate correlation with CCME jumped from -0.66 to -0.85 after log1p transformation.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This single feature explains nearly half of the variance in global water quality indices.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Engineering: Chronological Station Environmental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10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486400" cy="29260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Capturing Environmental Inertia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 chemical reading taken in isolation ignores the river basin's recent ecological history.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Rivers, aquifers, and lakes possess inertia: a river suffering from eutrophication yesterday will likely still be polluted today.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Grouped all observations by unique monitoring station (Area) and sorted chronologically.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Created lag-1 and rolling-3 statistics (mean, std) for key parameters: DO, Orthophosphate, Temperature.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463040"/>
            <a:ext cx="4937760" cy="29260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Strict Leakage Prevention Protocol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Crucial Rule: NEVER use future records to predict current state.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Lagged features were computed strictly using pandas .shift(1) within station groups.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Missing historical values for the first station observation were imputed with historical global medians.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Result: Prior station orthophosphate alone exhibits rho = -0.78 Spearman rank correlation with current CCME WQI!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338328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</a:defRPr>
            </a:pPr>
            <a:r>
              <a:t>rho = -0.78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Prior Station Ortho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Spearman rank correlation of hist_ortho_lag1 with current WQI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572000"/>
            <a:ext cx="338328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7091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38BDF8"/>
                </a:solidFill>
              </a:defRPr>
            </a:pPr>
            <a:r>
              <a:t>rho = +0.64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Prior Station DO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Spearman rank correlation of hist_do_lag1 with current WQI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72000"/>
            <a:ext cx="3383280" cy="17373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70916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2DD4BF"/>
                </a:solidFill>
              </a:defRPr>
            </a:pPr>
            <a:r>
              <a:t>6 Features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</a:defRPr>
            </a:pPr>
            <a:r>
              <a:t>Historical Memory Set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Lag1 &amp; rolling-3 stats for DO, Ortho, and Water Temperature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Pipeline &amp; Zero-Leakage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1. Dataset Partitioning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Total Clean Rows: 2,819,617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Split Strategy: 70 / 15 / 15 stratified random split on WQI class.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Train Set: 1,973,731 rows (70%)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Val Set: 422,943 rows (15%)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Test Set: 422,943 rows (15%)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Stratification guarantees identical representation of rare 'Poor' and 'Marginal' classes across all splits.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3017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2. Target Quarantine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CCME WQI is mathematically calculated from sensor values.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Strict Quarantine Protocol: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Raw ccme_values, ccme_wqi, and ccme_wqi_code strictly isolated.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Hard programmatic assertions verify zero target-derived columns exist in feature matrix X.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StandardScaler fitted strictly on training partition only; applied to validation and test partitions.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3. Input Feature Matrix (38)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8 Base Chemical Sensors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7 Stoichiometric &amp; Toxicity Ratios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7 Log1p Transformed Nutrients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1 Multi-Guideline Stress Counter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6 Chronological Station Lags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2 Contextual (Waterbody, Country)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7 Temporal &amp; Cyclical Harmonics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missing values; fully scaled.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Phase 1: Machine Learning Tree Ensembles (RF &amp; XGBoost)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12 / 18</a:t>
            </a:r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20703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463040"/>
            <a:ext cx="4206240" cy="24688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645920"/>
            <a:ext cx="3840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Model Hyperparameter Tuning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Random Forest Regressor: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30 Estimators, Max Depth = 14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Min Samples Leaf = 5, n_jobs = -1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Val MAE = 0.0521 | Val R² = 0.9999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XGBoost Regressor: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150 Estimators, Max Depth = 8, LR = 0.1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tree_method = 'hist' (histogram binning)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Val MAE = 0.1375 | Val R² = 0.9996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114800"/>
            <a:ext cx="4206240" cy="219456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297680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Why Tree Ensembles Excel Here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CCME WQI uses piecewise step thresholds (F1, F2 exceedances).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Orthogonal axis-aligned decision tree splits match guideline boundaries with near-perfect mathematical precision.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Both models outperform the Mean Baseline by over 99.6% error reduction.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Phase 2: Deep Learning Dual-Head Multi-Task Neural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Dual-Head PyTorch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Input Layer: 38 Scaled Geochemical Features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Shared Representation Trunk: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Dense 256 -&gt; BatchNorm -&gt; GELU -&gt; Dropout(0.2)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Dense 128 -&gt; BatchNorm -&gt; GELU -&gt; Dropout(0.15)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Dense 64  -&gt; BatchNorm -&gt; GELU -&gt; Dropout(0.1)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A: Continuous Regression Head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Dense 32 -&gt; GELU -&gt; Dense 1 -&gt; Sigmoid * 100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Predicts continuous CCME scalar index (0 - 100)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Head B: Discrete Classification Head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Dense 32 -&gt; GELU -&gt; Dense 5 (Logits)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Predicts 5 WQI regulatory classes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Multi-Task Joint Loss Formulation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Loss_total = Loss_reg + 0.5 * Loss_cls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Loss_reg: Smooth L1 Loss (Huber) for outlier robustness.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Loss_cls: Cross-Entropy Loss with Inverse Class Frequency Weights: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w_c = N_total / (5 * N_c)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Prevents the dominant 'Good' and 'Fair' classes from drowning out critical 'Poor' class detections.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Hardware Acceleration on Apple Silicon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PyTorch training leveraged torch.device('mps') on Apple Silicon M-series GPU.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High-throughput batch size of 2,048 samples.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AdamW Optimizer (lr = 1e-3, weight_decay = 1e-4) with ReduceLROnPlateau scheduler.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Trained across 1.97M rows in 8 rapid epochs with early stopping.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Deep Learning Performance: 96.09% Accuracy &amp; Minority Recall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14 / 18</a:t>
            </a:r>
          </a:p>
        </p:txBody>
      </p:sp>
      <p:pic>
        <p:nvPicPr>
          <p:cNvPr id="7" name="Picture 6" descr="dl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1836614"/>
          </a:xfrm>
          <a:prstGeom prst="rect">
            <a:avLst/>
          </a:prstGeom>
        </p:spPr>
      </p:pic>
      <p:pic>
        <p:nvPicPr>
          <p:cNvPr id="8" name="Picture 7" descr="d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53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Training Loss Convergence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Validation loss tracked training loss smoothly with zero divergence or overfitting.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Regression head converged to Val R² = 0.9957 and Val MAE = 0.7056 index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892040"/>
            <a:ext cx="5212080" cy="155448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507492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97.49% Recall on 'Poor' Water Quality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Inverse class weighting successfully resolved extreme class imbalance.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Model identified 97.49% of all chronically impaired 'Poor' water bodies without sacrificing overall accuracy (96.09%).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AML vs. DL Showdown: Comprehensive Model Benchmark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097280"/>
                <a:gridCol w="1097280"/>
                <a:gridCol w="1097280"/>
                <a:gridCol w="1645920"/>
                <a:gridCol w="1493215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Model Family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Val MAE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Val RMSE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Val R²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Classification Acc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E304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Mean Baseline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Heuristic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14.1297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17.6561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-0.0000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&lt; 0.01 ms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Random Forest Regressor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Bagged Trees (30)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0.0521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0.2081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0.9999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1.24 ms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Gradient Boosted (150)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0.1375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0.3740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0.9996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0.45 ms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Dual-Head MLP (PyTorch)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Deep Multi-Task Neural Net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0.7056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1.1557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0.9957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96.09%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0.08 ms (Batched GPU)</a:t>
                      </a:r>
                    </a:p>
                  </a:txBody>
                  <a:tcPr>
                    <a:solidFill>
                      <a:srgbClr val="141F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206240"/>
            <a:ext cx="521208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When to Use Random Forest / XGBoost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Unbeatable scalar regression precision (MAE = 0.052 index points).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Ideal for embedded sensor hardware and offline reporting where only continuous scalar CCME score is required.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Native handling of unscaled feature spaces.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06240"/>
            <a:ext cx="5212080" cy="210312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891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When to Use Dual-Head Deep Learning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Provides simultaneous continuous score + calibrated probability distribution over all 5 quality tiers.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Uncertainty quantification: Softmax entropy highlights borderline readings needing lab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15x faster batched throughput on GPU clusters for national monitoring surveillance.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Explainable AI: Discovering Key Geochemical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16 / 18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30155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840480" cy="23774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Phosphorus Dominates (~88%)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Feature importance shows Orthophosphate (log1p_orthophosphate + raw) accounts for ~88% of tree split decisions.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Validates limnological science: phosphorus is the limiting nutrient triggering algal blooms and dissolved oxygen crashes.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023360"/>
            <a:ext cx="38404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Secondary Key Drivers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Prior Station Ortho (hist_ortho_lag1): Captures temporal inertia and long-term basin memory.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Ammoniacal Nitrogen: Indicator of raw sewage and agricultural fertilizer runoff.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Dissolved Oxygen Saturation: Essential indicator of biological aerobic health.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Engineering Triumph: Multi-Part Parquet Sharding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The Problem: GitHub 100 MB Limit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Scaling to 2.82M rows across 45 columns resulted in a 188.43 MB train.parquet and 189.67 MB train_scaled.parquet.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git push --force was blocked by GitHub server-side hooks with HTTP 400 error.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Adding data to .gitignore was rejected by user requirement: 'ALL files must be tracked'.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The Solution: Transparent Sharding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Engineered transparent multi-part Parquet sharding inside train.parquet/ and train_scaled.parquet/ directories.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Partitioned training data into 3 shards of ~53 MB each (part-00000 to part-00002) using zstd compression.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All shards remain safely below GitHub's 100 MB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Seamless Developer Experience &amp; Code Compatibility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Zero Code Changes Required for Downstream Pipelines: Apache Arrow and Pandas natively load multi-part directories transparently: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   &gt;&gt;&gt; df_train = pd.read_parquet('data/Dataset/02.Processed/train.parquet')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Automatically reads all 3 sub-parts in parallel into a single unified 1,973,731-row DataFrame!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Successfully pushed 515.44 MB of code, models, data, and figures to GitHub origin/main with zero files ignored.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solidFill>
              <a:srgbClr val="0B1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SEMESTER 5 AML &amp; DL | PROJECT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Conclusions, Key Takeaways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D3E50"/>
          </a:solidFill>
          <a:ln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</a:defRPr>
            </a:pPr>
            <a:r>
              <a:t>18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32918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Summary of Achievements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Complete Ground Truth: Debunked the '35% missing data' myth; verified 0 nulls across 2.82M international records.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Domain Physical Cleaning: Enforced aquatic chemistry boundaries, safely eliminating sensor drift with 99.7% data retention.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Feature Innovations: Log1p transforms and chronological station lags boosted predictive correlations up to +79%.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Benchmark Dominance: Random Forest achieved R² = 0.9999; PyTorch Dual-Head MLP achieved 96.09% accuracy and 97.49% recall on 'Poor' water quality tier.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5. Clean Git Workflow: Multi-part Parquet sharding pushed 100% of data to GitHub without Git LFS.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329184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Future Directions &amp; Deployment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Real-Time IoT Edge Telemetry: Deploy quantized ONNX neural network weights directly to river sensor buoys for instant alerts.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Spatio-Temporal Graph Neural Networks (GNNs): Model river stream networks as directed flow graphs to track downstream pollution dispersion.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Satellite Remote Sensing Integration: Fuse in-situ sensor telemetry with Sentinel-2 multi-spectral chlorophyll-a reflectance imagery.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Public Environmental API: Wrap inference engine in FastAPI microservice for municipal environmental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1A2639"/>
          </a:solidFill>
          <a:ln w="1524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DD4BF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Repository: https://github.com/MAYANKSHARMA01010/Semester_5_AML_DL  |  Author: Mayank Sharma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Complete technical report, notebooks, figures, and model weights are fully documented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